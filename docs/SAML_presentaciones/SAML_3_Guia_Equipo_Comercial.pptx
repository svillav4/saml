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30 segundos. Duración total: entre 10 y 15 minutos.
PÚBLICO: asesores comerciales de GRECO. No son técnicos. Regla de oro: no digan n8n, Python, API, Docker ni Supabase. Digan "el sistema", "el reporte", "la página de Licitaciones.info".
QUÉ DECIR: "Buenos días. Hoy les vamos a mostrar su nuevo reporte de obras adjudicadas. En 15 minutos van a saber qué es, cómo leerlo, qué hacer con él y qué errores evitar. Al final hacemos un ejercicio corto con el reporte real. Pregunten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30 segundos.
"Empecemos por lo que cambia. Antes, alguien revisaba varias páginas de licitaciones, una por una, y copiaba cada obra a mano en Obras V6. A veces se enteraban tarde de una obra."
"Ahora el sistema hace la parte de buscar: trae las obras adjudicadas desde Licitaciones.info y se las entrega en un Excel ordenado y sin repetidos. Ustedes revisan, eligen y contactan."
"Y esto es importante: el sistema no los reemplaza. Asignar el asesor, contactar al contratista y anotar el seguimiento sigue siendo trabajo de ustedes, porque ahí está el criterio comercial."
DUDA COMÚN: "¿Esto me va a quitar el trabajo?" No: le quita la parte repetitiva de buscar y copiar, para que tenga más tiempo de vender.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30 segundos.
"El reporte es un archivo de Excel. Cada vez que el sistema corre, genera uno nuevo. Fíjense en el nombre: después de 'licitaciones_intermedio' viene la fecha, en orden año, mes y día, y luego la hora. Así saben cuál es el más reciente. Siempre abran el más reciente."
"El sistema nunca borra ni reemplaza un reporte anterior, así que los viejos les sirven como historial."
"Y una regla importante: si un archivo termina en _REVISAR, no lo usen. Significa que el sistema encontró algo raro al revisarse a sí mismo. Avísennos."
HONESTIDAD SOBRE LA FRECUENCIA: hoy el reporte se genera cuando alguien lo ejecuta. Estamos trabajando para que se genere solo todos los días. Si preguntan "¿cada cuánto llega?", respondan eso.
NOTA: el nombre del ejemplo es ilustrativo; la hora va en horas, minutos y segundos (073000 = 7:30:00 a.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Idealmente, abran el Excel real en pantalla y recorran cada hoja mientras explican.
"El reporte tiene cuatro hojas, y cada una responde una pregunta."
"Datos responde: ¿qué obras se adjudicaron? Es una fila por licitación, y es donde van a pasar casi todo el tiempo."
"Ganadores responde: ¿quién ganó? Hay una fila por empresa. Si ganó un consorcio, van a ver a cada integrante; por eso una misma obra puede aparecer varias veces aquí, y eso es normal."
"Incidencias responde: ¿qué dato está incompleto o es dudoso? Por ejemplo, una obra con valor cero o un campo vacío. Si algo no les cuadra en Datos, miren aquí primero."
"Resumen responde: ¿de cuándo es esta información? Dice cuántas obras hay, la fecha en que se consultó y qué significa cada color de los encabezados."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"La hoja Datos tiene las mismas columnas que ya conocen de Obras V6. Pero no todas se llenan igual."
"Las amarillas las llena el sistema: la entidad que contrató, el valor en millones de pesos, la empresa que ganó, y el código y el enlace del proceso para que puedan ir a la fuente."
"Las del recuadro oscuro siguen siendo suyas: asesor, despacho, contactada y notas. Esas nunca vienen de la página pública."
"Las rojas llegan vacías por ahora: NIT, localidad, latitud, longitud, nombre de la obra, número de contrato y fecha de adjudicación. No es un error: la página de donde sacamos la información no publica esos datos. Estamos definiendo con la gerencia cómo completarlos."
"Y las grises las calcula su archivo Obras V6 con sus fórmulas, como el avance o el potencial."
"Un consejo: si pasan el mouse por cualquier encabezado del reporte, aparece una nota que explica de dónde sale ese dato."
DUDA COMÚN: "¿Entonces tengo que llenar la localidad a mano?" Por ahora sí, si la necesitan para asignar el asesor. Es una decisión pendiente con la gerencia.
PRECISIÓN: la columna Empresa es provisional; el nombre de la obra puede leerse mientras tanto en la columna "Objeto (origen)".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Háganlo en vivo con el Excel real si es posible.
"Este es el flujo de trabajo recomendado."
"Uno: abran el reporte más reciente y vayan a la hoja Datos."
"Dos: usen el filtro de Excel u ordenen por entidad o por valor. Así ven primero las obras más grandes, que suelen tener más potencial."
"Tres: abran el enlace del proceso. Los lleva a la página original de la licitación, donde pueden confirmar datos como la ubicación de la obra, que hoy no viene en el reporte."
"Cuatro: miren la hoja Ganadores para saber exactamente a qué empresa contactar."
"Cinco: pasen a Obras V6 solo las que les interesan y asignen el asesor, como hacen hoy. Ya no tienen que buscarlas; solo elegir."
DUDA COMÚN: "¿Por qué no se pasan solas a Obras V6?" Para no arriesgar su archivo y sus fórmulas mientras validamos las columnas. Es el siguiente paso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"Estos son los cinco errores que más esperamos ver, y cómo evitarlos."
"Uno: el reporte trae la fecha de publicación del proceso, pero esa no es la fecha de adjudicación. Si la necesitan, confírmenla en el enlace del proceso."
"Dos: si un archivo termina en _REVISAR, no lo usen. Avísennos y mientras tanto usen el reporte anterior."
"Tres: no borren ni muevan columnas del reporte. Si quieren trabajar una obra, cópienla a Obras V6."
"Cuatro: si ven un valor vacío, no asuman que el sistema falló. Muchas veces la entidad no lo publicó o lo publicó en cero. La hoja Incidencias dice exactamente por qué."
"Cinco: verifiquen la fecha en el nombre del archivo para no trabajar con un reporte viejo."
DATO TÉCNICO: el sistema deja vacía la columna Valor Millones cuando la fuente trae el valor en 0 y lo registra en Incidencias. Las fechas programadas del cronograma aparecen solo como referencia en la columna "Adjudicación programada (cronograma)".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"¿Por qué no aparece una obra que conozco? Porque el sistema solo trae obras adjudicadas publicadas en Licitaciones.info. Si la conocieron por la página del IDU o del Acueducto y no está en Licitaciones.info, todavía no va a aparecer. También puede ser que aún no esté adjudicada."
"¿Puedo confiar en los datos? Son los que publica la entidad pública. El sistema los ordena, quita espacios y repetidos, pero no inventa ni corrige contenido. Si algo se ve raro, el enlace los lleva a la fuente original."
"¿Por qué el NIT viene vacío? Porque Licitaciones.info no lo publica. Trae un número interno que no es un NIT, y preferimos dejarlo vacío antes que poner un dato equivocado."
"¿Puede salir una obra repetida? En la hoja Datos no: cada licitación aparece una sola vez. En Ganadores sí, si la ganó un consorcio."
OTRAS PREGUNTAS POSIBLES:
- ¿Cada cuánto llega el reporte? Hoy se genera cuando se ejecuta; pronto será diario y automático.
- ¿Me va a llegar un aviso? Las alertas automáticas están en construcción.
- ¿Qué hago si encuentro un error? Avisar al responsable con el nombre del archivo y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minutos.
CÓMO HACERLO: compartan el Excel real antes de la sesión (o proyéctenlo y que el público les diga dónde hacer clic). Den 2 minutos y luego resuelvan juntos en pantalla en 1 minuto.
RESPUESTAS:
1. Hoja Datos: ordenar la columna Valor Millones de mayor a menor.
2. Copiar el idContrato de esa fila y buscarlo en la hoja Ganadores.
3. Columna del enlace en la hoja Datos (columnas de trazabilidad, a la derecha).
4. Hoja Resumen: total de incidencias por tipo, o contar las filas de la hoja Incidencias.
POR QUÉ IMPORTA: es la mejor señal de adopción. Anoten quién lo logró sin ayuda: sirve como evidencia del indicador de capacitación del proyecto (100 % del equipo capacitado antes del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"Para cerrar, tres cosas. Uno: abran siempre el reporte más reciente. Dos: si algo falta o no cuadra, miren la hoja Incidencias y el enlace al proceso. Tres: el sistema busca; ustedes deciden y venden. Gracias. ¿Preguntas?"
PENDIENTE ANTES DE PRESENTAR: reemplazar "[nombre y canal del responsable]" por la persona y el canal (correo, Teams o WhatsApp) a quien deben escribir. Si GRECO no ha designado responsable de operación, pongan temporalmente al líder del proyecto.
CONTROL DEL TIEMPO (total 13–15 min): portada 0:30 · qué cambia 1:30 · el archivo 1:30 · las 4 hojas 2:00 · columnas 2:00 · paso a paso 2:00 · errores 2:00 · preguntas 2:00 · práctica 3:00 · cierre 1:00. Para bajar a 10 minutos: práctica de 1 minuto y preguntas resumidas.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8E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0" y="0"/>
            <a:ext cx="7239000" cy="6858000"/>
          </a:xfrm>
          <a:prstGeom prst="rect">
            <a:avLst/>
          </a:prstGeom>
          <a:solidFill>
            <a:srgbClr val="1E2122">
              <a:alpha val="55000"/>
            </a:srgbClr>
          </a:solidFill>
          <a:ln/>
        </p:spPr>
      </p:sp>
      <p:sp>
        <p:nvSpPr>
          <p:cNvPr id="4" name="Text 1"/>
          <p:cNvSpPr txBox="1"/>
          <p:nvPr/>
        </p:nvSpPr>
        <p:spPr>
          <a:xfrm>
            <a:off x="685800" y="609600"/>
            <a:ext cx="5010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GUÍA PARA EL EQUIPO COMERCIAL DE GRECO</a:t>
            </a:r>
            <a:endParaRPr lang="en-US" sz="980" dirty="0"/>
          </a:p>
        </p:txBody>
      </p:sp>
      <p:sp>
        <p:nvSpPr>
          <p:cNvPr id="5" name="Text 2"/>
          <p:cNvSpPr txBox="1"/>
          <p:nvPr/>
        </p:nvSpPr>
        <p:spPr>
          <a:xfrm>
            <a:off x="666750" y="1619250"/>
            <a:ext cx="5772150" cy="2389584"/>
          </a:xfrm>
          <a:prstGeom prst="rect">
            <a:avLst/>
          </a:prstGeom>
          <a:noFill/>
          <a:ln/>
        </p:spPr>
        <p:txBody>
          <a:bodyPr wrap="square" lIns="0" tIns="0" rIns="0" bIns="0" rtlCol="0" anchor="t"/>
          <a:lstStyle/>
          <a:p>
            <a:pPr algn="l" indent="0" marL="0">
              <a:lnSpc>
                <a:spcPts val="6270"/>
              </a:lnSpc>
              <a:buNone/>
            </a:pPr>
            <a:r>
              <a:rPr lang="en-US" sz="6150" b="1" spc="-188" kern="0" dirty="0">
                <a:solidFill>
                  <a:srgbClr val="ECE8E1"/>
                </a:solidFill>
                <a:latin typeface="Archivo" pitchFamily="34" charset="0"/>
                <a:ea typeface="Archivo" pitchFamily="34" charset="-122"/>
                <a:cs typeface="Archivo" pitchFamily="34" charset="-120"/>
              </a:rPr>
              <a:t>Su nuevo reporte de obras adjudicadas</a:t>
            </a:r>
            <a:endParaRPr lang="en-US" sz="6150" dirty="0"/>
          </a:p>
        </p:txBody>
      </p:sp>
      <p:sp>
        <p:nvSpPr>
          <p:cNvPr id="6" name="Text 3"/>
          <p:cNvSpPr txBox="1"/>
          <p:nvPr/>
        </p:nvSpPr>
        <p:spPr>
          <a:xfrm>
            <a:off x="685800" y="4229100"/>
            <a:ext cx="5010150" cy="668536"/>
          </a:xfrm>
          <a:prstGeom prst="rect">
            <a:avLst/>
          </a:prstGeom>
          <a:noFill/>
          <a:ln/>
        </p:spPr>
        <p:txBody>
          <a:bodyPr wrap="square" lIns="0" tIns="0" rIns="0" bIns="0" rtlCol="0" anchor="t"/>
          <a:lstStyle/>
          <a:p>
            <a:pPr algn="l" indent="0" marL="0">
              <a:lnSpc>
                <a:spcPts val="2630"/>
              </a:lnSpc>
              <a:buNone/>
            </a:pPr>
            <a:r>
              <a:rPr lang="en-US" sz="2030" i="1" dirty="0">
                <a:solidFill>
                  <a:srgbClr val="E4DFD6"/>
                </a:solidFill>
                <a:latin typeface="Source Serif 4" pitchFamily="34" charset="0"/>
                <a:ea typeface="Source Serif 4" pitchFamily="34" charset="-122"/>
                <a:cs typeface="Source Serif 4" pitchFamily="34" charset="-120"/>
              </a:rPr>
              <a:t>Qué es, cómo leerlo y qué hacer con él, en quince minutos.</a:t>
            </a:r>
            <a:endParaRPr lang="en-US" sz="2030" dirty="0"/>
          </a:p>
        </p:txBody>
      </p:sp>
      <p:sp>
        <p:nvSpPr>
          <p:cNvPr id="7" name="Text 4"/>
          <p:cNvSpPr txBox="1"/>
          <p:nvPr/>
        </p:nvSpPr>
        <p:spPr>
          <a:xfrm>
            <a:off x="685800" y="6286500"/>
            <a:ext cx="6915150" cy="133350"/>
          </a:xfrm>
          <a:prstGeom prst="rect">
            <a:avLst/>
          </a:prstGeom>
          <a:noFill/>
          <a:ln/>
        </p:spPr>
        <p:txBody>
          <a:bodyPr wrap="square" lIns="0" tIns="0" rIns="0" bIns="0" rtlCol="0" anchor="t"/>
          <a:lstStyle/>
          <a:p>
            <a:pPr algn="l" indent="0" marL="0">
              <a:lnSpc>
                <a:spcPts val="1170"/>
              </a:lnSpc>
              <a:buNone/>
            </a:pPr>
            <a:r>
              <a:rPr lang="en-US" sz="980" b="1" spc="113" kern="0" dirty="0">
                <a:solidFill>
                  <a:srgbClr val="E8A33D"/>
                </a:solidFill>
                <a:latin typeface="Archivo" pitchFamily="34" charset="0"/>
                <a:ea typeface="Archivo" pitchFamily="34" charset="-122"/>
                <a:cs typeface="Archivo" pitchFamily="34" charset="-120"/>
              </a:rPr>
              <a:t>SAML · SISTEMA AUTOMATIZADO DE MONITOREO DE LICITACIONES</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pic>
        <p:nvPicPr>
          <p:cNvPr id="3" name="Image 0" descr="preencoded.png">    </p:cNvPr>
          <p:cNvPicPr>
            <a:picLocks noChangeAspect="1"/>
          </p:cNvPicPr>
          <p:nvPr/>
        </p:nvPicPr>
        <p:blipFill>
          <a:blip r:embed="rId1"/>
          <a:srcRect l="0" r="0" t="0" b="0"/>
          <a:stretch/>
        </p:blipFill>
        <p:spPr>
          <a:xfrm>
            <a:off x="0" y="0"/>
            <a:ext cx="4953000" cy="6858000"/>
          </a:xfrm>
          <a:prstGeom prst="rect">
            <a:avLst/>
          </a:prstGeom>
        </p:spPr>
      </p:pic>
      <p:sp>
        <p:nvSpPr>
          <p:cNvPr id="4" name="Shape 1"/>
          <p:cNvSpPr/>
          <p:nvPr/>
        </p:nvSpPr>
        <p:spPr>
          <a:xfrm>
            <a:off x="381000" y="381000"/>
            <a:ext cx="1143000" cy="285750"/>
          </a:xfrm>
          <a:prstGeom prst="roundRect">
            <a:avLst>
              <a:gd name="adj" fmla="val 13333"/>
            </a:avLst>
          </a:prstGeom>
          <a:solidFill>
            <a:srgbClr val="1E2122"/>
          </a:solidFill>
          <a:ln/>
        </p:spPr>
      </p:sp>
      <p:sp>
        <p:nvSpPr>
          <p:cNvPr id="5" name="Text 2"/>
          <p:cNvSpPr txBox="1"/>
          <p:nvPr/>
        </p:nvSpPr>
        <p:spPr>
          <a:xfrm>
            <a:off x="381000" y="381000"/>
            <a:ext cx="1200150" cy="285750"/>
          </a:xfrm>
          <a:prstGeom prst="rect">
            <a:avLst/>
          </a:prstGeom>
          <a:noFill/>
          <a:ln/>
        </p:spPr>
        <p:txBody>
          <a:bodyPr wrap="square" lIns="133350" tIns="76200" rIns="133350" bIns="76200" rtlCol="0" anchor="t"/>
          <a:lstStyle/>
          <a:p>
            <a:pPr algn="l" indent="0" marL="0">
              <a:lnSpc>
                <a:spcPts val="1170"/>
              </a:lnSpc>
              <a:buNone/>
            </a:pPr>
            <a:r>
              <a:rPr lang="en-US" sz="980" b="1" spc="150" kern="0" dirty="0">
                <a:solidFill>
                  <a:srgbClr val="ECE8E1"/>
                </a:solidFill>
                <a:latin typeface="Archivo" pitchFamily="34" charset="0"/>
                <a:ea typeface="Archivo" pitchFamily="34" charset="-122"/>
                <a:cs typeface="Archivo" pitchFamily="34" charset="-120"/>
              </a:rPr>
              <a:t>ANTES</a:t>
            </a:r>
            <a:endParaRPr lang="en-US" sz="980" dirty="0"/>
          </a:p>
        </p:txBody>
      </p:sp>
      <p:sp>
        <p:nvSpPr>
          <p:cNvPr id="6" name="Shape 3"/>
          <p:cNvSpPr/>
          <p:nvPr/>
        </p:nvSpPr>
        <p:spPr>
          <a:xfrm>
            <a:off x="381000" y="5334000"/>
            <a:ext cx="4191000" cy="882848"/>
          </a:xfrm>
          <a:prstGeom prst="rect">
            <a:avLst/>
          </a:prstGeom>
          <a:solidFill>
            <a:srgbClr val="1E2122"/>
          </a:solidFill>
          <a:ln/>
        </p:spPr>
      </p:sp>
      <p:sp>
        <p:nvSpPr>
          <p:cNvPr id="7" name="Text 4"/>
          <p:cNvSpPr txBox="1"/>
          <p:nvPr/>
        </p:nvSpPr>
        <p:spPr>
          <a:xfrm>
            <a:off x="381000" y="5334000"/>
            <a:ext cx="4248150" cy="882848"/>
          </a:xfrm>
          <a:prstGeom prst="rect">
            <a:avLst/>
          </a:prstGeom>
          <a:noFill/>
          <a:ln/>
        </p:spPr>
        <p:txBody>
          <a:bodyPr wrap="square" lIns="190500" tIns="171450" rIns="190500" bIns="171450" rtlCol="0" anchor="t"/>
          <a:lstStyle/>
          <a:p>
            <a:pPr algn="l" indent="0" marL="0">
              <a:lnSpc>
                <a:spcPts val="2130"/>
              </a:lnSpc>
              <a:buNone/>
            </a:pPr>
            <a:r>
              <a:rPr lang="en-US" sz="1580" i="1" dirty="0">
                <a:solidFill>
                  <a:srgbClr val="ECE8E1"/>
                </a:solidFill>
                <a:latin typeface="Source Serif 4" pitchFamily="34" charset="0"/>
                <a:ea typeface="Source Serif 4" pitchFamily="34" charset="-122"/>
                <a:cs typeface="Source Serif 4" pitchFamily="34" charset="-120"/>
              </a:rPr>
              <a:t>Revisar páginas una por una y copiar cada obra a mano.</a:t>
            </a:r>
            <a:endParaRPr lang="en-US" sz="1580" dirty="0"/>
          </a:p>
        </p:txBody>
      </p:sp>
      <p:sp>
        <p:nvSpPr>
          <p:cNvPr id="8" name="Text 5"/>
          <p:cNvSpPr txBox="1"/>
          <p:nvPr/>
        </p:nvSpPr>
        <p:spPr>
          <a:xfrm>
            <a:off x="5562600" y="685800"/>
            <a:ext cx="5772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9A5E12"/>
                </a:solidFill>
                <a:latin typeface="Archivo" pitchFamily="34" charset="0"/>
                <a:ea typeface="Archivo" pitchFamily="34" charset="-122"/>
                <a:cs typeface="Archivo" pitchFamily="34" charset="-120"/>
              </a:rPr>
              <a:t>AHORA</a:t>
            </a:r>
            <a:endParaRPr lang="en-US" sz="980" dirty="0"/>
          </a:p>
        </p:txBody>
      </p:sp>
      <p:sp>
        <p:nvSpPr>
          <p:cNvPr id="9" name="Text 6"/>
          <p:cNvSpPr txBox="1"/>
          <p:nvPr/>
        </p:nvSpPr>
        <p:spPr>
          <a:xfrm>
            <a:off x="5562600" y="971550"/>
            <a:ext cx="6000750" cy="905173"/>
          </a:xfrm>
          <a:prstGeom prst="rect">
            <a:avLst/>
          </a:prstGeom>
          <a:noFill/>
          <a:ln/>
        </p:spPr>
        <p:txBody>
          <a:bodyPr wrap="square" lIns="0" tIns="0" rIns="0" bIns="0" rtlCol="0" anchor="t"/>
          <a:lstStyle/>
          <a:p>
            <a:pPr algn="l" indent="0" marL="0">
              <a:lnSpc>
                <a:spcPts val="3560"/>
              </a:lnSpc>
              <a:buNone/>
            </a:pPr>
            <a:r>
              <a:rPr lang="en-US" sz="3300" b="1" spc="-75" kern="0" dirty="0">
                <a:solidFill>
                  <a:srgbClr val="1E2122"/>
                </a:solidFill>
                <a:latin typeface="Archivo" pitchFamily="34" charset="0"/>
                <a:ea typeface="Archivo" pitchFamily="34" charset="-122"/>
                <a:cs typeface="Archivo" pitchFamily="34" charset="-120"/>
              </a:rPr>
              <a:t>El sistema busca; usted decide y vende</a:t>
            </a:r>
            <a:endParaRPr lang="en-US" sz="3300" dirty="0"/>
          </a:p>
        </p:txBody>
      </p:sp>
      <p:sp>
        <p:nvSpPr>
          <p:cNvPr id="10" name="Text 7"/>
          <p:cNvSpPr txBox="1"/>
          <p:nvPr/>
        </p:nvSpPr>
        <p:spPr>
          <a:xfrm>
            <a:off x="5562600" y="2266950"/>
            <a:ext cx="533400" cy="419100"/>
          </a:xfrm>
          <a:prstGeom prst="rect">
            <a:avLst/>
          </a:prstGeom>
          <a:noFill/>
          <a:ln/>
        </p:spPr>
        <p:txBody>
          <a:bodyPr wrap="square" lIns="0" tIns="0" rIns="0" bIns="0" rtlCol="0" anchor="t"/>
          <a:lstStyle/>
          <a:p>
            <a:pPr algn="l" indent="0" marL="0">
              <a:lnSpc>
                <a:spcPts val="3300"/>
              </a:lnSpc>
              <a:buNone/>
            </a:pPr>
            <a:r>
              <a:rPr lang="en-US" sz="3300" i="1" dirty="0">
                <a:solidFill>
                  <a:srgbClr val="9A5E12"/>
                </a:solidFill>
                <a:latin typeface="Source Serif 4" pitchFamily="34" charset="0"/>
                <a:ea typeface="Source Serif 4" pitchFamily="34" charset="-122"/>
                <a:cs typeface="Source Serif 4" pitchFamily="34" charset="-120"/>
              </a:rPr>
              <a:t>1</a:t>
            </a:r>
            <a:endParaRPr lang="en-US" sz="3300" dirty="0"/>
          </a:p>
        </p:txBody>
      </p:sp>
      <p:sp>
        <p:nvSpPr>
          <p:cNvPr id="11" name="Text 8"/>
          <p:cNvSpPr txBox="1"/>
          <p:nvPr/>
        </p:nvSpPr>
        <p:spPr>
          <a:xfrm>
            <a:off x="6134100" y="2324100"/>
            <a:ext cx="5391150" cy="269974"/>
          </a:xfrm>
          <a:prstGeom prst="rect">
            <a:avLst/>
          </a:prstGeom>
          <a:noFill/>
          <a:ln/>
        </p:spPr>
        <p:txBody>
          <a:bodyPr wrap="square" lIns="0" tIns="0" rIns="0" bIns="0" rtlCol="0" anchor="t"/>
          <a:lstStyle/>
          <a:p>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El sistema </a:t>
            </a:r>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trae las obras adjudicadas</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de Licitaciones.info.</a:t>
            </a:r>
            <a:endParaRPr lang="en-US" sz="1580" dirty="0"/>
          </a:p>
        </p:txBody>
      </p:sp>
      <p:sp>
        <p:nvSpPr>
          <p:cNvPr id="12" name="Text 9"/>
          <p:cNvSpPr txBox="1"/>
          <p:nvPr/>
        </p:nvSpPr>
        <p:spPr>
          <a:xfrm>
            <a:off x="5562600" y="3028950"/>
            <a:ext cx="533400" cy="419100"/>
          </a:xfrm>
          <a:prstGeom prst="rect">
            <a:avLst/>
          </a:prstGeom>
          <a:noFill/>
          <a:ln/>
        </p:spPr>
        <p:txBody>
          <a:bodyPr wrap="square" lIns="0" tIns="0" rIns="0" bIns="0" rtlCol="0" anchor="t"/>
          <a:lstStyle/>
          <a:p>
            <a:pPr algn="l" indent="0" marL="0">
              <a:lnSpc>
                <a:spcPts val="3300"/>
              </a:lnSpc>
              <a:buNone/>
            </a:pPr>
            <a:r>
              <a:rPr lang="en-US" sz="3300" i="1" dirty="0">
                <a:solidFill>
                  <a:srgbClr val="9A5E12"/>
                </a:solidFill>
                <a:latin typeface="Source Serif 4" pitchFamily="34" charset="0"/>
                <a:ea typeface="Source Serif 4" pitchFamily="34" charset="-122"/>
                <a:cs typeface="Source Serif 4" pitchFamily="34" charset="-120"/>
              </a:rPr>
              <a:t>2</a:t>
            </a:r>
            <a:endParaRPr lang="en-US" sz="3300" dirty="0"/>
          </a:p>
        </p:txBody>
      </p:sp>
      <p:sp>
        <p:nvSpPr>
          <p:cNvPr id="13" name="Text 10"/>
          <p:cNvSpPr txBox="1"/>
          <p:nvPr/>
        </p:nvSpPr>
        <p:spPr>
          <a:xfrm>
            <a:off x="6134100" y="3086100"/>
            <a:ext cx="5391150" cy="269974"/>
          </a:xfrm>
          <a:prstGeom prst="rect">
            <a:avLst/>
          </a:prstGeom>
          <a:noFill/>
          <a:ln/>
        </p:spPr>
        <p:txBody>
          <a:bodyPr wrap="square" lIns="0" tIns="0" rIns="0" bIns="0" rtlCol="0" anchor="t"/>
          <a:lstStyle/>
          <a:p>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Las entrega en </a:t>
            </a:r>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un Excel ordenado y sin repetidos</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a:t>
            </a:r>
            <a:endParaRPr lang="en-US" sz="1580" dirty="0"/>
          </a:p>
        </p:txBody>
      </p:sp>
      <p:sp>
        <p:nvSpPr>
          <p:cNvPr id="14" name="Text 11"/>
          <p:cNvSpPr txBox="1"/>
          <p:nvPr/>
        </p:nvSpPr>
        <p:spPr>
          <a:xfrm>
            <a:off x="5562600" y="3790950"/>
            <a:ext cx="533400" cy="419100"/>
          </a:xfrm>
          <a:prstGeom prst="rect">
            <a:avLst/>
          </a:prstGeom>
          <a:noFill/>
          <a:ln/>
        </p:spPr>
        <p:txBody>
          <a:bodyPr wrap="square" lIns="0" tIns="0" rIns="0" bIns="0" rtlCol="0" anchor="t"/>
          <a:lstStyle/>
          <a:p>
            <a:pPr algn="l" indent="0" marL="0">
              <a:lnSpc>
                <a:spcPts val="3300"/>
              </a:lnSpc>
              <a:buNone/>
            </a:pPr>
            <a:r>
              <a:rPr lang="en-US" sz="3300" i="1" dirty="0">
                <a:solidFill>
                  <a:srgbClr val="9A5E12"/>
                </a:solidFill>
                <a:latin typeface="Source Serif 4" pitchFamily="34" charset="0"/>
                <a:ea typeface="Source Serif 4" pitchFamily="34" charset="-122"/>
                <a:cs typeface="Source Serif 4" pitchFamily="34" charset="-120"/>
              </a:rPr>
              <a:t>3</a:t>
            </a:r>
            <a:endParaRPr lang="en-US" sz="3300" dirty="0"/>
          </a:p>
        </p:txBody>
      </p:sp>
      <p:sp>
        <p:nvSpPr>
          <p:cNvPr id="15" name="Text 12"/>
          <p:cNvSpPr txBox="1"/>
          <p:nvPr/>
        </p:nvSpPr>
        <p:spPr>
          <a:xfrm>
            <a:off x="6134100" y="3848100"/>
            <a:ext cx="5391150" cy="269974"/>
          </a:xfrm>
          <a:prstGeom prst="rect">
            <a:avLst/>
          </a:prstGeom>
          <a:noFill/>
          <a:ln/>
        </p:spPr>
        <p:txBody>
          <a:bodyPr wrap="square" lIns="0" tIns="0" rIns="0" bIns="0" rtlCol="0" anchor="t"/>
          <a:lstStyle/>
          <a:p>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Usted </a:t>
            </a:r>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revisa, elige y contacta</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a:t>
            </a:r>
            <a:endParaRPr lang="en-US" sz="1580" dirty="0"/>
          </a:p>
        </p:txBody>
      </p:sp>
      <p:sp>
        <p:nvSpPr>
          <p:cNvPr id="16" name="Shape 13"/>
          <p:cNvSpPr/>
          <p:nvPr/>
        </p:nvSpPr>
        <p:spPr>
          <a:xfrm>
            <a:off x="5562600" y="4953000"/>
            <a:ext cx="5943600" cy="878086"/>
          </a:xfrm>
          <a:prstGeom prst="roundRect">
            <a:avLst>
              <a:gd name="adj" fmla="val 4339"/>
            </a:avLst>
          </a:prstGeom>
          <a:solidFill>
            <a:srgbClr val="1E2122"/>
          </a:solidFill>
          <a:ln/>
        </p:spPr>
      </p:sp>
      <p:sp>
        <p:nvSpPr>
          <p:cNvPr id="17" name="Text 14"/>
          <p:cNvSpPr txBox="1"/>
          <p:nvPr/>
        </p:nvSpPr>
        <p:spPr>
          <a:xfrm>
            <a:off x="5562600" y="4953000"/>
            <a:ext cx="6000750" cy="878086"/>
          </a:xfrm>
          <a:prstGeom prst="rect">
            <a:avLst/>
          </a:prstGeom>
          <a:noFill/>
          <a:ln/>
        </p:spPr>
        <p:txBody>
          <a:bodyPr wrap="square" lIns="228600" tIns="190500" rIns="228600" bIns="190500" rtlCol="0" anchor="t"/>
          <a:lstStyle/>
          <a:p>
            <a:pPr algn="l" indent="0" marL="0">
              <a:lnSpc>
                <a:spcPts val="1960"/>
              </a:lnSpc>
              <a:buNone/>
            </a:pPr>
            <a:r>
              <a:rPr lang="en-US" sz="1350" b="1" dirty="0">
                <a:solidFill>
                  <a:srgbClr val="E8A33D"/>
                </a:solidFill>
                <a:latin typeface="Archivo" pitchFamily="34" charset="0"/>
                <a:ea typeface="Archivo" pitchFamily="34" charset="-122"/>
                <a:cs typeface="Archivo" pitchFamily="34" charset="-120"/>
              </a:rPr>
              <a:t>Sigue siendo suyo:</a:t>
            </a:r>
            <a:pPr algn="l" indent="0" marL="0">
              <a:lnSpc>
                <a:spcPts val="1960"/>
              </a:lnSpc>
              <a:buNone/>
            </a:pPr>
            <a:r>
              <a:rPr lang="en-US" sz="1350" dirty="0">
                <a:solidFill>
                  <a:srgbClr val="ECE8E1"/>
                </a:solidFill>
                <a:latin typeface="Archivo" pitchFamily="34" charset="0"/>
                <a:ea typeface="Archivo" pitchFamily="34" charset="-122"/>
                <a:cs typeface="Archivo" pitchFamily="34" charset="-120"/>
              </a:rPr>
              <a:t> asignar el asesor, contactar al contratista y anotar el seguimiento.</a:t>
            </a:r>
            <a:endParaRPr lang="en-US" sz="1350" dirty="0"/>
          </a:p>
        </p:txBody>
      </p:sp>
      <p:sp>
        <p:nvSpPr>
          <p:cNvPr id="18" name="Text 1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3EE"/>
          </a:solidFill>
          <a:ln/>
        </p:spPr>
      </p:sp>
      <p:sp>
        <p:nvSpPr>
          <p:cNvPr id="3" name="Text 1"/>
          <p:cNvSpPr txBox="1"/>
          <p:nvPr/>
        </p:nvSpPr>
        <p:spPr>
          <a:xfrm>
            <a:off x="685800" y="381000"/>
            <a:ext cx="2198936"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EL ARCHIVO</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El nombre del archivo le dice si es el reporte correcto</a:t>
            </a:r>
            <a:endParaRPr lang="en-US" sz="2700" dirty="0"/>
          </a:p>
        </p:txBody>
      </p:sp>
      <p:sp>
        <p:nvSpPr>
          <p:cNvPr id="5" name="Shape 3"/>
          <p:cNvSpPr/>
          <p:nvPr/>
        </p:nvSpPr>
        <p:spPr>
          <a:xfrm>
            <a:off x="685800" y="2019300"/>
            <a:ext cx="10820400" cy="1428750"/>
          </a:xfrm>
          <a:prstGeom prst="roundRect">
            <a:avLst>
              <a:gd name="adj" fmla="val 4000"/>
            </a:avLst>
          </a:prstGeom>
          <a:solidFill>
            <a:srgbClr val="1E2122"/>
          </a:solidFill>
          <a:ln/>
        </p:spPr>
      </p:sp>
      <p:sp>
        <p:nvSpPr>
          <p:cNvPr id="6" name="Text 4"/>
          <p:cNvSpPr txBox="1"/>
          <p:nvPr/>
        </p:nvSpPr>
        <p:spPr>
          <a:xfrm>
            <a:off x="1066800" y="2495550"/>
            <a:ext cx="10344150" cy="457200"/>
          </a:xfrm>
          <a:prstGeom prst="rect">
            <a:avLst/>
          </a:prstGeom>
          <a:noFill/>
          <a:ln/>
        </p:spPr>
        <p:txBody>
          <a:bodyPr wrap="square" lIns="0" tIns="0" rIns="0" bIns="0" rtlCol="0" anchor="t"/>
          <a:lstStyle/>
          <a:p>
            <a:pPr algn="l" indent="0" marL="0">
              <a:lnSpc>
                <a:spcPts val="3600"/>
              </a:lnSpc>
              <a:buNone/>
            </a:pPr>
            <a:r>
              <a:rPr lang="en-US" sz="3000" b="1" spc="-38" kern="0" dirty="0">
                <a:solidFill>
                  <a:srgbClr val="A9ACA6"/>
                </a:solidFill>
                <a:latin typeface="Archivo" pitchFamily="34" charset="0"/>
                <a:ea typeface="Archivo" pitchFamily="34" charset="-122"/>
                <a:cs typeface="Archivo" pitchFamily="34" charset="-120"/>
              </a:rPr>
              <a:t>licitaciones_intermedio_</a:t>
            </a:r>
            <a:pPr algn="l" indent="0" marL="0">
              <a:lnSpc>
                <a:spcPts val="3600"/>
              </a:lnSpc>
              <a:buNone/>
            </a:pPr>
            <a:r>
              <a:rPr lang="en-US" sz="3000" b="1" spc="-38" kern="0" dirty="0">
                <a:solidFill>
                  <a:srgbClr val="E8A33D"/>
                </a:solidFill>
                <a:latin typeface="Archivo" pitchFamily="34" charset="0"/>
                <a:ea typeface="Archivo" pitchFamily="34" charset="-122"/>
                <a:cs typeface="Archivo" pitchFamily="34" charset="-120"/>
              </a:rPr>
              <a:t>20261013</a:t>
            </a:r>
            <a:pPr algn="l" indent="0" marL="0">
              <a:lnSpc>
                <a:spcPts val="3600"/>
              </a:lnSpc>
              <a:buNone/>
            </a:pPr>
            <a:r>
              <a:rPr lang="en-US" sz="3000" b="1" spc="-38" kern="0" dirty="0">
                <a:solidFill>
                  <a:srgbClr val="A9ACA6"/>
                </a:solidFill>
                <a:latin typeface="Archivo" pitchFamily="34" charset="0"/>
                <a:ea typeface="Archivo" pitchFamily="34" charset="-122"/>
                <a:cs typeface="Archivo" pitchFamily="34" charset="-120"/>
              </a:rPr>
              <a:t>_</a:t>
            </a:r>
            <a:pPr algn="l" indent="0" marL="0">
              <a:lnSpc>
                <a:spcPts val="3600"/>
              </a:lnSpc>
              <a:buNone/>
            </a:pPr>
            <a:r>
              <a:rPr lang="en-US" sz="3000" b="1" spc="-38" kern="0" dirty="0">
                <a:solidFill>
                  <a:srgbClr val="E8A33D"/>
                </a:solidFill>
                <a:latin typeface="Archivo" pitchFamily="34" charset="0"/>
                <a:ea typeface="Archivo" pitchFamily="34" charset="-122"/>
                <a:cs typeface="Archivo" pitchFamily="34" charset="-120"/>
              </a:rPr>
              <a:t>073000</a:t>
            </a:r>
            <a:pPr algn="l" indent="0" marL="0">
              <a:lnSpc>
                <a:spcPts val="3600"/>
              </a:lnSpc>
              <a:buNone/>
            </a:pPr>
            <a:r>
              <a:rPr lang="en-US" sz="3000" b="1" spc="-38" kern="0" dirty="0">
                <a:solidFill>
                  <a:srgbClr val="A9ACA6"/>
                </a:solidFill>
                <a:latin typeface="Archivo" pitchFamily="34" charset="0"/>
                <a:ea typeface="Archivo" pitchFamily="34" charset="-122"/>
                <a:cs typeface="Archivo" pitchFamily="34" charset="-120"/>
              </a:rPr>
              <a:t>.xlsx</a:t>
            </a:r>
            <a:endParaRPr lang="en-US" sz="3000" dirty="0"/>
          </a:p>
        </p:txBody>
      </p:sp>
      <p:sp>
        <p:nvSpPr>
          <p:cNvPr id="7" name="Shape 5"/>
          <p:cNvSpPr/>
          <p:nvPr/>
        </p:nvSpPr>
        <p:spPr>
          <a:xfrm>
            <a:off x="6210300" y="3448050"/>
            <a:ext cx="19050" cy="361950"/>
          </a:xfrm>
          <a:prstGeom prst="rect">
            <a:avLst/>
          </a:prstGeom>
          <a:solidFill>
            <a:srgbClr val="9A5E12"/>
          </a:solidFill>
          <a:ln/>
        </p:spPr>
      </p:sp>
      <p:sp>
        <p:nvSpPr>
          <p:cNvPr id="8" name="Text 6"/>
          <p:cNvSpPr txBox="1"/>
          <p:nvPr/>
        </p:nvSpPr>
        <p:spPr>
          <a:xfrm>
            <a:off x="6210300" y="3886200"/>
            <a:ext cx="1962150" cy="436959"/>
          </a:xfrm>
          <a:prstGeom prst="rect">
            <a:avLst/>
          </a:prstGeom>
          <a:noFill/>
          <a:ln/>
        </p:spPr>
        <p:txBody>
          <a:bodyPr wrap="square" lIns="0" tIns="0" rIns="0" bIns="0" rtlCol="0" anchor="t"/>
          <a:lstStyle/>
          <a:p>
            <a:pPr algn="l" indent="0" marL="0">
              <a:lnSpc>
                <a:spcPts val="1720"/>
              </a:lnSpc>
              <a:buNone/>
            </a:pPr>
            <a:r>
              <a:rPr lang="en-US" sz="1280" b="1" dirty="0">
                <a:solidFill>
                  <a:srgbClr val="1E2122"/>
                </a:solidFill>
                <a:latin typeface="Archivo" pitchFamily="34" charset="0"/>
                <a:ea typeface="Archivo" pitchFamily="34" charset="-122"/>
                <a:cs typeface="Archivo" pitchFamily="34" charset="-120"/>
              </a:rPr>
              <a:t>Fecha</a:t>
            </a:r>
            <a:endParaRPr lang="en-US" sz="1280" dirty="0"/>
          </a:p>
          <a:p>
            <a:pPr algn="l" indent="0" marL="0">
              <a:lnSpc>
                <a:spcPts val="1720"/>
              </a:lnSpc>
              <a:buNone/>
            </a:pPr>
            <a:r>
              <a:rPr lang="en-US" sz="1280" dirty="0">
                <a:solidFill>
                  <a:srgbClr val="1E2122"/>
                </a:solidFill>
                <a:latin typeface="Archivo" pitchFamily="34" charset="0"/>
                <a:ea typeface="Archivo" pitchFamily="34" charset="-122"/>
                <a:cs typeface="Archivo" pitchFamily="34" charset="-120"/>
              </a:rPr>
              <a:t>año · mes · día</a:t>
            </a:r>
            <a:endParaRPr lang="en-US" sz="1280" dirty="0"/>
          </a:p>
        </p:txBody>
      </p:sp>
      <p:sp>
        <p:nvSpPr>
          <p:cNvPr id="9" name="Shape 7"/>
          <p:cNvSpPr/>
          <p:nvPr/>
        </p:nvSpPr>
        <p:spPr>
          <a:xfrm>
            <a:off x="8305800" y="3448050"/>
            <a:ext cx="19050" cy="361950"/>
          </a:xfrm>
          <a:prstGeom prst="rect">
            <a:avLst/>
          </a:prstGeom>
          <a:solidFill>
            <a:srgbClr val="9A5E12"/>
          </a:solidFill>
          <a:ln/>
        </p:spPr>
      </p:sp>
      <p:sp>
        <p:nvSpPr>
          <p:cNvPr id="10" name="Text 8"/>
          <p:cNvSpPr txBox="1"/>
          <p:nvPr/>
        </p:nvSpPr>
        <p:spPr>
          <a:xfrm>
            <a:off x="8305800" y="3886200"/>
            <a:ext cx="2152650" cy="436959"/>
          </a:xfrm>
          <a:prstGeom prst="rect">
            <a:avLst/>
          </a:prstGeom>
          <a:noFill/>
          <a:ln/>
        </p:spPr>
        <p:txBody>
          <a:bodyPr wrap="square" lIns="0" tIns="0" rIns="0" bIns="0" rtlCol="0" anchor="t"/>
          <a:lstStyle/>
          <a:p>
            <a:pPr algn="l" indent="0" marL="0">
              <a:lnSpc>
                <a:spcPts val="1720"/>
              </a:lnSpc>
              <a:buNone/>
            </a:pPr>
            <a:r>
              <a:rPr lang="en-US" sz="1280" b="1" dirty="0">
                <a:solidFill>
                  <a:srgbClr val="1E2122"/>
                </a:solidFill>
                <a:latin typeface="Archivo" pitchFamily="34" charset="0"/>
                <a:ea typeface="Archivo" pitchFamily="34" charset="-122"/>
                <a:cs typeface="Archivo" pitchFamily="34" charset="-120"/>
              </a:rPr>
              <a:t>Hora</a:t>
            </a:r>
            <a:endParaRPr lang="en-US" sz="1280" dirty="0"/>
          </a:p>
          <a:p>
            <a:pPr algn="l" indent="0" marL="0">
              <a:lnSpc>
                <a:spcPts val="1720"/>
              </a:lnSpc>
              <a:buNone/>
            </a:pPr>
            <a:r>
              <a:rPr lang="en-US" sz="1280" dirty="0">
                <a:solidFill>
                  <a:srgbClr val="1E2122"/>
                </a:solidFill>
                <a:latin typeface="Archivo" pitchFamily="34" charset="0"/>
                <a:ea typeface="Archivo" pitchFamily="34" charset="-122"/>
                <a:cs typeface="Archivo" pitchFamily="34" charset="-120"/>
              </a:rPr>
              <a:t>7:30:00 a. m.</a:t>
            </a:r>
            <a:endParaRPr lang="en-US" sz="1280" dirty="0"/>
          </a:p>
        </p:txBody>
      </p:sp>
      <p:sp>
        <p:nvSpPr>
          <p:cNvPr id="11" name="Shape 9"/>
          <p:cNvSpPr/>
          <p:nvPr/>
        </p:nvSpPr>
        <p:spPr>
          <a:xfrm>
            <a:off x="685800" y="4762500"/>
            <a:ext cx="10820400" cy="9525"/>
          </a:xfrm>
          <a:prstGeom prst="rect">
            <a:avLst/>
          </a:prstGeom>
          <a:solidFill>
            <a:srgbClr val="CFC8BC"/>
          </a:solidFill>
          <a:ln/>
        </p:spPr>
      </p:sp>
      <p:sp>
        <p:nvSpPr>
          <p:cNvPr id="12" name="Text 10"/>
          <p:cNvSpPr txBox="1"/>
          <p:nvPr/>
        </p:nvSpPr>
        <p:spPr>
          <a:xfrm>
            <a:off x="685800" y="4991100"/>
            <a:ext cx="438150" cy="342900"/>
          </a:xfrm>
          <a:prstGeom prst="rect">
            <a:avLst/>
          </a:prstGeom>
          <a:noFill/>
          <a:ln/>
        </p:spPr>
        <p:txBody>
          <a:bodyPr wrap="square" lIns="0" tIns="0" rIns="0" bIns="0" rtlCol="0" anchor="t"/>
          <a:lstStyle/>
          <a:p>
            <a:pPr algn="l" indent="0" marL="0">
              <a:lnSpc>
                <a:spcPts val="2700"/>
              </a:lnSpc>
              <a:buNone/>
            </a:pPr>
            <a:r>
              <a:rPr lang="en-US" sz="2700" i="1" dirty="0">
                <a:solidFill>
                  <a:srgbClr val="9A5E12"/>
                </a:solidFill>
                <a:latin typeface="Source Serif 4" pitchFamily="34" charset="0"/>
                <a:ea typeface="Source Serif 4" pitchFamily="34" charset="-122"/>
                <a:cs typeface="Source Serif 4" pitchFamily="34" charset="-120"/>
              </a:rPr>
              <a:t>1</a:t>
            </a:r>
            <a:endParaRPr lang="en-US" sz="2700" dirty="0"/>
          </a:p>
        </p:txBody>
      </p:sp>
      <p:sp>
        <p:nvSpPr>
          <p:cNvPr id="13" name="Text 11"/>
          <p:cNvSpPr txBox="1"/>
          <p:nvPr/>
        </p:nvSpPr>
        <p:spPr>
          <a:xfrm>
            <a:off x="1104900" y="5029200"/>
            <a:ext cx="3200400" cy="719733"/>
          </a:xfrm>
          <a:prstGeom prst="rect">
            <a:avLst/>
          </a:prstGeom>
          <a:noFill/>
          <a:ln/>
        </p:spPr>
        <p:txBody>
          <a:bodyPr wrap="square" lIns="0" tIns="0" rIns="0" bIns="0" rtlCol="0" anchor="t"/>
          <a:lstStyle/>
          <a:p>
            <a:pPr algn="l" indent="0" marL="0">
              <a:lnSpc>
                <a:spcPts val="1890"/>
              </a:lnSpc>
              <a:buNone/>
            </a:pPr>
            <a:r>
              <a:rPr lang="en-US" sz="1350" b="1" dirty="0">
                <a:solidFill>
                  <a:srgbClr val="1E2122"/>
                </a:solidFill>
                <a:latin typeface="Archivo" pitchFamily="34" charset="0"/>
                <a:ea typeface="Archivo" pitchFamily="34" charset="-122"/>
                <a:cs typeface="Archivo" pitchFamily="34" charset="-120"/>
              </a:rPr>
              <a:t>Abra siempre el más reciente.</a:t>
            </a:r>
            <a:pPr algn="l" indent="0" marL="0">
              <a:lnSpc>
                <a:spcPts val="1890"/>
              </a:lnSpc>
              <a:buNone/>
            </a:pPr>
            <a:r>
              <a:rPr lang="en-US" sz="1350" dirty="0">
                <a:solidFill>
                  <a:srgbClr val="1E2122"/>
                </a:solidFill>
                <a:latin typeface="Archivo" pitchFamily="34" charset="0"/>
                <a:ea typeface="Archivo" pitchFamily="34" charset="-122"/>
                <a:cs typeface="Archivo" pitchFamily="34" charset="-120"/>
              </a:rPr>
              <a:t> Los anteriores quedan como historial; nunca se borran.</a:t>
            </a:r>
            <a:endParaRPr lang="en-US" sz="1350" dirty="0"/>
          </a:p>
        </p:txBody>
      </p:sp>
      <p:sp>
        <p:nvSpPr>
          <p:cNvPr id="14" name="Text 12"/>
          <p:cNvSpPr txBox="1"/>
          <p:nvPr/>
        </p:nvSpPr>
        <p:spPr>
          <a:xfrm>
            <a:off x="4591050" y="4991100"/>
            <a:ext cx="438150" cy="342900"/>
          </a:xfrm>
          <a:prstGeom prst="rect">
            <a:avLst/>
          </a:prstGeom>
          <a:noFill/>
          <a:ln/>
        </p:spPr>
        <p:txBody>
          <a:bodyPr wrap="square" lIns="0" tIns="0" rIns="0" bIns="0" rtlCol="0" anchor="t"/>
          <a:lstStyle/>
          <a:p>
            <a:pPr algn="l" indent="0" marL="0">
              <a:lnSpc>
                <a:spcPts val="2700"/>
              </a:lnSpc>
              <a:buNone/>
            </a:pPr>
            <a:r>
              <a:rPr lang="en-US" sz="2700" i="1" dirty="0">
                <a:solidFill>
                  <a:srgbClr val="9A5E12"/>
                </a:solidFill>
                <a:latin typeface="Source Serif 4" pitchFamily="34" charset="0"/>
                <a:ea typeface="Source Serif 4" pitchFamily="34" charset="-122"/>
                <a:cs typeface="Source Serif 4" pitchFamily="34" charset="-120"/>
              </a:rPr>
              <a:t>2</a:t>
            </a:r>
            <a:endParaRPr lang="en-US" sz="2700" dirty="0"/>
          </a:p>
        </p:txBody>
      </p:sp>
      <p:sp>
        <p:nvSpPr>
          <p:cNvPr id="15" name="Text 13"/>
          <p:cNvSpPr txBox="1"/>
          <p:nvPr/>
        </p:nvSpPr>
        <p:spPr>
          <a:xfrm>
            <a:off x="5010150" y="5029200"/>
            <a:ext cx="3200400" cy="719733"/>
          </a:xfrm>
          <a:prstGeom prst="rect">
            <a:avLst/>
          </a:prstGeom>
          <a:noFill/>
          <a:ln/>
        </p:spPr>
        <p:txBody>
          <a:bodyPr wrap="square" lIns="0" tIns="0" rIns="0" bIns="0" rtlCol="0" anchor="t"/>
          <a:lstStyle/>
          <a:p>
            <a:pPr algn="l" indent="0" marL="0">
              <a:lnSpc>
                <a:spcPts val="1890"/>
              </a:lnSpc>
              <a:buNone/>
            </a:pPr>
            <a:r>
              <a:rPr lang="en-US" sz="1350" b="1" dirty="0">
                <a:solidFill>
                  <a:srgbClr val="1E2122"/>
                </a:solidFill>
                <a:latin typeface="Archivo" pitchFamily="34" charset="0"/>
                <a:ea typeface="Archivo" pitchFamily="34" charset="-122"/>
                <a:cs typeface="Archivo" pitchFamily="34" charset="-120"/>
              </a:rPr>
              <a:t>Cada reporte es nuevo.</a:t>
            </a:r>
            <a:pPr algn="l" indent="0" marL="0">
              <a:lnSpc>
                <a:spcPts val="1890"/>
              </a:lnSpc>
              <a:buNone/>
            </a:pPr>
            <a:r>
              <a:rPr lang="en-US" sz="1350" dirty="0">
                <a:solidFill>
                  <a:srgbClr val="1E2122"/>
                </a:solidFill>
                <a:latin typeface="Archivo" pitchFamily="34" charset="0"/>
                <a:ea typeface="Archivo" pitchFamily="34" charset="-122"/>
                <a:cs typeface="Archivo" pitchFamily="34" charset="-120"/>
              </a:rPr>
              <a:t> El sistema no sobrescribe ni modifica reportes anteriores.</a:t>
            </a:r>
            <a:endParaRPr lang="en-US" sz="1350" dirty="0"/>
          </a:p>
        </p:txBody>
      </p:sp>
      <p:sp>
        <p:nvSpPr>
          <p:cNvPr id="16" name="Text 14"/>
          <p:cNvSpPr txBox="1"/>
          <p:nvPr/>
        </p:nvSpPr>
        <p:spPr>
          <a:xfrm>
            <a:off x="8496300" y="4991100"/>
            <a:ext cx="438150" cy="342900"/>
          </a:xfrm>
          <a:prstGeom prst="rect">
            <a:avLst/>
          </a:prstGeom>
          <a:noFill/>
          <a:ln/>
        </p:spPr>
        <p:txBody>
          <a:bodyPr wrap="square" lIns="0" tIns="0" rIns="0" bIns="0" rtlCol="0" anchor="t"/>
          <a:lstStyle/>
          <a:p>
            <a:pPr algn="l" indent="0" marL="0">
              <a:lnSpc>
                <a:spcPts val="2700"/>
              </a:lnSpc>
              <a:buNone/>
            </a:pPr>
            <a:r>
              <a:rPr lang="en-US" sz="2700" i="1" dirty="0">
                <a:solidFill>
                  <a:srgbClr val="B5482A"/>
                </a:solidFill>
                <a:latin typeface="Source Serif 4" pitchFamily="34" charset="0"/>
                <a:ea typeface="Source Serif 4" pitchFamily="34" charset="-122"/>
                <a:cs typeface="Source Serif 4" pitchFamily="34" charset="-120"/>
              </a:rPr>
              <a:t>!</a:t>
            </a:r>
            <a:endParaRPr lang="en-US" sz="2700" dirty="0"/>
          </a:p>
        </p:txBody>
      </p:sp>
      <p:sp>
        <p:nvSpPr>
          <p:cNvPr id="17" name="Text 15"/>
          <p:cNvSpPr txBox="1"/>
          <p:nvPr/>
        </p:nvSpPr>
        <p:spPr>
          <a:xfrm>
            <a:off x="8820150" y="5029200"/>
            <a:ext cx="2743200" cy="479822"/>
          </a:xfrm>
          <a:prstGeom prst="rect">
            <a:avLst/>
          </a:prstGeom>
          <a:noFill/>
          <a:ln/>
        </p:spPr>
        <p:txBody>
          <a:bodyPr wrap="square" lIns="0" tIns="0" rIns="0" bIns="0" rtlCol="0" anchor="t"/>
          <a:lstStyle/>
          <a:p>
            <a:pPr algn="l" indent="0" marL="0">
              <a:lnSpc>
                <a:spcPts val="1890"/>
              </a:lnSpc>
              <a:buNone/>
            </a:pPr>
            <a:r>
              <a:rPr lang="en-US" sz="1350" b="1" dirty="0">
                <a:solidFill>
                  <a:srgbClr val="B5482A"/>
                </a:solidFill>
                <a:latin typeface="Archivo" pitchFamily="34" charset="0"/>
                <a:ea typeface="Archivo" pitchFamily="34" charset="-122"/>
                <a:cs typeface="Archivo" pitchFamily="34" charset="-120"/>
              </a:rPr>
              <a:t>¿Termina en _REVISAR?</a:t>
            </a:r>
            <a:pPr algn="l" indent="0" marL="0">
              <a:lnSpc>
                <a:spcPts val="1890"/>
              </a:lnSpc>
              <a:buNone/>
            </a:pPr>
            <a:r>
              <a:rPr lang="en-US" sz="1350" dirty="0">
                <a:solidFill>
                  <a:srgbClr val="1E2122"/>
                </a:solidFill>
                <a:latin typeface="Archivo" pitchFamily="34" charset="0"/>
                <a:ea typeface="Archivo" pitchFamily="34" charset="-122"/>
                <a:cs typeface="Archivo" pitchFamily="34" charset="-120"/>
              </a:rPr>
              <a:t> No lo use y avise al responsable.</a:t>
            </a:r>
            <a:endParaRPr lang="en-US" sz="1350" dirty="0"/>
          </a:p>
        </p:txBody>
      </p:sp>
      <p:sp>
        <p:nvSpPr>
          <p:cNvPr id="18" name="Text 16"/>
          <p:cNvSpPr txBox="1"/>
          <p:nvPr/>
        </p:nvSpPr>
        <p:spPr>
          <a:xfrm>
            <a:off x="685800" y="6400800"/>
            <a:ext cx="1976884"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El nombre del ejemplo es ilustrativo.</a:t>
            </a:r>
            <a:endParaRPr lang="en-US" sz="900" dirty="0"/>
          </a:p>
        </p:txBody>
      </p:sp>
      <p:sp>
        <p:nvSpPr>
          <p:cNvPr id="19" name="Text 17"/>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2801987"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LAS CUATRO HOJAS</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Cada hoja del reporte responde una pregunta distinta</a:t>
            </a:r>
            <a:endParaRPr lang="en-US" sz="2700" dirty="0"/>
          </a:p>
        </p:txBody>
      </p:sp>
      <p:sp>
        <p:nvSpPr>
          <p:cNvPr id="5" name="Shape 3"/>
          <p:cNvSpPr/>
          <p:nvPr/>
        </p:nvSpPr>
        <p:spPr>
          <a:xfrm>
            <a:off x="685800" y="1885950"/>
            <a:ext cx="2647950" cy="495300"/>
          </a:xfrm>
          <a:prstGeom prst="roundRect">
            <a:avLst>
              <a:gd name="adj" fmla="val 11538"/>
            </a:avLst>
          </a:prstGeom>
          <a:solidFill>
            <a:srgbClr val="1E2122"/>
          </a:solidFill>
          <a:ln/>
        </p:spPr>
      </p:sp>
      <p:sp>
        <p:nvSpPr>
          <p:cNvPr id="6" name="Text 4"/>
          <p:cNvSpPr txBox="1"/>
          <p:nvPr/>
        </p:nvSpPr>
        <p:spPr>
          <a:xfrm>
            <a:off x="685800" y="1885950"/>
            <a:ext cx="2705100" cy="495300"/>
          </a:xfrm>
          <a:prstGeom prst="rect">
            <a:avLst/>
          </a:prstGeom>
          <a:noFill/>
          <a:ln/>
        </p:spPr>
        <p:txBody>
          <a:bodyPr wrap="square" lIns="190500" tIns="142875" rIns="190500" bIns="142875" rtlCol="0" anchor="t"/>
          <a:lstStyle/>
          <a:p>
            <a:pPr algn="l" indent="0" marL="0">
              <a:lnSpc>
                <a:spcPts val="1620"/>
              </a:lnSpc>
              <a:buNone/>
            </a:pPr>
            <a:r>
              <a:rPr lang="en-US" sz="1350" b="1" dirty="0">
                <a:solidFill>
                  <a:srgbClr val="ECE8E1"/>
                </a:solidFill>
                <a:latin typeface="Archivo" pitchFamily="34" charset="0"/>
                <a:ea typeface="Archivo" pitchFamily="34" charset="-122"/>
                <a:cs typeface="Archivo" pitchFamily="34" charset="-120"/>
              </a:rPr>
              <a:t>Datos</a:t>
            </a:r>
            <a:endParaRPr lang="en-US" sz="1350" dirty="0"/>
          </a:p>
        </p:txBody>
      </p:sp>
      <p:sp>
        <p:nvSpPr>
          <p:cNvPr id="7" name="Shape 5"/>
          <p:cNvSpPr/>
          <p:nvPr/>
        </p:nvSpPr>
        <p:spPr>
          <a:xfrm>
            <a:off x="3409950" y="1885950"/>
            <a:ext cx="2647950" cy="495300"/>
          </a:xfrm>
          <a:prstGeom prst="roundRect">
            <a:avLst>
              <a:gd name="adj" fmla="val 11538"/>
            </a:avLst>
          </a:prstGeom>
          <a:solidFill>
            <a:srgbClr val="D6CFC3"/>
          </a:solidFill>
          <a:ln/>
        </p:spPr>
      </p:sp>
      <p:sp>
        <p:nvSpPr>
          <p:cNvPr id="8" name="Text 6"/>
          <p:cNvSpPr txBox="1"/>
          <p:nvPr/>
        </p:nvSpPr>
        <p:spPr>
          <a:xfrm>
            <a:off x="3409950" y="1885950"/>
            <a:ext cx="2705100" cy="495300"/>
          </a:xfrm>
          <a:prstGeom prst="rect">
            <a:avLst/>
          </a:prstGeom>
          <a:noFill/>
          <a:ln/>
        </p:spPr>
        <p:txBody>
          <a:bodyPr wrap="square" lIns="190500" tIns="142875" rIns="190500" bIns="142875" rtlCol="0" anchor="t"/>
          <a:lstStyle/>
          <a:p>
            <a:pPr algn="l" indent="0" marL="0">
              <a:lnSpc>
                <a:spcPts val="1620"/>
              </a:lnSpc>
              <a:buNone/>
            </a:pPr>
            <a:r>
              <a:rPr lang="en-US" sz="1350" b="1" dirty="0">
                <a:solidFill>
                  <a:srgbClr val="1E2122"/>
                </a:solidFill>
                <a:latin typeface="Archivo" pitchFamily="34" charset="0"/>
                <a:ea typeface="Archivo" pitchFamily="34" charset="-122"/>
                <a:cs typeface="Archivo" pitchFamily="34" charset="-120"/>
              </a:rPr>
              <a:t>Ganadores</a:t>
            </a:r>
            <a:endParaRPr lang="en-US" sz="1350" dirty="0"/>
          </a:p>
        </p:txBody>
      </p:sp>
      <p:sp>
        <p:nvSpPr>
          <p:cNvPr id="9" name="Shape 7"/>
          <p:cNvSpPr/>
          <p:nvPr/>
        </p:nvSpPr>
        <p:spPr>
          <a:xfrm>
            <a:off x="6134100" y="1885950"/>
            <a:ext cx="2647950" cy="495300"/>
          </a:xfrm>
          <a:prstGeom prst="roundRect">
            <a:avLst>
              <a:gd name="adj" fmla="val 11538"/>
            </a:avLst>
          </a:prstGeom>
          <a:solidFill>
            <a:srgbClr val="D6CFC3"/>
          </a:solidFill>
          <a:ln/>
        </p:spPr>
      </p:sp>
      <p:sp>
        <p:nvSpPr>
          <p:cNvPr id="10" name="Text 8"/>
          <p:cNvSpPr txBox="1"/>
          <p:nvPr/>
        </p:nvSpPr>
        <p:spPr>
          <a:xfrm>
            <a:off x="6134100" y="1885950"/>
            <a:ext cx="2705100" cy="495300"/>
          </a:xfrm>
          <a:prstGeom prst="rect">
            <a:avLst/>
          </a:prstGeom>
          <a:noFill/>
          <a:ln/>
        </p:spPr>
        <p:txBody>
          <a:bodyPr wrap="square" lIns="190500" tIns="142875" rIns="190500" bIns="142875" rtlCol="0" anchor="t"/>
          <a:lstStyle/>
          <a:p>
            <a:pPr algn="l" indent="0" marL="0">
              <a:lnSpc>
                <a:spcPts val="1620"/>
              </a:lnSpc>
              <a:buNone/>
            </a:pPr>
            <a:r>
              <a:rPr lang="en-US" sz="1350" b="1" dirty="0">
                <a:solidFill>
                  <a:srgbClr val="1E2122"/>
                </a:solidFill>
                <a:latin typeface="Archivo" pitchFamily="34" charset="0"/>
                <a:ea typeface="Archivo" pitchFamily="34" charset="-122"/>
                <a:cs typeface="Archivo" pitchFamily="34" charset="-120"/>
              </a:rPr>
              <a:t>Incidencias</a:t>
            </a:r>
            <a:endParaRPr lang="en-US" sz="1350" dirty="0"/>
          </a:p>
        </p:txBody>
      </p:sp>
      <p:sp>
        <p:nvSpPr>
          <p:cNvPr id="11" name="Shape 9"/>
          <p:cNvSpPr/>
          <p:nvPr/>
        </p:nvSpPr>
        <p:spPr>
          <a:xfrm>
            <a:off x="8858250" y="1885950"/>
            <a:ext cx="2647950" cy="495300"/>
          </a:xfrm>
          <a:prstGeom prst="roundRect">
            <a:avLst>
              <a:gd name="adj" fmla="val 11538"/>
            </a:avLst>
          </a:prstGeom>
          <a:solidFill>
            <a:srgbClr val="D6CFC3"/>
          </a:solidFill>
          <a:ln/>
        </p:spPr>
      </p:sp>
      <p:sp>
        <p:nvSpPr>
          <p:cNvPr id="12" name="Text 10"/>
          <p:cNvSpPr txBox="1"/>
          <p:nvPr/>
        </p:nvSpPr>
        <p:spPr>
          <a:xfrm>
            <a:off x="8858250" y="1885950"/>
            <a:ext cx="2705100" cy="495300"/>
          </a:xfrm>
          <a:prstGeom prst="rect">
            <a:avLst/>
          </a:prstGeom>
          <a:noFill/>
          <a:ln/>
        </p:spPr>
        <p:txBody>
          <a:bodyPr wrap="square" lIns="190500" tIns="142875" rIns="190500" bIns="142875" rtlCol="0" anchor="t"/>
          <a:lstStyle/>
          <a:p>
            <a:pPr algn="l" indent="0" marL="0">
              <a:lnSpc>
                <a:spcPts val="1620"/>
              </a:lnSpc>
              <a:buNone/>
            </a:pPr>
            <a:r>
              <a:rPr lang="en-US" sz="1350" b="1" dirty="0">
                <a:solidFill>
                  <a:srgbClr val="1E2122"/>
                </a:solidFill>
                <a:latin typeface="Archivo" pitchFamily="34" charset="0"/>
                <a:ea typeface="Archivo" pitchFamily="34" charset="-122"/>
                <a:cs typeface="Archivo" pitchFamily="34" charset="-120"/>
              </a:rPr>
              <a:t>Resumen</a:t>
            </a:r>
            <a:endParaRPr lang="en-US" sz="1350" dirty="0"/>
          </a:p>
        </p:txBody>
      </p:sp>
      <p:sp>
        <p:nvSpPr>
          <p:cNvPr id="13" name="Shape 11"/>
          <p:cNvSpPr/>
          <p:nvPr/>
        </p:nvSpPr>
        <p:spPr>
          <a:xfrm>
            <a:off x="685800" y="2381250"/>
            <a:ext cx="2647950" cy="3333750"/>
          </a:xfrm>
          <a:prstGeom prst="rect">
            <a:avLst/>
          </a:prstGeom>
          <a:solidFill>
            <a:srgbClr val="F6F3EE"/>
          </a:solidFill>
          <a:ln/>
        </p:spPr>
      </p:sp>
      <p:sp>
        <p:nvSpPr>
          <p:cNvPr id="14" name="Shape 12"/>
          <p:cNvSpPr/>
          <p:nvPr/>
        </p:nvSpPr>
        <p:spPr>
          <a:xfrm>
            <a:off x="3409950" y="2381250"/>
            <a:ext cx="2647950" cy="3333750"/>
          </a:xfrm>
          <a:prstGeom prst="rect">
            <a:avLst/>
          </a:prstGeom>
          <a:solidFill>
            <a:srgbClr val="F6F3EE"/>
          </a:solidFill>
          <a:ln/>
        </p:spPr>
      </p:sp>
      <p:sp>
        <p:nvSpPr>
          <p:cNvPr id="15" name="Shape 13"/>
          <p:cNvSpPr/>
          <p:nvPr/>
        </p:nvSpPr>
        <p:spPr>
          <a:xfrm>
            <a:off x="6134100" y="2381250"/>
            <a:ext cx="2647950" cy="3333750"/>
          </a:xfrm>
          <a:prstGeom prst="rect">
            <a:avLst/>
          </a:prstGeom>
          <a:solidFill>
            <a:srgbClr val="F6F3EE"/>
          </a:solidFill>
          <a:ln/>
        </p:spPr>
      </p:sp>
      <p:sp>
        <p:nvSpPr>
          <p:cNvPr id="16" name="Shape 14"/>
          <p:cNvSpPr/>
          <p:nvPr/>
        </p:nvSpPr>
        <p:spPr>
          <a:xfrm>
            <a:off x="8858250" y="2381250"/>
            <a:ext cx="2647950" cy="3333750"/>
          </a:xfrm>
          <a:prstGeom prst="rect">
            <a:avLst/>
          </a:prstGeom>
          <a:solidFill>
            <a:srgbClr val="F6F3EE"/>
          </a:solidFill>
          <a:ln/>
        </p:spPr>
      </p:sp>
      <p:sp>
        <p:nvSpPr>
          <p:cNvPr id="17" name="Text 15"/>
          <p:cNvSpPr txBox="1"/>
          <p:nvPr/>
        </p:nvSpPr>
        <p:spPr>
          <a:xfrm>
            <a:off x="914400" y="2667000"/>
            <a:ext cx="2286000" cy="639961"/>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¿Qué obras se adjudicaron?</a:t>
            </a:r>
            <a:endParaRPr lang="en-US" sz="2100" dirty="0"/>
          </a:p>
        </p:txBody>
      </p:sp>
      <p:sp>
        <p:nvSpPr>
          <p:cNvPr id="18" name="Text 16"/>
          <p:cNvSpPr txBox="1"/>
          <p:nvPr/>
        </p:nvSpPr>
        <p:spPr>
          <a:xfrm>
            <a:off x="914400" y="3905250"/>
            <a:ext cx="2286000" cy="469404"/>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Una fila por licitación. Aquí trabaja casi todo el tiempo.</a:t>
            </a:r>
            <a:endParaRPr lang="en-US" sz="1280" dirty="0"/>
          </a:p>
        </p:txBody>
      </p:sp>
      <p:sp>
        <p:nvSpPr>
          <p:cNvPr id="19" name="Text 17"/>
          <p:cNvSpPr txBox="1"/>
          <p:nvPr/>
        </p:nvSpPr>
        <p:spPr>
          <a:xfrm>
            <a:off x="3638550" y="2667000"/>
            <a:ext cx="2286000" cy="639961"/>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¿Quién ganó cada obra?</a:t>
            </a:r>
            <a:endParaRPr lang="en-US" sz="2100" dirty="0"/>
          </a:p>
        </p:txBody>
      </p:sp>
      <p:sp>
        <p:nvSpPr>
          <p:cNvPr id="20" name="Text 18"/>
          <p:cNvSpPr txBox="1"/>
          <p:nvPr/>
        </p:nvSpPr>
        <p:spPr>
          <a:xfrm>
            <a:off x="3638550" y="3905250"/>
            <a:ext cx="2286000" cy="938808"/>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Una fila por empresa ganadora. Los consorcios aparecen integrante por integrante.</a:t>
            </a:r>
            <a:endParaRPr lang="en-US" sz="1280" dirty="0"/>
          </a:p>
        </p:txBody>
      </p:sp>
      <p:sp>
        <p:nvSpPr>
          <p:cNvPr id="21" name="Text 19"/>
          <p:cNvSpPr txBox="1"/>
          <p:nvPr/>
        </p:nvSpPr>
        <p:spPr>
          <a:xfrm>
            <a:off x="6362700" y="2667000"/>
            <a:ext cx="2286000" cy="639961"/>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¿Qué dato está incompleto?</a:t>
            </a:r>
            <a:endParaRPr lang="en-US" sz="2100" dirty="0"/>
          </a:p>
        </p:txBody>
      </p:sp>
      <p:sp>
        <p:nvSpPr>
          <p:cNvPr id="22" name="Text 20"/>
          <p:cNvSpPr txBox="1"/>
          <p:nvPr/>
        </p:nvSpPr>
        <p:spPr>
          <a:xfrm>
            <a:off x="6362700" y="3905250"/>
            <a:ext cx="2286000" cy="704106"/>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Avisos de datos vacíos o dudosos, con la licitación a la que pertenecen.</a:t>
            </a:r>
            <a:endParaRPr lang="en-US" sz="1280" dirty="0"/>
          </a:p>
        </p:txBody>
      </p:sp>
      <p:sp>
        <p:nvSpPr>
          <p:cNvPr id="23" name="Text 21"/>
          <p:cNvSpPr txBox="1"/>
          <p:nvPr/>
        </p:nvSpPr>
        <p:spPr>
          <a:xfrm>
            <a:off x="9086850" y="2667000"/>
            <a:ext cx="2286000" cy="639961"/>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¿De cuándo es la información?</a:t>
            </a:r>
            <a:endParaRPr lang="en-US" sz="2100" dirty="0"/>
          </a:p>
        </p:txBody>
      </p:sp>
      <p:sp>
        <p:nvSpPr>
          <p:cNvPr id="24" name="Text 22"/>
          <p:cNvSpPr txBox="1"/>
          <p:nvPr/>
        </p:nvSpPr>
        <p:spPr>
          <a:xfrm>
            <a:off x="9086850" y="3905250"/>
            <a:ext cx="2286000" cy="704106"/>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Cuántas obras hay, fecha de consulta y qué significa cada color.</a:t>
            </a:r>
            <a:endParaRPr lang="en-US" sz="1280" dirty="0"/>
          </a:p>
        </p:txBody>
      </p:sp>
      <p:sp>
        <p:nvSpPr>
          <p:cNvPr id="25" name="Shape 23"/>
          <p:cNvSpPr/>
          <p:nvPr/>
        </p:nvSpPr>
        <p:spPr>
          <a:xfrm>
            <a:off x="914400" y="5334000"/>
            <a:ext cx="381000" cy="38100"/>
          </a:xfrm>
          <a:prstGeom prst="rect">
            <a:avLst/>
          </a:prstGeom>
          <a:solidFill>
            <a:srgbClr val="E8A33D"/>
          </a:solidFill>
          <a:ln/>
        </p:spPr>
      </p:sp>
      <p:sp>
        <p:nvSpPr>
          <p:cNvPr id="26" name="Text 24"/>
          <p:cNvSpPr txBox="1"/>
          <p:nvPr/>
        </p:nvSpPr>
        <p:spPr>
          <a:xfrm>
            <a:off x="1371600" y="5238750"/>
            <a:ext cx="1866900" cy="133350"/>
          </a:xfrm>
          <a:prstGeom prst="rect">
            <a:avLst/>
          </a:prstGeom>
          <a:noFill/>
          <a:ln/>
        </p:spPr>
        <p:txBody>
          <a:bodyPr wrap="square" lIns="0" tIns="0" rIns="0" bIns="0" rtlCol="0" anchor="t"/>
          <a:lstStyle/>
          <a:p>
            <a:pPr algn="l" indent="0" marL="0">
              <a:lnSpc>
                <a:spcPts val="1170"/>
              </a:lnSpc>
              <a:buNone/>
            </a:pPr>
            <a:r>
              <a:rPr lang="en-US" sz="980" b="1" spc="75" kern="0" dirty="0">
                <a:solidFill>
                  <a:srgbClr val="9A5E12"/>
                </a:solidFill>
                <a:latin typeface="Archivo" pitchFamily="34" charset="0"/>
                <a:ea typeface="Archivo" pitchFamily="34" charset="-122"/>
                <a:cs typeface="Archivo" pitchFamily="34" charset="-120"/>
              </a:rPr>
              <a:t>AQUÍ TRABAJA</a:t>
            </a:r>
            <a:endParaRPr lang="en-US" sz="980" dirty="0"/>
          </a:p>
        </p:txBody>
      </p:sp>
      <p:sp>
        <p:nvSpPr>
          <p:cNvPr id="27" name="Text 2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3EE"/>
          </a:solidFill>
          <a:ln/>
        </p:spPr>
      </p:sp>
      <p:sp>
        <p:nvSpPr>
          <p:cNvPr id="3" name="Text 1"/>
          <p:cNvSpPr txBox="1"/>
          <p:nvPr/>
        </p:nvSpPr>
        <p:spPr>
          <a:xfrm>
            <a:off x="685800" y="381000"/>
            <a:ext cx="2460278"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LAS COLUMNAS</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Usted solo llena cuatro columnas; siete llegan vacías por ahora</a:t>
            </a:r>
            <a:endParaRPr lang="en-US" sz="2700" dirty="0"/>
          </a:p>
        </p:txBody>
      </p:sp>
      <p:sp>
        <p:nvSpPr>
          <p:cNvPr id="5" name="Shape 3"/>
          <p:cNvSpPr/>
          <p:nvPr/>
        </p:nvSpPr>
        <p:spPr>
          <a:xfrm>
            <a:off x="685800" y="1866900"/>
            <a:ext cx="5334000" cy="1866900"/>
          </a:xfrm>
          <a:prstGeom prst="roundRect">
            <a:avLst>
              <a:gd name="adj" fmla="val 3061"/>
            </a:avLst>
          </a:prstGeom>
          <a:solidFill>
            <a:srgbClr val="E8A33D"/>
          </a:solidFill>
          <a:ln/>
        </p:spPr>
      </p:sp>
      <p:sp>
        <p:nvSpPr>
          <p:cNvPr id="6" name="Text 4"/>
          <p:cNvSpPr txBox="1"/>
          <p:nvPr/>
        </p:nvSpPr>
        <p:spPr>
          <a:xfrm>
            <a:off x="914400" y="2038350"/>
            <a:ext cx="50101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1E2122"/>
                </a:solidFill>
                <a:latin typeface="Archivo" pitchFamily="34" charset="0"/>
                <a:ea typeface="Archivo" pitchFamily="34" charset="-122"/>
                <a:cs typeface="Archivo" pitchFamily="34" charset="-120"/>
              </a:rPr>
              <a:t>LAS LLENA EL SISTEMA</a:t>
            </a:r>
            <a:endParaRPr lang="en-US" sz="980" dirty="0"/>
          </a:p>
        </p:txBody>
      </p:sp>
      <p:sp>
        <p:nvSpPr>
          <p:cNvPr id="7" name="Text 5"/>
          <p:cNvSpPr txBox="1"/>
          <p:nvPr/>
        </p:nvSpPr>
        <p:spPr>
          <a:xfrm>
            <a:off x="914400" y="2343150"/>
            <a:ext cx="5010150" cy="617041"/>
          </a:xfrm>
          <a:prstGeom prst="rect">
            <a:avLst/>
          </a:prstGeom>
          <a:noFill/>
          <a:ln/>
        </p:spPr>
        <p:txBody>
          <a:bodyPr wrap="square" lIns="0" tIns="0" rIns="0" bIns="0" rtlCol="0" anchor="t"/>
          <a:lstStyle/>
          <a:p>
            <a:pPr algn="l" indent="0" marL="0">
              <a:lnSpc>
                <a:spcPts val="2430"/>
              </a:lnSpc>
              <a:buNone/>
            </a:pPr>
            <a:r>
              <a:rPr lang="en-US" sz="1800" b="1" dirty="0">
                <a:solidFill>
                  <a:srgbClr val="1E2122"/>
                </a:solidFill>
                <a:latin typeface="Archivo" pitchFamily="34" charset="0"/>
                <a:ea typeface="Archivo" pitchFamily="34" charset="-122"/>
                <a:cs typeface="Archivo" pitchFamily="34" charset="-120"/>
              </a:rPr>
              <a:t>Entidad · Valor en millones · Empresa ganadora · Código y enlace del proceso</a:t>
            </a:r>
            <a:endParaRPr lang="en-US" sz="1800" dirty="0"/>
          </a:p>
        </p:txBody>
      </p:sp>
      <p:sp>
        <p:nvSpPr>
          <p:cNvPr id="8" name="Shape 6"/>
          <p:cNvSpPr/>
          <p:nvPr/>
        </p:nvSpPr>
        <p:spPr>
          <a:xfrm>
            <a:off x="6172200" y="1866900"/>
            <a:ext cx="5334000" cy="1866900"/>
          </a:xfrm>
          <a:prstGeom prst="roundRect">
            <a:avLst>
              <a:gd name="adj" fmla="val 3061"/>
            </a:avLst>
          </a:prstGeom>
          <a:solidFill>
            <a:srgbClr val="1E2122"/>
          </a:solidFill>
          <a:ln/>
        </p:spPr>
      </p:sp>
      <p:sp>
        <p:nvSpPr>
          <p:cNvPr id="9" name="Text 7"/>
          <p:cNvSpPr txBox="1"/>
          <p:nvPr/>
        </p:nvSpPr>
        <p:spPr>
          <a:xfrm>
            <a:off x="6400800" y="2038350"/>
            <a:ext cx="50101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E8A33D"/>
                </a:solidFill>
                <a:latin typeface="Archivo" pitchFamily="34" charset="0"/>
                <a:ea typeface="Archivo" pitchFamily="34" charset="-122"/>
                <a:cs typeface="Archivo" pitchFamily="34" charset="-120"/>
              </a:rPr>
              <a:t>LAS LLENA USTED</a:t>
            </a:r>
            <a:endParaRPr lang="en-US" sz="980" dirty="0"/>
          </a:p>
        </p:txBody>
      </p:sp>
      <p:sp>
        <p:nvSpPr>
          <p:cNvPr id="10" name="Text 8"/>
          <p:cNvSpPr txBox="1"/>
          <p:nvPr/>
        </p:nvSpPr>
        <p:spPr>
          <a:xfrm>
            <a:off x="6400800" y="2343150"/>
            <a:ext cx="5010150" cy="617041"/>
          </a:xfrm>
          <a:prstGeom prst="rect">
            <a:avLst/>
          </a:prstGeom>
          <a:noFill/>
          <a:ln/>
        </p:spPr>
        <p:txBody>
          <a:bodyPr wrap="square" lIns="0" tIns="0" rIns="0" bIns="0" rtlCol="0" anchor="t"/>
          <a:lstStyle/>
          <a:p>
            <a:pPr algn="l" indent="0" marL="0">
              <a:lnSpc>
                <a:spcPts val="2430"/>
              </a:lnSpc>
              <a:buNone/>
            </a:pPr>
            <a:r>
              <a:rPr lang="en-US" sz="1800" b="1" dirty="0">
                <a:solidFill>
                  <a:srgbClr val="ECE8E1"/>
                </a:solidFill>
                <a:latin typeface="Archivo" pitchFamily="34" charset="0"/>
                <a:ea typeface="Archivo" pitchFamily="34" charset="-122"/>
                <a:cs typeface="Archivo" pitchFamily="34" charset="-120"/>
              </a:rPr>
              <a:t>Asesor · Despacho / disposición · Contactada · Notas</a:t>
            </a:r>
            <a:endParaRPr lang="en-US" sz="1800" dirty="0"/>
          </a:p>
        </p:txBody>
      </p:sp>
      <p:sp>
        <p:nvSpPr>
          <p:cNvPr id="11" name="Shape 9"/>
          <p:cNvSpPr/>
          <p:nvPr/>
        </p:nvSpPr>
        <p:spPr>
          <a:xfrm>
            <a:off x="685800" y="3886200"/>
            <a:ext cx="5334000" cy="1866900"/>
          </a:xfrm>
          <a:prstGeom prst="roundRect">
            <a:avLst>
              <a:gd name="adj" fmla="val 3061"/>
            </a:avLst>
          </a:prstGeom>
          <a:solidFill>
            <a:srgbClr val="B5482A"/>
          </a:solidFill>
          <a:ln/>
        </p:spPr>
      </p:sp>
      <p:sp>
        <p:nvSpPr>
          <p:cNvPr id="12" name="Text 10"/>
          <p:cNvSpPr txBox="1"/>
          <p:nvPr/>
        </p:nvSpPr>
        <p:spPr>
          <a:xfrm>
            <a:off x="914400" y="4057650"/>
            <a:ext cx="50101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ECE8E1"/>
                </a:solidFill>
                <a:latin typeface="Archivo" pitchFamily="34" charset="0"/>
                <a:ea typeface="Archivo" pitchFamily="34" charset="-122"/>
                <a:cs typeface="Archivo" pitchFamily="34" charset="-120"/>
              </a:rPr>
              <a:t>VACÍAS POR AHORA · LA FUENTE NO LAS PUBLICA</a:t>
            </a:r>
            <a:endParaRPr lang="en-US" sz="980" dirty="0"/>
          </a:p>
        </p:txBody>
      </p:sp>
      <p:sp>
        <p:nvSpPr>
          <p:cNvPr id="13" name="Text 11"/>
          <p:cNvSpPr txBox="1"/>
          <p:nvPr/>
        </p:nvSpPr>
        <p:spPr>
          <a:xfrm>
            <a:off x="914400" y="4362450"/>
            <a:ext cx="5010150" cy="533400"/>
          </a:xfrm>
          <a:prstGeom prst="rect">
            <a:avLst/>
          </a:prstGeom>
          <a:noFill/>
          <a:ln/>
        </p:spPr>
        <p:txBody>
          <a:bodyPr wrap="square" lIns="0" tIns="0" rIns="0" bIns="0" rtlCol="0" anchor="t"/>
          <a:lstStyle/>
          <a:p>
            <a:pPr algn="l" indent="0" marL="0">
              <a:lnSpc>
                <a:spcPts val="2100"/>
              </a:lnSpc>
              <a:buNone/>
            </a:pPr>
            <a:r>
              <a:rPr lang="en-US" sz="1500" b="1" dirty="0">
                <a:solidFill>
                  <a:srgbClr val="ECE8E1"/>
                </a:solidFill>
                <a:latin typeface="Archivo" pitchFamily="34" charset="0"/>
                <a:ea typeface="Archivo" pitchFamily="34" charset="-122"/>
                <a:cs typeface="Archivo" pitchFamily="34" charset="-120"/>
              </a:rPr>
              <a:t>NIT · Localidad · Latitud · Longitud · Nombre de la obra · Contrato No. · Fecha de adjudicación</a:t>
            </a:r>
            <a:endParaRPr lang="en-US" sz="1500" dirty="0"/>
          </a:p>
        </p:txBody>
      </p:sp>
      <p:sp>
        <p:nvSpPr>
          <p:cNvPr id="14" name="Shape 12"/>
          <p:cNvSpPr/>
          <p:nvPr/>
        </p:nvSpPr>
        <p:spPr>
          <a:xfrm>
            <a:off x="6172200" y="3886200"/>
            <a:ext cx="5334000" cy="1866900"/>
          </a:xfrm>
          <a:prstGeom prst="roundRect">
            <a:avLst>
              <a:gd name="adj" fmla="val 3061"/>
            </a:avLst>
          </a:prstGeom>
          <a:solidFill>
            <a:srgbClr val="E2DDD4"/>
          </a:solidFill>
          <a:ln/>
        </p:spPr>
      </p:sp>
      <p:sp>
        <p:nvSpPr>
          <p:cNvPr id="15" name="Text 13"/>
          <p:cNvSpPr txBox="1"/>
          <p:nvPr/>
        </p:nvSpPr>
        <p:spPr>
          <a:xfrm>
            <a:off x="6400800" y="4057650"/>
            <a:ext cx="50101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5F635E"/>
                </a:solidFill>
                <a:latin typeface="Archivo" pitchFamily="34" charset="0"/>
                <a:ea typeface="Archivo" pitchFamily="34" charset="-122"/>
                <a:cs typeface="Archivo" pitchFamily="34" charset="-120"/>
              </a:rPr>
              <a:t>LAS CALCULA OBRAS V6</a:t>
            </a:r>
            <a:endParaRPr lang="en-US" sz="980" dirty="0"/>
          </a:p>
        </p:txBody>
      </p:sp>
      <p:sp>
        <p:nvSpPr>
          <p:cNvPr id="16" name="Text 14"/>
          <p:cNvSpPr txBox="1"/>
          <p:nvPr/>
        </p:nvSpPr>
        <p:spPr>
          <a:xfrm>
            <a:off x="6400800" y="4362450"/>
            <a:ext cx="5010150" cy="533400"/>
          </a:xfrm>
          <a:prstGeom prst="rect">
            <a:avLst/>
          </a:prstGeom>
          <a:noFill/>
          <a:ln/>
        </p:spPr>
        <p:txBody>
          <a:bodyPr wrap="square" lIns="0" tIns="0" rIns="0" bIns="0" rtlCol="0" anchor="t"/>
          <a:lstStyle/>
          <a:p>
            <a:pPr algn="l" indent="0" marL="0">
              <a:lnSpc>
                <a:spcPts val="2100"/>
              </a:lnSpc>
              <a:buNone/>
            </a:pPr>
            <a:r>
              <a:rPr lang="en-US" sz="1500" b="1" dirty="0">
                <a:solidFill>
                  <a:srgbClr val="1E2122"/>
                </a:solidFill>
                <a:latin typeface="Archivo" pitchFamily="34" charset="0"/>
                <a:ea typeface="Archivo" pitchFamily="34" charset="-122"/>
                <a:cs typeface="Archivo" pitchFamily="34" charset="-120"/>
              </a:rPr>
              <a:t>Avance % · Meses por terminar · Valor por ejecutar · Potencial · Meta 25 % · MS Greco</a:t>
            </a:r>
            <a:endParaRPr lang="en-US" sz="1500" dirty="0"/>
          </a:p>
        </p:txBody>
      </p:sp>
      <p:sp>
        <p:nvSpPr>
          <p:cNvPr id="17" name="Text 15"/>
          <p:cNvSpPr txBox="1"/>
          <p:nvPr/>
        </p:nvSpPr>
        <p:spPr>
          <a:xfrm>
            <a:off x="685800" y="5981700"/>
            <a:ext cx="9582150" cy="260003"/>
          </a:xfrm>
          <a:prstGeom prst="rect">
            <a:avLst/>
          </a:prstGeom>
          <a:noFill/>
          <a:ln/>
        </p:spPr>
        <p:txBody>
          <a:bodyPr wrap="square" lIns="0" tIns="0" rIns="0" bIns="0" rtlCol="0" anchor="t"/>
          <a:lstStyle/>
          <a:p>
            <a:pPr algn="l" indent="0" marL="0">
              <a:lnSpc>
                <a:spcPts val="2050"/>
              </a:lnSpc>
              <a:buNone/>
            </a:pPr>
            <a:r>
              <a:rPr lang="en-US" sz="1580" i="1" dirty="0">
                <a:solidFill>
                  <a:srgbClr val="5F635E"/>
                </a:solidFill>
                <a:latin typeface="Source Serif 4" pitchFamily="34" charset="0"/>
                <a:ea typeface="Source Serif 4" pitchFamily="34" charset="-122"/>
                <a:cs typeface="Source Serif 4" pitchFamily="34" charset="-120"/>
              </a:rPr>
              <a:t>Consejo: pase el mouse por un encabezado y verá de dónde sale cada dato.</a:t>
            </a:r>
            <a:endParaRPr lang="en-US" sz="1580" dirty="0"/>
          </a:p>
        </p:txBody>
      </p:sp>
      <p:sp>
        <p:nvSpPr>
          <p:cNvPr id="18" name="Text 16"/>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2290167"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PASO A PASO</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Revisar una obra toma cinco pasos</a:t>
            </a:r>
            <a:endParaRPr lang="en-US" sz="2700" dirty="0"/>
          </a:p>
        </p:txBody>
      </p:sp>
      <p:sp>
        <p:nvSpPr>
          <p:cNvPr id="5" name="Shape 3"/>
          <p:cNvSpPr/>
          <p:nvPr/>
        </p:nvSpPr>
        <p:spPr>
          <a:xfrm>
            <a:off x="923925" y="1905000"/>
            <a:ext cx="19050" cy="3810000"/>
          </a:xfrm>
          <a:prstGeom prst="rect">
            <a:avLst/>
          </a:prstGeom>
          <a:solidFill>
            <a:srgbClr val="B9B2A5"/>
          </a:solidFill>
          <a:ln/>
        </p:spPr>
      </p:sp>
      <p:sp>
        <p:nvSpPr>
          <p:cNvPr id="6" name="Shape 4"/>
          <p:cNvSpPr/>
          <p:nvPr/>
        </p:nvSpPr>
        <p:spPr>
          <a:xfrm>
            <a:off x="723900" y="1752600"/>
            <a:ext cx="419100" cy="419100"/>
          </a:xfrm>
          <a:prstGeom prst="roundRect">
            <a:avLst>
              <a:gd name="adj" fmla="val 50000"/>
            </a:avLst>
          </a:prstGeom>
          <a:solidFill>
            <a:srgbClr val="1E2122"/>
          </a:solidFill>
          <a:ln/>
        </p:spPr>
      </p:sp>
      <p:sp>
        <p:nvSpPr>
          <p:cNvPr id="7" name="Text 5"/>
          <p:cNvSpPr txBox="1"/>
          <p:nvPr/>
        </p:nvSpPr>
        <p:spPr>
          <a:xfrm>
            <a:off x="723900" y="1752600"/>
            <a:ext cx="476250" cy="419100"/>
          </a:xfrm>
          <a:prstGeom prst="rect">
            <a:avLst/>
          </a:prstGeom>
          <a:noFill/>
          <a:ln/>
        </p:spPr>
        <p:txBody>
          <a:bodyPr wrap="square" lIns="0" tIns="0" rIns="0" bIns="0" rtlCol="0" anchor="ctr"/>
          <a:lstStyle/>
          <a:p>
            <a:pPr algn="ctr" indent="0" marL="0">
              <a:lnSpc>
                <a:spcPts val="1620"/>
              </a:lnSpc>
              <a:buNone/>
            </a:pPr>
            <a:r>
              <a:rPr lang="en-US" sz="1350" b="1" dirty="0">
                <a:solidFill>
                  <a:srgbClr val="ECE8E1"/>
                </a:solidFill>
                <a:latin typeface="Archivo" pitchFamily="34" charset="0"/>
                <a:ea typeface="Archivo" pitchFamily="34" charset="-122"/>
                <a:cs typeface="Archivo" pitchFamily="34" charset="-120"/>
              </a:rPr>
              <a:t>1</a:t>
            </a:r>
            <a:endParaRPr lang="en-US" sz="1350" dirty="0"/>
          </a:p>
        </p:txBody>
      </p:sp>
      <p:sp>
        <p:nvSpPr>
          <p:cNvPr id="8" name="Text 6"/>
          <p:cNvSpPr txBox="1"/>
          <p:nvPr/>
        </p:nvSpPr>
        <p:spPr>
          <a:xfrm>
            <a:off x="1428750" y="1828800"/>
            <a:ext cx="5962650" cy="269974"/>
          </a:xfrm>
          <a:prstGeom prst="rect">
            <a:avLst/>
          </a:prstGeom>
          <a:noFill/>
          <a:ln/>
        </p:spPr>
        <p:txBody>
          <a:bodyPr wrap="square" lIns="0" tIns="0" rIns="0" bIns="0" rtlCol="0" anchor="t"/>
          <a:lstStyle/>
          <a:p>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Abra el reporte más reciente</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y vaya a la hoja Datos.</a:t>
            </a:r>
            <a:endParaRPr lang="en-US" sz="1580" dirty="0"/>
          </a:p>
        </p:txBody>
      </p:sp>
      <p:sp>
        <p:nvSpPr>
          <p:cNvPr id="9" name="Shape 7"/>
          <p:cNvSpPr/>
          <p:nvPr/>
        </p:nvSpPr>
        <p:spPr>
          <a:xfrm>
            <a:off x="723900" y="2590800"/>
            <a:ext cx="419100" cy="419100"/>
          </a:xfrm>
          <a:prstGeom prst="roundRect">
            <a:avLst>
              <a:gd name="adj" fmla="val 50000"/>
            </a:avLst>
          </a:prstGeom>
          <a:solidFill>
            <a:srgbClr val="1E2122"/>
          </a:solidFill>
          <a:ln/>
        </p:spPr>
      </p:sp>
      <p:sp>
        <p:nvSpPr>
          <p:cNvPr id="10" name="Text 8"/>
          <p:cNvSpPr txBox="1"/>
          <p:nvPr/>
        </p:nvSpPr>
        <p:spPr>
          <a:xfrm>
            <a:off x="723900" y="2590800"/>
            <a:ext cx="476250" cy="419100"/>
          </a:xfrm>
          <a:prstGeom prst="rect">
            <a:avLst/>
          </a:prstGeom>
          <a:noFill/>
          <a:ln/>
        </p:spPr>
        <p:txBody>
          <a:bodyPr wrap="square" lIns="0" tIns="0" rIns="0" bIns="0" rtlCol="0" anchor="ctr"/>
          <a:lstStyle/>
          <a:p>
            <a:pPr algn="ctr" indent="0" marL="0">
              <a:lnSpc>
                <a:spcPts val="1620"/>
              </a:lnSpc>
              <a:buNone/>
            </a:pPr>
            <a:r>
              <a:rPr lang="en-US" sz="1350" b="1" dirty="0">
                <a:solidFill>
                  <a:srgbClr val="ECE8E1"/>
                </a:solidFill>
                <a:latin typeface="Archivo" pitchFamily="34" charset="0"/>
                <a:ea typeface="Archivo" pitchFamily="34" charset="-122"/>
                <a:cs typeface="Archivo" pitchFamily="34" charset="-120"/>
              </a:rPr>
              <a:t>2</a:t>
            </a:r>
            <a:endParaRPr lang="en-US" sz="1350" dirty="0"/>
          </a:p>
        </p:txBody>
      </p:sp>
      <p:sp>
        <p:nvSpPr>
          <p:cNvPr id="11" name="Text 9"/>
          <p:cNvSpPr txBox="1"/>
          <p:nvPr/>
        </p:nvSpPr>
        <p:spPr>
          <a:xfrm>
            <a:off x="1428750" y="2667000"/>
            <a:ext cx="5962650" cy="539948"/>
          </a:xfrm>
          <a:prstGeom prst="rect">
            <a:avLst/>
          </a:prstGeom>
          <a:noFill/>
          <a:ln/>
        </p:spPr>
        <p:txBody>
          <a:bodyPr wrap="square" lIns="0" tIns="0" rIns="0" bIns="0" rtlCol="0" anchor="t"/>
          <a:lstStyle/>
          <a:p>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Filtre u ordene</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por entidad o valor para ver primero las más grandes.</a:t>
            </a:r>
            <a:endParaRPr lang="en-US" sz="1580" dirty="0"/>
          </a:p>
        </p:txBody>
      </p:sp>
      <p:sp>
        <p:nvSpPr>
          <p:cNvPr id="12" name="Shape 10"/>
          <p:cNvSpPr/>
          <p:nvPr/>
        </p:nvSpPr>
        <p:spPr>
          <a:xfrm>
            <a:off x="723900" y="3429000"/>
            <a:ext cx="419100" cy="419100"/>
          </a:xfrm>
          <a:prstGeom prst="roundRect">
            <a:avLst>
              <a:gd name="adj" fmla="val 50000"/>
            </a:avLst>
          </a:prstGeom>
          <a:solidFill>
            <a:srgbClr val="1E2122"/>
          </a:solidFill>
          <a:ln/>
        </p:spPr>
      </p:sp>
      <p:sp>
        <p:nvSpPr>
          <p:cNvPr id="13" name="Text 11"/>
          <p:cNvSpPr txBox="1"/>
          <p:nvPr/>
        </p:nvSpPr>
        <p:spPr>
          <a:xfrm>
            <a:off x="723900" y="3429000"/>
            <a:ext cx="476250" cy="419100"/>
          </a:xfrm>
          <a:prstGeom prst="rect">
            <a:avLst/>
          </a:prstGeom>
          <a:noFill/>
          <a:ln/>
        </p:spPr>
        <p:txBody>
          <a:bodyPr wrap="square" lIns="0" tIns="0" rIns="0" bIns="0" rtlCol="0" anchor="ctr"/>
          <a:lstStyle/>
          <a:p>
            <a:pPr algn="ctr" indent="0" marL="0">
              <a:lnSpc>
                <a:spcPts val="1620"/>
              </a:lnSpc>
              <a:buNone/>
            </a:pPr>
            <a:r>
              <a:rPr lang="en-US" sz="1350" b="1" dirty="0">
                <a:solidFill>
                  <a:srgbClr val="ECE8E1"/>
                </a:solidFill>
                <a:latin typeface="Archivo" pitchFamily="34" charset="0"/>
                <a:ea typeface="Archivo" pitchFamily="34" charset="-122"/>
                <a:cs typeface="Archivo" pitchFamily="34" charset="-120"/>
              </a:rPr>
              <a:t>3</a:t>
            </a:r>
            <a:endParaRPr lang="en-US" sz="1350" dirty="0"/>
          </a:p>
        </p:txBody>
      </p:sp>
      <p:sp>
        <p:nvSpPr>
          <p:cNvPr id="14" name="Text 12"/>
          <p:cNvSpPr txBox="1"/>
          <p:nvPr/>
        </p:nvSpPr>
        <p:spPr>
          <a:xfrm>
            <a:off x="1428750" y="3505200"/>
            <a:ext cx="5962650" cy="269974"/>
          </a:xfrm>
          <a:prstGeom prst="rect">
            <a:avLst/>
          </a:prstGeom>
          <a:noFill/>
          <a:ln/>
        </p:spPr>
        <p:txBody>
          <a:bodyPr wrap="square" lIns="0" tIns="0" rIns="0" bIns="0" rtlCol="0" anchor="t"/>
          <a:lstStyle/>
          <a:p>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Abra el enlace</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del proceso para confirmar dónde es la obra.</a:t>
            </a:r>
            <a:endParaRPr lang="en-US" sz="1580" dirty="0"/>
          </a:p>
        </p:txBody>
      </p:sp>
      <p:sp>
        <p:nvSpPr>
          <p:cNvPr id="15" name="Shape 13"/>
          <p:cNvSpPr/>
          <p:nvPr/>
        </p:nvSpPr>
        <p:spPr>
          <a:xfrm>
            <a:off x="723900" y="4267200"/>
            <a:ext cx="419100" cy="419100"/>
          </a:xfrm>
          <a:prstGeom prst="roundRect">
            <a:avLst>
              <a:gd name="adj" fmla="val 50000"/>
            </a:avLst>
          </a:prstGeom>
          <a:solidFill>
            <a:srgbClr val="1E2122"/>
          </a:solidFill>
          <a:ln/>
        </p:spPr>
      </p:sp>
      <p:sp>
        <p:nvSpPr>
          <p:cNvPr id="16" name="Text 14"/>
          <p:cNvSpPr txBox="1"/>
          <p:nvPr/>
        </p:nvSpPr>
        <p:spPr>
          <a:xfrm>
            <a:off x="723900" y="4267200"/>
            <a:ext cx="476250" cy="419100"/>
          </a:xfrm>
          <a:prstGeom prst="rect">
            <a:avLst/>
          </a:prstGeom>
          <a:noFill/>
          <a:ln/>
        </p:spPr>
        <p:txBody>
          <a:bodyPr wrap="square" lIns="0" tIns="0" rIns="0" bIns="0" rtlCol="0" anchor="ctr"/>
          <a:lstStyle/>
          <a:p>
            <a:pPr algn="ctr" indent="0" marL="0">
              <a:lnSpc>
                <a:spcPts val="1620"/>
              </a:lnSpc>
              <a:buNone/>
            </a:pPr>
            <a:r>
              <a:rPr lang="en-US" sz="1350" b="1" dirty="0">
                <a:solidFill>
                  <a:srgbClr val="ECE8E1"/>
                </a:solidFill>
                <a:latin typeface="Archivo" pitchFamily="34" charset="0"/>
                <a:ea typeface="Archivo" pitchFamily="34" charset="-122"/>
                <a:cs typeface="Archivo" pitchFamily="34" charset="-120"/>
              </a:rPr>
              <a:t>4</a:t>
            </a:r>
            <a:endParaRPr lang="en-US" sz="1350" dirty="0"/>
          </a:p>
        </p:txBody>
      </p:sp>
      <p:sp>
        <p:nvSpPr>
          <p:cNvPr id="17" name="Text 15"/>
          <p:cNvSpPr txBox="1"/>
          <p:nvPr/>
        </p:nvSpPr>
        <p:spPr>
          <a:xfrm>
            <a:off x="1428750" y="4343400"/>
            <a:ext cx="5962650" cy="269974"/>
          </a:xfrm>
          <a:prstGeom prst="rect">
            <a:avLst/>
          </a:prstGeom>
          <a:noFill/>
          <a:ln/>
        </p:spPr>
        <p:txBody>
          <a:bodyPr wrap="square" lIns="0" tIns="0" rIns="0" bIns="0" rtlCol="0" anchor="t"/>
          <a:lstStyle/>
          <a:p>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Mire la hoja Ganadores</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para saber a qué empresa contactar.</a:t>
            </a:r>
            <a:endParaRPr lang="en-US" sz="1580" dirty="0"/>
          </a:p>
        </p:txBody>
      </p:sp>
      <p:sp>
        <p:nvSpPr>
          <p:cNvPr id="18" name="Shape 16"/>
          <p:cNvSpPr/>
          <p:nvPr/>
        </p:nvSpPr>
        <p:spPr>
          <a:xfrm>
            <a:off x="723900" y="5105400"/>
            <a:ext cx="419100" cy="419100"/>
          </a:xfrm>
          <a:prstGeom prst="roundRect">
            <a:avLst>
              <a:gd name="adj" fmla="val 50000"/>
            </a:avLst>
          </a:prstGeom>
          <a:solidFill>
            <a:srgbClr val="E8A33D"/>
          </a:solidFill>
          <a:ln/>
        </p:spPr>
      </p:sp>
      <p:sp>
        <p:nvSpPr>
          <p:cNvPr id="19" name="Text 17"/>
          <p:cNvSpPr txBox="1"/>
          <p:nvPr/>
        </p:nvSpPr>
        <p:spPr>
          <a:xfrm>
            <a:off x="723900" y="5105400"/>
            <a:ext cx="476250" cy="419100"/>
          </a:xfrm>
          <a:prstGeom prst="rect">
            <a:avLst/>
          </a:prstGeom>
          <a:noFill/>
          <a:ln/>
        </p:spPr>
        <p:txBody>
          <a:bodyPr wrap="square" lIns="0" tIns="0" rIns="0" bIns="0" rtlCol="0" anchor="ctr"/>
          <a:lstStyle/>
          <a:p>
            <a:pPr algn="ctr" indent="0" marL="0">
              <a:lnSpc>
                <a:spcPts val="1620"/>
              </a:lnSpc>
              <a:buNone/>
            </a:pPr>
            <a:r>
              <a:rPr lang="en-US" sz="1350" b="1" dirty="0">
                <a:solidFill>
                  <a:srgbClr val="1E2122"/>
                </a:solidFill>
                <a:latin typeface="Archivo" pitchFamily="34" charset="0"/>
                <a:ea typeface="Archivo" pitchFamily="34" charset="-122"/>
                <a:cs typeface="Archivo" pitchFamily="34" charset="-120"/>
              </a:rPr>
              <a:t>5</a:t>
            </a:r>
            <a:endParaRPr lang="en-US" sz="1350" dirty="0"/>
          </a:p>
        </p:txBody>
      </p:sp>
      <p:sp>
        <p:nvSpPr>
          <p:cNvPr id="20" name="Text 18"/>
          <p:cNvSpPr txBox="1"/>
          <p:nvPr/>
        </p:nvSpPr>
        <p:spPr>
          <a:xfrm>
            <a:off x="1428750" y="5181600"/>
            <a:ext cx="5962650" cy="269974"/>
          </a:xfrm>
          <a:prstGeom prst="rect">
            <a:avLst/>
          </a:prstGeom>
          <a:noFill/>
          <a:ln/>
        </p:spPr>
        <p:txBody>
          <a:bodyPr wrap="square" lIns="0" tIns="0" rIns="0" bIns="0" rtlCol="0" anchor="t"/>
          <a:lstStyle/>
          <a:p>
            <a:pPr algn="l" indent="0" marL="0">
              <a:lnSpc>
                <a:spcPts val="2130"/>
              </a:lnSpc>
              <a:buNone/>
            </a:pPr>
            <a:r>
              <a:rPr lang="en-US" sz="1580" b="1" dirty="0">
                <a:solidFill>
                  <a:srgbClr val="1E2122"/>
                </a:solidFill>
                <a:latin typeface="Archivo" pitchFamily="34" charset="0"/>
                <a:ea typeface="Archivo" pitchFamily="34" charset="-122"/>
                <a:cs typeface="Archivo" pitchFamily="34" charset="-120"/>
              </a:rPr>
              <a:t>Pase a Obras V6</a:t>
            </a:r>
            <a:pPr algn="l" indent="0" marL="0">
              <a:lnSpc>
                <a:spcPts val="2130"/>
              </a:lnSpc>
              <a:buNone/>
            </a:pPr>
            <a:r>
              <a:rPr lang="en-US" sz="1580" dirty="0">
                <a:solidFill>
                  <a:srgbClr val="1E2122"/>
                </a:solidFill>
                <a:latin typeface="Archivo" pitchFamily="34" charset="0"/>
                <a:ea typeface="Archivo" pitchFamily="34" charset="-122"/>
                <a:cs typeface="Archivo" pitchFamily="34" charset="-120"/>
              </a:rPr>
              <a:t> solo las que le interesan y asigne el asesor.</a:t>
            </a:r>
            <a:endParaRPr lang="en-US" sz="1580" dirty="0"/>
          </a:p>
        </p:txBody>
      </p:sp>
      <p:sp>
        <p:nvSpPr>
          <p:cNvPr id="21" name="Shape 19"/>
          <p:cNvSpPr/>
          <p:nvPr/>
        </p:nvSpPr>
        <p:spPr>
          <a:xfrm>
            <a:off x="8001000" y="1752600"/>
            <a:ext cx="3505200" cy="3771900"/>
          </a:xfrm>
          <a:prstGeom prst="roundRect">
            <a:avLst>
              <a:gd name="adj" fmla="val 1630"/>
            </a:avLst>
          </a:prstGeom>
          <a:solidFill>
            <a:srgbClr val="F6F3EE"/>
          </a:solidFill>
          <a:ln/>
        </p:spPr>
      </p:sp>
      <p:sp>
        <p:nvSpPr>
          <p:cNvPr id="22" name="Text 20"/>
          <p:cNvSpPr txBox="1"/>
          <p:nvPr/>
        </p:nvSpPr>
        <p:spPr>
          <a:xfrm>
            <a:off x="8267700" y="2019300"/>
            <a:ext cx="3105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9A5E12"/>
                </a:solidFill>
                <a:latin typeface="Archivo" pitchFamily="34" charset="0"/>
                <a:ea typeface="Archivo" pitchFamily="34" charset="-122"/>
                <a:cs typeface="Archivo" pitchFamily="34" charset="-120"/>
              </a:rPr>
              <a:t>¿POR QUÉ EL PASO 5 ES MANUAL?</a:t>
            </a:r>
            <a:endParaRPr lang="en-US" sz="980" dirty="0"/>
          </a:p>
        </p:txBody>
      </p:sp>
      <p:sp>
        <p:nvSpPr>
          <p:cNvPr id="23" name="Text 21"/>
          <p:cNvSpPr txBox="1"/>
          <p:nvPr/>
        </p:nvSpPr>
        <p:spPr>
          <a:xfrm>
            <a:off x="8267700" y="2381250"/>
            <a:ext cx="3067050" cy="1234083"/>
          </a:xfrm>
          <a:prstGeom prst="rect">
            <a:avLst/>
          </a:prstGeom>
          <a:noFill/>
          <a:ln/>
        </p:spPr>
        <p:txBody>
          <a:bodyPr wrap="square" lIns="0" tIns="0" rIns="0" bIns="0" rtlCol="0" anchor="t"/>
          <a:lstStyle/>
          <a:p>
            <a:pPr algn="l" indent="0" marL="0">
              <a:lnSpc>
                <a:spcPts val="2430"/>
              </a:lnSpc>
              <a:buNone/>
            </a:pPr>
            <a:r>
              <a:rPr lang="en-US" sz="1800" i="1" dirty="0">
                <a:solidFill>
                  <a:srgbClr val="1E2122"/>
                </a:solidFill>
                <a:latin typeface="Source Serif 4" pitchFamily="34" charset="0"/>
                <a:ea typeface="Source Serif 4" pitchFamily="34" charset="-122"/>
                <a:cs typeface="Source Serif 4" pitchFamily="34" charset="-120"/>
              </a:rPr>
              <a:t>Para no arriesgar su archivo Obras V6 y sus fórmulas mientras validamos las columnas.</a:t>
            </a:r>
            <a:endParaRPr lang="en-US" sz="1800" dirty="0"/>
          </a:p>
        </p:txBody>
      </p:sp>
      <p:sp>
        <p:nvSpPr>
          <p:cNvPr id="24" name="Text 22"/>
          <p:cNvSpPr txBox="1"/>
          <p:nvPr/>
        </p:nvSpPr>
        <p:spPr>
          <a:xfrm>
            <a:off x="8267700" y="4076700"/>
            <a:ext cx="3067050" cy="914400"/>
          </a:xfrm>
          <a:prstGeom prst="rect">
            <a:avLst/>
          </a:prstGeom>
          <a:noFill/>
          <a:ln/>
        </p:spPr>
        <p:txBody>
          <a:bodyPr wrap="square" lIns="0" tIns="0" rIns="0" bIns="0" rtlCol="0" anchor="t"/>
          <a:lstStyle/>
          <a:p>
            <a:pPr algn="l" indent="0" marL="0">
              <a:lnSpc>
                <a:spcPts val="1800"/>
              </a:lnSpc>
              <a:buNone/>
            </a:pPr>
            <a:r>
              <a:rPr lang="en-US" sz="1200" dirty="0">
                <a:solidFill>
                  <a:srgbClr val="4A4E4B"/>
                </a:solidFill>
                <a:latin typeface="Archivo" pitchFamily="34" charset="0"/>
                <a:ea typeface="Archivo" pitchFamily="34" charset="-122"/>
                <a:cs typeface="Archivo" pitchFamily="34" charset="-120"/>
              </a:rPr>
              <a:t>Ya no tiene que buscar las obras: solo elegir las que le sirven. Anexarlas de forma automática es el siguiente paso del proyecto.</a:t>
            </a:r>
            <a:endParaRPr lang="en-US" sz="1200" dirty="0"/>
          </a:p>
        </p:txBody>
      </p:sp>
      <p:sp>
        <p:nvSpPr>
          <p:cNvPr id="25" name="Text 23"/>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3EE"/>
          </a:solidFill>
          <a:ln/>
        </p:spPr>
      </p:sp>
      <p:sp>
        <p:nvSpPr>
          <p:cNvPr id="3" name="Text 1"/>
          <p:cNvSpPr txBox="1"/>
          <p:nvPr/>
        </p:nvSpPr>
        <p:spPr>
          <a:xfrm>
            <a:off x="685800" y="381000"/>
            <a:ext cx="2809726"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ERRORES COMUNES</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Cinco errores fáciles de evitar</a:t>
            </a:r>
            <a:endParaRPr lang="en-US" sz="2700" dirty="0"/>
          </a:p>
        </p:txBody>
      </p:sp>
      <p:sp>
        <p:nvSpPr>
          <p:cNvPr id="5" name="Text 3"/>
          <p:cNvSpPr txBox="1"/>
          <p:nvPr/>
        </p:nvSpPr>
        <p:spPr>
          <a:xfrm>
            <a:off x="685800" y="1619250"/>
            <a:ext cx="48196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B5482A"/>
                </a:solidFill>
                <a:latin typeface="Archivo" pitchFamily="34" charset="0"/>
                <a:ea typeface="Archivo" pitchFamily="34" charset="-122"/>
                <a:cs typeface="Archivo" pitchFamily="34" charset="-120"/>
              </a:rPr>
              <a:t>EVITE</a:t>
            </a:r>
            <a:endParaRPr lang="en-US" sz="980" dirty="0"/>
          </a:p>
        </p:txBody>
      </p:sp>
      <p:sp>
        <p:nvSpPr>
          <p:cNvPr id="6" name="Text 4"/>
          <p:cNvSpPr txBox="1"/>
          <p:nvPr/>
        </p:nvSpPr>
        <p:spPr>
          <a:xfrm>
            <a:off x="6096000" y="1619250"/>
            <a:ext cx="4819650" cy="133350"/>
          </a:xfrm>
          <a:prstGeom prst="rect">
            <a:avLst/>
          </a:prstGeom>
          <a:noFill/>
          <a:ln/>
        </p:spPr>
        <p:txBody>
          <a:bodyPr wrap="square" lIns="0" tIns="0" rIns="0" bIns="0" rtlCol="0" anchor="t"/>
          <a:lstStyle/>
          <a:p>
            <a:pPr algn="l" indent="0" marL="0">
              <a:lnSpc>
                <a:spcPts val="1170"/>
              </a:lnSpc>
              <a:buNone/>
            </a:pPr>
            <a:r>
              <a:rPr lang="en-US" sz="980" b="1" spc="150" kern="0" dirty="0">
                <a:solidFill>
                  <a:srgbClr val="9A5E12"/>
                </a:solidFill>
                <a:latin typeface="Archivo" pitchFamily="34" charset="0"/>
                <a:ea typeface="Archivo" pitchFamily="34" charset="-122"/>
                <a:cs typeface="Archivo" pitchFamily="34" charset="-120"/>
              </a:rPr>
              <a:t>MEJOR HAGA ESTO</a:t>
            </a:r>
            <a:endParaRPr lang="en-US" sz="980" dirty="0"/>
          </a:p>
        </p:txBody>
      </p:sp>
      <p:sp>
        <p:nvSpPr>
          <p:cNvPr id="7" name="Shape 5"/>
          <p:cNvSpPr/>
          <p:nvPr/>
        </p:nvSpPr>
        <p:spPr>
          <a:xfrm>
            <a:off x="685800" y="1905000"/>
            <a:ext cx="10820400" cy="19050"/>
          </a:xfrm>
          <a:prstGeom prst="rect">
            <a:avLst/>
          </a:prstGeom>
          <a:solidFill>
            <a:srgbClr val="1E2122"/>
          </a:solidFill>
          <a:ln/>
        </p:spPr>
      </p:sp>
      <p:sp>
        <p:nvSpPr>
          <p:cNvPr id="8" name="Text 6"/>
          <p:cNvSpPr txBox="1"/>
          <p:nvPr/>
        </p:nvSpPr>
        <p:spPr>
          <a:xfrm>
            <a:off x="685800" y="2114550"/>
            <a:ext cx="5010150" cy="257175"/>
          </a:xfrm>
          <a:prstGeom prst="rect">
            <a:avLst/>
          </a:prstGeom>
          <a:noFill/>
          <a:ln/>
        </p:spPr>
        <p:txBody>
          <a:bodyPr wrap="square" lIns="0" tIns="0" rIns="0" bIns="0" rtlCol="0" anchor="t"/>
          <a:lstStyle/>
          <a:p>
            <a:pPr algn="l" indent="0" marL="0">
              <a:lnSpc>
                <a:spcPts val="2030"/>
              </a:lnSpc>
              <a:buNone/>
            </a:pPr>
            <a:r>
              <a:rPr lang="en-US" sz="1500" dirty="0">
                <a:solidFill>
                  <a:srgbClr val="1E2122"/>
                </a:solidFill>
                <a:latin typeface="Archivo" pitchFamily="34" charset="0"/>
                <a:ea typeface="Archivo" pitchFamily="34" charset="-122"/>
                <a:cs typeface="Archivo" pitchFamily="34" charset="-120"/>
              </a:rPr>
              <a:t>Usar la fecha de publicación como fecha de adjudicación</a:t>
            </a:r>
            <a:endParaRPr lang="en-US" sz="1500" dirty="0"/>
          </a:p>
        </p:txBody>
      </p:sp>
      <p:sp>
        <p:nvSpPr>
          <p:cNvPr id="9" name="Text 7"/>
          <p:cNvSpPr txBox="1"/>
          <p:nvPr/>
        </p:nvSpPr>
        <p:spPr>
          <a:xfrm>
            <a:off x="6096000" y="2114550"/>
            <a:ext cx="5467350" cy="257175"/>
          </a:xfrm>
          <a:prstGeom prst="rect">
            <a:avLst/>
          </a:prstGeom>
          <a:noFill/>
          <a:ln/>
        </p:spPr>
        <p:txBody>
          <a:bodyPr wrap="square" lIns="0" tIns="0" rIns="0" bIns="0" rtlCol="0" anchor="t"/>
          <a:lstStyle/>
          <a:p>
            <a:pPr algn="l" indent="0" marL="0">
              <a:lnSpc>
                <a:spcPts val="2030"/>
              </a:lnSpc>
              <a:buNone/>
            </a:pPr>
            <a:r>
              <a:rPr lang="en-US" sz="1500" b="1" dirty="0">
                <a:solidFill>
                  <a:srgbClr val="1E2122"/>
                </a:solidFill>
                <a:latin typeface="Archivo" pitchFamily="34" charset="0"/>
                <a:ea typeface="Archivo" pitchFamily="34" charset="-122"/>
                <a:cs typeface="Archivo" pitchFamily="34" charset="-120"/>
              </a:rPr>
              <a:t>Confirme la fecha real en el enlace del proceso</a:t>
            </a:r>
            <a:endParaRPr lang="en-US" sz="1500" dirty="0"/>
          </a:p>
        </p:txBody>
      </p:sp>
      <p:sp>
        <p:nvSpPr>
          <p:cNvPr id="10" name="Shape 8"/>
          <p:cNvSpPr/>
          <p:nvPr/>
        </p:nvSpPr>
        <p:spPr>
          <a:xfrm>
            <a:off x="685800" y="2667000"/>
            <a:ext cx="10820400" cy="9525"/>
          </a:xfrm>
          <a:prstGeom prst="rect">
            <a:avLst/>
          </a:prstGeom>
          <a:solidFill>
            <a:srgbClr val="CFC8BC"/>
          </a:solidFill>
          <a:ln/>
        </p:spPr>
      </p:sp>
      <p:sp>
        <p:nvSpPr>
          <p:cNvPr id="11" name="Text 9"/>
          <p:cNvSpPr txBox="1"/>
          <p:nvPr/>
        </p:nvSpPr>
        <p:spPr>
          <a:xfrm>
            <a:off x="685800" y="2762250"/>
            <a:ext cx="5010150" cy="257175"/>
          </a:xfrm>
          <a:prstGeom prst="rect">
            <a:avLst/>
          </a:prstGeom>
          <a:noFill/>
          <a:ln/>
        </p:spPr>
        <p:txBody>
          <a:bodyPr wrap="square" lIns="0" tIns="0" rIns="0" bIns="0" rtlCol="0" anchor="t"/>
          <a:lstStyle/>
          <a:p>
            <a:pPr algn="l" indent="0" marL="0">
              <a:lnSpc>
                <a:spcPts val="2030"/>
              </a:lnSpc>
              <a:buNone/>
            </a:pPr>
            <a:r>
              <a:rPr lang="en-US" sz="1500" dirty="0">
                <a:solidFill>
                  <a:srgbClr val="1E2122"/>
                </a:solidFill>
                <a:latin typeface="Archivo" pitchFamily="34" charset="0"/>
                <a:ea typeface="Archivo" pitchFamily="34" charset="-122"/>
                <a:cs typeface="Archivo" pitchFamily="34" charset="-120"/>
              </a:rPr>
              <a:t>Usar un archivo que termina en _REVISAR</a:t>
            </a:r>
            <a:endParaRPr lang="en-US" sz="1500" dirty="0"/>
          </a:p>
        </p:txBody>
      </p:sp>
      <p:sp>
        <p:nvSpPr>
          <p:cNvPr id="12" name="Text 10"/>
          <p:cNvSpPr txBox="1"/>
          <p:nvPr/>
        </p:nvSpPr>
        <p:spPr>
          <a:xfrm>
            <a:off x="6096000" y="2762250"/>
            <a:ext cx="5467350" cy="257175"/>
          </a:xfrm>
          <a:prstGeom prst="rect">
            <a:avLst/>
          </a:prstGeom>
          <a:noFill/>
          <a:ln/>
        </p:spPr>
        <p:txBody>
          <a:bodyPr wrap="square" lIns="0" tIns="0" rIns="0" bIns="0" rtlCol="0" anchor="t"/>
          <a:lstStyle/>
          <a:p>
            <a:pPr algn="l" indent="0" marL="0">
              <a:lnSpc>
                <a:spcPts val="2030"/>
              </a:lnSpc>
              <a:buNone/>
            </a:pPr>
            <a:r>
              <a:rPr lang="en-US" sz="1500" b="1" dirty="0">
                <a:solidFill>
                  <a:srgbClr val="1E2122"/>
                </a:solidFill>
                <a:latin typeface="Archivo" pitchFamily="34" charset="0"/>
                <a:ea typeface="Archivo" pitchFamily="34" charset="-122"/>
                <a:cs typeface="Archivo" pitchFamily="34" charset="-120"/>
              </a:rPr>
              <a:t>Avise al responsable y use el reporte anterior</a:t>
            </a:r>
            <a:endParaRPr lang="en-US" sz="1500" dirty="0"/>
          </a:p>
        </p:txBody>
      </p:sp>
      <p:sp>
        <p:nvSpPr>
          <p:cNvPr id="13" name="Shape 11"/>
          <p:cNvSpPr/>
          <p:nvPr/>
        </p:nvSpPr>
        <p:spPr>
          <a:xfrm>
            <a:off x="685800" y="3314700"/>
            <a:ext cx="10820400" cy="9525"/>
          </a:xfrm>
          <a:prstGeom prst="rect">
            <a:avLst/>
          </a:prstGeom>
          <a:solidFill>
            <a:srgbClr val="CFC8BC"/>
          </a:solidFill>
          <a:ln/>
        </p:spPr>
      </p:sp>
      <p:sp>
        <p:nvSpPr>
          <p:cNvPr id="14" name="Text 12"/>
          <p:cNvSpPr txBox="1"/>
          <p:nvPr/>
        </p:nvSpPr>
        <p:spPr>
          <a:xfrm>
            <a:off x="685800" y="3409950"/>
            <a:ext cx="5010150" cy="257175"/>
          </a:xfrm>
          <a:prstGeom prst="rect">
            <a:avLst/>
          </a:prstGeom>
          <a:noFill/>
          <a:ln/>
        </p:spPr>
        <p:txBody>
          <a:bodyPr wrap="square" lIns="0" tIns="0" rIns="0" bIns="0" rtlCol="0" anchor="t"/>
          <a:lstStyle/>
          <a:p>
            <a:pPr algn="l" indent="0" marL="0">
              <a:lnSpc>
                <a:spcPts val="2030"/>
              </a:lnSpc>
              <a:buNone/>
            </a:pPr>
            <a:r>
              <a:rPr lang="en-US" sz="1500" dirty="0">
                <a:solidFill>
                  <a:srgbClr val="1E2122"/>
                </a:solidFill>
                <a:latin typeface="Archivo" pitchFamily="34" charset="0"/>
                <a:ea typeface="Archivo" pitchFamily="34" charset="-122"/>
                <a:cs typeface="Archivo" pitchFamily="34" charset="-120"/>
              </a:rPr>
              <a:t>Borrar o mover columnas del reporte</a:t>
            </a:r>
            <a:endParaRPr lang="en-US" sz="1500" dirty="0"/>
          </a:p>
        </p:txBody>
      </p:sp>
      <p:sp>
        <p:nvSpPr>
          <p:cNvPr id="15" name="Text 13"/>
          <p:cNvSpPr txBox="1"/>
          <p:nvPr/>
        </p:nvSpPr>
        <p:spPr>
          <a:xfrm>
            <a:off x="6096000" y="3409950"/>
            <a:ext cx="5467350" cy="257175"/>
          </a:xfrm>
          <a:prstGeom prst="rect">
            <a:avLst/>
          </a:prstGeom>
          <a:noFill/>
          <a:ln/>
        </p:spPr>
        <p:txBody>
          <a:bodyPr wrap="square" lIns="0" tIns="0" rIns="0" bIns="0" rtlCol="0" anchor="t"/>
          <a:lstStyle/>
          <a:p>
            <a:pPr algn="l" indent="0" marL="0">
              <a:lnSpc>
                <a:spcPts val="2030"/>
              </a:lnSpc>
              <a:buNone/>
            </a:pPr>
            <a:r>
              <a:rPr lang="en-US" sz="1500" b="1" dirty="0">
                <a:solidFill>
                  <a:srgbClr val="1E2122"/>
                </a:solidFill>
                <a:latin typeface="Archivo" pitchFamily="34" charset="0"/>
                <a:ea typeface="Archivo" pitchFamily="34" charset="-122"/>
                <a:cs typeface="Archivo" pitchFamily="34" charset="-120"/>
              </a:rPr>
              <a:t>Copie a Obras V6 las filas que necesite</a:t>
            </a:r>
            <a:endParaRPr lang="en-US" sz="1500" dirty="0"/>
          </a:p>
        </p:txBody>
      </p:sp>
      <p:sp>
        <p:nvSpPr>
          <p:cNvPr id="16" name="Shape 14"/>
          <p:cNvSpPr/>
          <p:nvPr/>
        </p:nvSpPr>
        <p:spPr>
          <a:xfrm>
            <a:off x="685800" y="3962400"/>
            <a:ext cx="10820400" cy="9525"/>
          </a:xfrm>
          <a:prstGeom prst="rect">
            <a:avLst/>
          </a:prstGeom>
          <a:solidFill>
            <a:srgbClr val="CFC8BC"/>
          </a:solidFill>
          <a:ln/>
        </p:spPr>
      </p:sp>
      <p:sp>
        <p:nvSpPr>
          <p:cNvPr id="17" name="Text 15"/>
          <p:cNvSpPr txBox="1"/>
          <p:nvPr/>
        </p:nvSpPr>
        <p:spPr>
          <a:xfrm>
            <a:off x="685800" y="4057650"/>
            <a:ext cx="5010150" cy="257175"/>
          </a:xfrm>
          <a:prstGeom prst="rect">
            <a:avLst/>
          </a:prstGeom>
          <a:noFill/>
          <a:ln/>
        </p:spPr>
        <p:txBody>
          <a:bodyPr wrap="square" lIns="0" tIns="0" rIns="0" bIns="0" rtlCol="0" anchor="t"/>
          <a:lstStyle/>
          <a:p>
            <a:pPr algn="l" indent="0" marL="0">
              <a:lnSpc>
                <a:spcPts val="2030"/>
              </a:lnSpc>
              <a:buNone/>
            </a:pPr>
            <a:r>
              <a:rPr lang="en-US" sz="1500" dirty="0">
                <a:solidFill>
                  <a:srgbClr val="1E2122"/>
                </a:solidFill>
                <a:latin typeface="Archivo" pitchFamily="34" charset="0"/>
                <a:ea typeface="Archivo" pitchFamily="34" charset="-122"/>
                <a:cs typeface="Archivo" pitchFamily="34" charset="-120"/>
              </a:rPr>
              <a:t>Creer que un valor vacío es un error del sistema</a:t>
            </a:r>
            <a:endParaRPr lang="en-US" sz="1500" dirty="0"/>
          </a:p>
        </p:txBody>
      </p:sp>
      <p:sp>
        <p:nvSpPr>
          <p:cNvPr id="18" name="Text 16"/>
          <p:cNvSpPr txBox="1"/>
          <p:nvPr/>
        </p:nvSpPr>
        <p:spPr>
          <a:xfrm>
            <a:off x="6096000" y="4057650"/>
            <a:ext cx="5467350" cy="257175"/>
          </a:xfrm>
          <a:prstGeom prst="rect">
            <a:avLst/>
          </a:prstGeom>
          <a:noFill/>
          <a:ln/>
        </p:spPr>
        <p:txBody>
          <a:bodyPr wrap="square" lIns="0" tIns="0" rIns="0" bIns="0" rtlCol="0" anchor="t"/>
          <a:lstStyle/>
          <a:p>
            <a:pPr algn="l" indent="0" marL="0">
              <a:lnSpc>
                <a:spcPts val="2030"/>
              </a:lnSpc>
              <a:buNone/>
            </a:pPr>
            <a:r>
              <a:rPr lang="en-US" sz="1500" b="1" dirty="0">
                <a:solidFill>
                  <a:srgbClr val="1E2122"/>
                </a:solidFill>
                <a:latin typeface="Archivo" pitchFamily="34" charset="0"/>
                <a:ea typeface="Archivo" pitchFamily="34" charset="-122"/>
                <a:cs typeface="Archivo" pitchFamily="34" charset="-120"/>
              </a:rPr>
              <a:t>Revise la hoja Incidencias: ahí dice por qué</a:t>
            </a:r>
            <a:endParaRPr lang="en-US" sz="1500" dirty="0"/>
          </a:p>
        </p:txBody>
      </p:sp>
      <p:sp>
        <p:nvSpPr>
          <p:cNvPr id="19" name="Shape 17"/>
          <p:cNvSpPr/>
          <p:nvPr/>
        </p:nvSpPr>
        <p:spPr>
          <a:xfrm>
            <a:off x="685800" y="4610100"/>
            <a:ext cx="10820400" cy="9525"/>
          </a:xfrm>
          <a:prstGeom prst="rect">
            <a:avLst/>
          </a:prstGeom>
          <a:solidFill>
            <a:srgbClr val="CFC8BC"/>
          </a:solidFill>
          <a:ln/>
        </p:spPr>
      </p:sp>
      <p:sp>
        <p:nvSpPr>
          <p:cNvPr id="20" name="Text 18"/>
          <p:cNvSpPr txBox="1"/>
          <p:nvPr/>
        </p:nvSpPr>
        <p:spPr>
          <a:xfrm>
            <a:off x="685800" y="4705350"/>
            <a:ext cx="5010150" cy="257175"/>
          </a:xfrm>
          <a:prstGeom prst="rect">
            <a:avLst/>
          </a:prstGeom>
          <a:noFill/>
          <a:ln/>
        </p:spPr>
        <p:txBody>
          <a:bodyPr wrap="square" lIns="0" tIns="0" rIns="0" bIns="0" rtlCol="0" anchor="t"/>
          <a:lstStyle/>
          <a:p>
            <a:pPr algn="l" indent="0" marL="0">
              <a:lnSpc>
                <a:spcPts val="2030"/>
              </a:lnSpc>
              <a:buNone/>
            </a:pPr>
            <a:r>
              <a:rPr lang="en-US" sz="1500" dirty="0">
                <a:solidFill>
                  <a:srgbClr val="1E2122"/>
                </a:solidFill>
                <a:latin typeface="Archivo" pitchFamily="34" charset="0"/>
                <a:ea typeface="Archivo" pitchFamily="34" charset="-122"/>
                <a:cs typeface="Archivo" pitchFamily="34" charset="-120"/>
              </a:rPr>
              <a:t>Abrir un reporte viejo por accidente</a:t>
            </a:r>
            <a:endParaRPr lang="en-US" sz="1500" dirty="0"/>
          </a:p>
        </p:txBody>
      </p:sp>
      <p:sp>
        <p:nvSpPr>
          <p:cNvPr id="21" name="Text 19"/>
          <p:cNvSpPr txBox="1"/>
          <p:nvPr/>
        </p:nvSpPr>
        <p:spPr>
          <a:xfrm>
            <a:off x="6096000" y="4705350"/>
            <a:ext cx="5467350" cy="257175"/>
          </a:xfrm>
          <a:prstGeom prst="rect">
            <a:avLst/>
          </a:prstGeom>
          <a:noFill/>
          <a:ln/>
        </p:spPr>
        <p:txBody>
          <a:bodyPr wrap="square" lIns="0" tIns="0" rIns="0" bIns="0" rtlCol="0" anchor="t"/>
          <a:lstStyle/>
          <a:p>
            <a:pPr algn="l" indent="0" marL="0">
              <a:lnSpc>
                <a:spcPts val="2030"/>
              </a:lnSpc>
              <a:buNone/>
            </a:pPr>
            <a:r>
              <a:rPr lang="en-US" sz="1500" b="1" dirty="0">
                <a:solidFill>
                  <a:srgbClr val="1E2122"/>
                </a:solidFill>
                <a:latin typeface="Archivo" pitchFamily="34" charset="0"/>
                <a:ea typeface="Archivo" pitchFamily="34" charset="-122"/>
                <a:cs typeface="Archivo" pitchFamily="34" charset="-120"/>
              </a:rPr>
              <a:t>Mire la fecha en el nombre del archivo</a:t>
            </a:r>
            <a:endParaRPr lang="en-US" sz="1500" dirty="0"/>
          </a:p>
        </p:txBody>
      </p:sp>
      <p:sp>
        <p:nvSpPr>
          <p:cNvPr id="22" name="Shape 20"/>
          <p:cNvSpPr/>
          <p:nvPr/>
        </p:nvSpPr>
        <p:spPr>
          <a:xfrm>
            <a:off x="685800" y="5257800"/>
            <a:ext cx="10820400" cy="9525"/>
          </a:xfrm>
          <a:prstGeom prst="rect">
            <a:avLst/>
          </a:prstGeom>
          <a:solidFill>
            <a:srgbClr val="CFC8BC"/>
          </a:solidFill>
          <a:ln/>
        </p:spPr>
      </p:sp>
      <p:sp>
        <p:nvSpPr>
          <p:cNvPr id="23" name="Text 21"/>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3274963"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GUÍA — PREGUNTAS FRECUENTES</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Las cuatro preguntas que más nos han hecho</a:t>
            </a:r>
            <a:endParaRPr lang="en-US" sz="2700" dirty="0"/>
          </a:p>
        </p:txBody>
      </p:sp>
      <p:sp>
        <p:nvSpPr>
          <p:cNvPr id="5" name="Shape 3"/>
          <p:cNvSpPr/>
          <p:nvPr/>
        </p:nvSpPr>
        <p:spPr>
          <a:xfrm>
            <a:off x="685800" y="1809750"/>
            <a:ext cx="5219700" cy="19050"/>
          </a:xfrm>
          <a:prstGeom prst="rect">
            <a:avLst/>
          </a:prstGeom>
          <a:solidFill>
            <a:srgbClr val="1E2122"/>
          </a:solidFill>
          <a:ln/>
        </p:spPr>
      </p:sp>
      <p:sp>
        <p:nvSpPr>
          <p:cNvPr id="6" name="Text 4"/>
          <p:cNvSpPr txBox="1"/>
          <p:nvPr/>
        </p:nvSpPr>
        <p:spPr>
          <a:xfrm>
            <a:off x="685800" y="1962150"/>
            <a:ext cx="5276850" cy="319980"/>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¿Por qué no aparece una obra que conozco?</a:t>
            </a:r>
            <a:endParaRPr lang="en-US" sz="2100" dirty="0"/>
          </a:p>
        </p:txBody>
      </p:sp>
      <p:sp>
        <p:nvSpPr>
          <p:cNvPr id="7" name="Text 5"/>
          <p:cNvSpPr txBox="1"/>
          <p:nvPr/>
        </p:nvSpPr>
        <p:spPr>
          <a:xfrm>
            <a:off x="685800" y="2705100"/>
            <a:ext cx="5276850" cy="469404"/>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Solo llegan obras adjudicadas publicadas en Licitaciones.info. Si viene de otra página, todavía no está.</a:t>
            </a:r>
            <a:endParaRPr lang="en-US" sz="1280" dirty="0"/>
          </a:p>
        </p:txBody>
      </p:sp>
      <p:sp>
        <p:nvSpPr>
          <p:cNvPr id="8" name="Shape 6"/>
          <p:cNvSpPr/>
          <p:nvPr/>
        </p:nvSpPr>
        <p:spPr>
          <a:xfrm>
            <a:off x="6286500" y="1809750"/>
            <a:ext cx="5219700" cy="19050"/>
          </a:xfrm>
          <a:prstGeom prst="rect">
            <a:avLst/>
          </a:prstGeom>
          <a:solidFill>
            <a:srgbClr val="1E2122"/>
          </a:solidFill>
          <a:ln/>
        </p:spPr>
      </p:sp>
      <p:sp>
        <p:nvSpPr>
          <p:cNvPr id="9" name="Text 7"/>
          <p:cNvSpPr txBox="1"/>
          <p:nvPr/>
        </p:nvSpPr>
        <p:spPr>
          <a:xfrm>
            <a:off x="6286500" y="1962150"/>
            <a:ext cx="5276850" cy="319980"/>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¿Puedo confiar en los datos?</a:t>
            </a:r>
            <a:endParaRPr lang="en-US" sz="2100" dirty="0"/>
          </a:p>
        </p:txBody>
      </p:sp>
      <p:sp>
        <p:nvSpPr>
          <p:cNvPr id="10" name="Text 8"/>
          <p:cNvSpPr txBox="1"/>
          <p:nvPr/>
        </p:nvSpPr>
        <p:spPr>
          <a:xfrm>
            <a:off x="6286500" y="2705100"/>
            <a:ext cx="5276850" cy="469404"/>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Son los que publica la entidad pública. El sistema ordena y limpia; no inventa ni corrige.</a:t>
            </a:r>
            <a:endParaRPr lang="en-US" sz="1280" dirty="0"/>
          </a:p>
        </p:txBody>
      </p:sp>
      <p:sp>
        <p:nvSpPr>
          <p:cNvPr id="11" name="Shape 9"/>
          <p:cNvSpPr/>
          <p:nvPr/>
        </p:nvSpPr>
        <p:spPr>
          <a:xfrm>
            <a:off x="685800" y="3905250"/>
            <a:ext cx="5219700" cy="19050"/>
          </a:xfrm>
          <a:prstGeom prst="rect">
            <a:avLst/>
          </a:prstGeom>
          <a:solidFill>
            <a:srgbClr val="1E2122"/>
          </a:solidFill>
          <a:ln/>
        </p:spPr>
      </p:sp>
      <p:sp>
        <p:nvSpPr>
          <p:cNvPr id="12" name="Text 10"/>
          <p:cNvSpPr txBox="1"/>
          <p:nvPr/>
        </p:nvSpPr>
        <p:spPr>
          <a:xfrm>
            <a:off x="685800" y="4057650"/>
            <a:ext cx="5276850" cy="319980"/>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¿Por qué el NIT viene vacío?</a:t>
            </a:r>
            <a:endParaRPr lang="en-US" sz="2100" dirty="0"/>
          </a:p>
        </p:txBody>
      </p:sp>
      <p:sp>
        <p:nvSpPr>
          <p:cNvPr id="13" name="Text 11"/>
          <p:cNvSpPr txBox="1"/>
          <p:nvPr/>
        </p:nvSpPr>
        <p:spPr>
          <a:xfrm>
            <a:off x="685800" y="4800600"/>
            <a:ext cx="5276850" cy="469404"/>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La fuente no lo publica. El número que trae no es un NIT, así que preferimos dejarlo vacío.</a:t>
            </a:r>
            <a:endParaRPr lang="en-US" sz="1280" dirty="0"/>
          </a:p>
        </p:txBody>
      </p:sp>
      <p:sp>
        <p:nvSpPr>
          <p:cNvPr id="14" name="Shape 12"/>
          <p:cNvSpPr/>
          <p:nvPr/>
        </p:nvSpPr>
        <p:spPr>
          <a:xfrm>
            <a:off x="6286500" y="3905250"/>
            <a:ext cx="5219700" cy="19050"/>
          </a:xfrm>
          <a:prstGeom prst="rect">
            <a:avLst/>
          </a:prstGeom>
          <a:solidFill>
            <a:srgbClr val="1E2122"/>
          </a:solidFill>
          <a:ln/>
        </p:spPr>
      </p:sp>
      <p:sp>
        <p:nvSpPr>
          <p:cNvPr id="15" name="Text 13"/>
          <p:cNvSpPr txBox="1"/>
          <p:nvPr/>
        </p:nvSpPr>
        <p:spPr>
          <a:xfrm>
            <a:off x="6286500" y="4057650"/>
            <a:ext cx="5276850" cy="319980"/>
          </a:xfrm>
          <a:prstGeom prst="rect">
            <a:avLst/>
          </a:prstGeom>
          <a:noFill/>
          <a:ln/>
        </p:spPr>
        <p:txBody>
          <a:bodyPr wrap="square" lIns="0" tIns="0" rIns="0" bIns="0" rtlCol="0" anchor="t"/>
          <a:lstStyle/>
          <a:p>
            <a:pPr algn="l" indent="0" marL="0">
              <a:lnSpc>
                <a:spcPts val="2520"/>
              </a:lnSpc>
              <a:buNone/>
            </a:pPr>
            <a:r>
              <a:rPr lang="en-US" sz="2100" i="1" dirty="0">
                <a:solidFill>
                  <a:srgbClr val="1E2122"/>
                </a:solidFill>
                <a:latin typeface="Source Serif 4" pitchFamily="34" charset="0"/>
                <a:ea typeface="Source Serif 4" pitchFamily="34" charset="-122"/>
                <a:cs typeface="Source Serif 4" pitchFamily="34" charset="-120"/>
              </a:rPr>
              <a:t>¿Puede salir una obra repetida?</a:t>
            </a:r>
            <a:endParaRPr lang="en-US" sz="2100" dirty="0"/>
          </a:p>
        </p:txBody>
      </p:sp>
      <p:sp>
        <p:nvSpPr>
          <p:cNvPr id="16" name="Text 14"/>
          <p:cNvSpPr txBox="1"/>
          <p:nvPr/>
        </p:nvSpPr>
        <p:spPr>
          <a:xfrm>
            <a:off x="6286500" y="4800600"/>
            <a:ext cx="5276850" cy="469404"/>
          </a:xfrm>
          <a:prstGeom prst="rect">
            <a:avLst/>
          </a:prstGeom>
          <a:noFill/>
          <a:ln/>
        </p:spPr>
        <p:txBody>
          <a:bodyPr wrap="square" lIns="0" tIns="0" rIns="0" bIns="0" rtlCol="0" anchor="t"/>
          <a:lstStyle/>
          <a:p>
            <a:pPr algn="l" indent="0" marL="0">
              <a:lnSpc>
                <a:spcPts val="1850"/>
              </a:lnSpc>
              <a:buNone/>
            </a:pPr>
            <a:r>
              <a:rPr lang="en-US" sz="1280" dirty="0">
                <a:solidFill>
                  <a:srgbClr val="4A4E4B"/>
                </a:solidFill>
                <a:latin typeface="Archivo" pitchFamily="34" charset="0"/>
                <a:ea typeface="Archivo" pitchFamily="34" charset="-122"/>
                <a:cs typeface="Archivo" pitchFamily="34" charset="-120"/>
              </a:rPr>
              <a:t>En Datos, no: cada licitación aparece una vez. En Ganadores sí, si la ganó un consorcio.</a:t>
            </a:r>
            <a:endParaRPr lang="en-US" sz="1280" dirty="0"/>
          </a:p>
        </p:txBody>
      </p:sp>
      <p:sp>
        <p:nvSpPr>
          <p:cNvPr id="17" name="Text 1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8A33D"/>
          </a:solidFill>
          <a:ln/>
        </p:spPr>
      </p:sp>
      <p:sp>
        <p:nvSpPr>
          <p:cNvPr id="3" name="Text 1"/>
          <p:cNvSpPr txBox="1"/>
          <p:nvPr/>
        </p:nvSpPr>
        <p:spPr>
          <a:xfrm>
            <a:off x="685800" y="609600"/>
            <a:ext cx="5772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1E2122"/>
                </a:solidFill>
                <a:latin typeface="Archivo" pitchFamily="34" charset="0"/>
                <a:ea typeface="Archivo" pitchFamily="34" charset="-122"/>
                <a:cs typeface="Archivo" pitchFamily="34" charset="-120"/>
              </a:rPr>
              <a:t>PRÁCTICA · 3 MINUTOS</a:t>
            </a:r>
            <a:endParaRPr lang="en-US" sz="980" dirty="0"/>
          </a:p>
        </p:txBody>
      </p:sp>
      <p:sp>
        <p:nvSpPr>
          <p:cNvPr id="4" name="Text 2"/>
          <p:cNvSpPr txBox="1"/>
          <p:nvPr/>
        </p:nvSpPr>
        <p:spPr>
          <a:xfrm>
            <a:off x="647700" y="952500"/>
            <a:ext cx="10534650" cy="620018"/>
          </a:xfrm>
          <a:prstGeom prst="rect">
            <a:avLst/>
          </a:prstGeom>
          <a:noFill/>
          <a:ln/>
        </p:spPr>
        <p:txBody>
          <a:bodyPr wrap="square" lIns="0" tIns="0" rIns="0" bIns="0" rtlCol="0" anchor="t"/>
          <a:lstStyle/>
          <a:p>
            <a:pPr algn="l" indent="0" marL="0">
              <a:lnSpc>
                <a:spcPts val="4880"/>
              </a:lnSpc>
              <a:buNone/>
            </a:pPr>
            <a:r>
              <a:rPr lang="en-US" sz="4650" b="1" spc="-150" kern="0" dirty="0">
                <a:solidFill>
                  <a:srgbClr val="1E2122"/>
                </a:solidFill>
                <a:latin typeface="Archivo" pitchFamily="34" charset="0"/>
                <a:ea typeface="Archivo" pitchFamily="34" charset="-122"/>
                <a:cs typeface="Archivo" pitchFamily="34" charset="-120"/>
              </a:rPr>
              <a:t>Con el reporte de hoy, encuentre:</a:t>
            </a:r>
            <a:endParaRPr lang="en-US" sz="4650" dirty="0"/>
          </a:p>
        </p:txBody>
      </p:sp>
      <p:sp>
        <p:nvSpPr>
          <p:cNvPr id="5" name="Shape 3"/>
          <p:cNvSpPr/>
          <p:nvPr/>
        </p:nvSpPr>
        <p:spPr>
          <a:xfrm>
            <a:off x="685800" y="2495550"/>
            <a:ext cx="5257800" cy="19050"/>
          </a:xfrm>
          <a:prstGeom prst="rect">
            <a:avLst/>
          </a:prstGeom>
          <a:solidFill>
            <a:srgbClr val="1E2122"/>
          </a:solidFill>
          <a:ln/>
        </p:spPr>
      </p:sp>
      <p:sp>
        <p:nvSpPr>
          <p:cNvPr id="6" name="Text 4"/>
          <p:cNvSpPr txBox="1"/>
          <p:nvPr/>
        </p:nvSpPr>
        <p:spPr>
          <a:xfrm>
            <a:off x="685800" y="268605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1E2122"/>
                </a:solidFill>
                <a:latin typeface="Source Serif 4" pitchFamily="34" charset="0"/>
                <a:ea typeface="Source Serif 4" pitchFamily="34" charset="-122"/>
                <a:cs typeface="Source Serif 4" pitchFamily="34" charset="-120"/>
              </a:rPr>
              <a:t>1</a:t>
            </a:r>
            <a:endParaRPr lang="en-US" sz="3900" dirty="0"/>
          </a:p>
        </p:txBody>
      </p:sp>
      <p:sp>
        <p:nvSpPr>
          <p:cNvPr id="7" name="Text 5"/>
          <p:cNvSpPr txBox="1"/>
          <p:nvPr/>
        </p:nvSpPr>
        <p:spPr>
          <a:xfrm>
            <a:off x="1333500" y="2800350"/>
            <a:ext cx="4533900" cy="321915"/>
          </a:xfrm>
          <a:prstGeom prst="rect">
            <a:avLst/>
          </a:prstGeom>
          <a:noFill/>
          <a:ln/>
        </p:spPr>
        <p:txBody>
          <a:bodyPr wrap="square" lIns="0" tIns="0" rIns="0" bIns="0" rtlCol="0" anchor="t"/>
          <a:lstStyle/>
          <a:p>
            <a:pPr algn="l" indent="0" marL="0">
              <a:lnSpc>
                <a:spcPts val="2530"/>
              </a:lnSpc>
              <a:buNone/>
            </a:pPr>
            <a:r>
              <a:rPr lang="en-US" sz="1950" b="1" dirty="0">
                <a:solidFill>
                  <a:srgbClr val="1E2122"/>
                </a:solidFill>
                <a:latin typeface="Archivo" pitchFamily="34" charset="0"/>
                <a:ea typeface="Archivo" pitchFamily="34" charset="-122"/>
                <a:cs typeface="Archivo" pitchFamily="34" charset="-120"/>
              </a:rPr>
              <a:t>La obra adjudicada de mayor valor</a:t>
            </a:r>
            <a:endParaRPr lang="en-US" sz="1950" dirty="0"/>
          </a:p>
        </p:txBody>
      </p:sp>
      <p:sp>
        <p:nvSpPr>
          <p:cNvPr id="8" name="Shape 6"/>
          <p:cNvSpPr/>
          <p:nvPr/>
        </p:nvSpPr>
        <p:spPr>
          <a:xfrm>
            <a:off x="6248400" y="2495550"/>
            <a:ext cx="5257800" cy="19050"/>
          </a:xfrm>
          <a:prstGeom prst="rect">
            <a:avLst/>
          </a:prstGeom>
          <a:solidFill>
            <a:srgbClr val="1E2122"/>
          </a:solidFill>
          <a:ln/>
        </p:spPr>
      </p:sp>
      <p:sp>
        <p:nvSpPr>
          <p:cNvPr id="9" name="Text 7"/>
          <p:cNvSpPr txBox="1"/>
          <p:nvPr/>
        </p:nvSpPr>
        <p:spPr>
          <a:xfrm>
            <a:off x="6248400" y="268605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1E2122"/>
                </a:solidFill>
                <a:latin typeface="Source Serif 4" pitchFamily="34" charset="0"/>
                <a:ea typeface="Source Serif 4" pitchFamily="34" charset="-122"/>
                <a:cs typeface="Source Serif 4" pitchFamily="34" charset="-120"/>
              </a:rPr>
              <a:t>2</a:t>
            </a:r>
            <a:endParaRPr lang="en-US" sz="3900" dirty="0"/>
          </a:p>
        </p:txBody>
      </p:sp>
      <p:sp>
        <p:nvSpPr>
          <p:cNvPr id="10" name="Text 8"/>
          <p:cNvSpPr txBox="1"/>
          <p:nvPr/>
        </p:nvSpPr>
        <p:spPr>
          <a:xfrm>
            <a:off x="6896100" y="2800350"/>
            <a:ext cx="4533900" cy="321915"/>
          </a:xfrm>
          <a:prstGeom prst="rect">
            <a:avLst/>
          </a:prstGeom>
          <a:noFill/>
          <a:ln/>
        </p:spPr>
        <p:txBody>
          <a:bodyPr wrap="square" lIns="0" tIns="0" rIns="0" bIns="0" rtlCol="0" anchor="t"/>
          <a:lstStyle/>
          <a:p>
            <a:pPr algn="l" indent="0" marL="0">
              <a:lnSpc>
                <a:spcPts val="2530"/>
              </a:lnSpc>
              <a:buNone/>
            </a:pPr>
            <a:r>
              <a:rPr lang="en-US" sz="1950" b="1" dirty="0">
                <a:solidFill>
                  <a:srgbClr val="1E2122"/>
                </a:solidFill>
                <a:latin typeface="Archivo" pitchFamily="34" charset="0"/>
                <a:ea typeface="Archivo" pitchFamily="34" charset="-122"/>
                <a:cs typeface="Archivo" pitchFamily="34" charset="-120"/>
              </a:rPr>
              <a:t>La empresa que la ganó</a:t>
            </a:r>
            <a:endParaRPr lang="en-US" sz="1950" dirty="0"/>
          </a:p>
        </p:txBody>
      </p:sp>
      <p:sp>
        <p:nvSpPr>
          <p:cNvPr id="11" name="Shape 9"/>
          <p:cNvSpPr/>
          <p:nvPr/>
        </p:nvSpPr>
        <p:spPr>
          <a:xfrm>
            <a:off x="685800" y="4191000"/>
            <a:ext cx="5257800" cy="19050"/>
          </a:xfrm>
          <a:prstGeom prst="rect">
            <a:avLst/>
          </a:prstGeom>
          <a:solidFill>
            <a:srgbClr val="1E2122"/>
          </a:solidFill>
          <a:ln/>
        </p:spPr>
      </p:sp>
      <p:sp>
        <p:nvSpPr>
          <p:cNvPr id="12" name="Text 10"/>
          <p:cNvSpPr txBox="1"/>
          <p:nvPr/>
        </p:nvSpPr>
        <p:spPr>
          <a:xfrm>
            <a:off x="685800" y="438150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1E2122"/>
                </a:solidFill>
                <a:latin typeface="Source Serif 4" pitchFamily="34" charset="0"/>
                <a:ea typeface="Source Serif 4" pitchFamily="34" charset="-122"/>
                <a:cs typeface="Source Serif 4" pitchFamily="34" charset="-120"/>
              </a:rPr>
              <a:t>3</a:t>
            </a:r>
            <a:endParaRPr lang="en-US" sz="3900" dirty="0"/>
          </a:p>
        </p:txBody>
      </p:sp>
      <p:sp>
        <p:nvSpPr>
          <p:cNvPr id="13" name="Text 11"/>
          <p:cNvSpPr txBox="1"/>
          <p:nvPr/>
        </p:nvSpPr>
        <p:spPr>
          <a:xfrm>
            <a:off x="1333500" y="4495800"/>
            <a:ext cx="4533900" cy="321915"/>
          </a:xfrm>
          <a:prstGeom prst="rect">
            <a:avLst/>
          </a:prstGeom>
          <a:noFill/>
          <a:ln/>
        </p:spPr>
        <p:txBody>
          <a:bodyPr wrap="square" lIns="0" tIns="0" rIns="0" bIns="0" rtlCol="0" anchor="t"/>
          <a:lstStyle/>
          <a:p>
            <a:pPr algn="l" indent="0" marL="0">
              <a:lnSpc>
                <a:spcPts val="2530"/>
              </a:lnSpc>
              <a:buNone/>
            </a:pPr>
            <a:r>
              <a:rPr lang="en-US" sz="1950" b="1" dirty="0">
                <a:solidFill>
                  <a:srgbClr val="1E2122"/>
                </a:solidFill>
                <a:latin typeface="Archivo" pitchFamily="34" charset="0"/>
                <a:ea typeface="Archivo" pitchFamily="34" charset="-122"/>
                <a:cs typeface="Archivo" pitchFamily="34" charset="-120"/>
              </a:rPr>
              <a:t>El enlace a su proceso original</a:t>
            </a:r>
            <a:endParaRPr lang="en-US" sz="1950" dirty="0"/>
          </a:p>
        </p:txBody>
      </p:sp>
      <p:sp>
        <p:nvSpPr>
          <p:cNvPr id="14" name="Shape 12"/>
          <p:cNvSpPr/>
          <p:nvPr/>
        </p:nvSpPr>
        <p:spPr>
          <a:xfrm>
            <a:off x="6248400" y="4191000"/>
            <a:ext cx="5257800" cy="19050"/>
          </a:xfrm>
          <a:prstGeom prst="rect">
            <a:avLst/>
          </a:prstGeom>
          <a:solidFill>
            <a:srgbClr val="1E2122"/>
          </a:solidFill>
          <a:ln/>
        </p:spPr>
      </p:sp>
      <p:sp>
        <p:nvSpPr>
          <p:cNvPr id="15" name="Text 13"/>
          <p:cNvSpPr txBox="1"/>
          <p:nvPr/>
        </p:nvSpPr>
        <p:spPr>
          <a:xfrm>
            <a:off x="6248400" y="438150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1E2122"/>
                </a:solidFill>
                <a:latin typeface="Source Serif 4" pitchFamily="34" charset="0"/>
                <a:ea typeface="Source Serif 4" pitchFamily="34" charset="-122"/>
                <a:cs typeface="Source Serif 4" pitchFamily="34" charset="-120"/>
              </a:rPr>
              <a:t>4</a:t>
            </a:r>
            <a:endParaRPr lang="en-US" sz="3900" dirty="0"/>
          </a:p>
        </p:txBody>
      </p:sp>
      <p:sp>
        <p:nvSpPr>
          <p:cNvPr id="16" name="Text 14"/>
          <p:cNvSpPr txBox="1"/>
          <p:nvPr/>
        </p:nvSpPr>
        <p:spPr>
          <a:xfrm>
            <a:off x="6896100" y="4495800"/>
            <a:ext cx="4533900" cy="321915"/>
          </a:xfrm>
          <a:prstGeom prst="rect">
            <a:avLst/>
          </a:prstGeom>
          <a:noFill/>
          <a:ln/>
        </p:spPr>
        <p:txBody>
          <a:bodyPr wrap="square" lIns="0" tIns="0" rIns="0" bIns="0" rtlCol="0" anchor="t"/>
          <a:lstStyle/>
          <a:p>
            <a:pPr algn="l" indent="0" marL="0">
              <a:lnSpc>
                <a:spcPts val="2530"/>
              </a:lnSpc>
              <a:buNone/>
            </a:pPr>
            <a:r>
              <a:rPr lang="en-US" sz="1950" b="1" dirty="0">
                <a:solidFill>
                  <a:srgbClr val="1E2122"/>
                </a:solidFill>
                <a:latin typeface="Archivo" pitchFamily="34" charset="0"/>
                <a:ea typeface="Archivo" pitchFamily="34" charset="-122"/>
                <a:cs typeface="Archivo" pitchFamily="34" charset="-120"/>
              </a:rPr>
              <a:t>Cuántas incidencias tiene el reporte</a:t>
            </a:r>
            <a:endParaRPr lang="en-US" sz="1950" dirty="0"/>
          </a:p>
        </p:txBody>
      </p:sp>
      <p:sp>
        <p:nvSpPr>
          <p:cNvPr id="17" name="Text 15"/>
          <p:cNvSpPr txBox="1"/>
          <p:nvPr/>
        </p:nvSpPr>
        <p:spPr>
          <a:xfrm>
            <a:off x="685800" y="5829300"/>
            <a:ext cx="8629650" cy="272355"/>
          </a:xfrm>
          <a:prstGeom prst="rect">
            <a:avLst/>
          </a:prstGeom>
          <a:noFill/>
          <a:ln/>
        </p:spPr>
        <p:txBody>
          <a:bodyPr wrap="square" lIns="0" tIns="0" rIns="0" bIns="0" rtlCol="0" anchor="t"/>
          <a:lstStyle/>
          <a:p>
            <a:pPr algn="l" indent="0" marL="0">
              <a:lnSpc>
                <a:spcPts val="2150"/>
              </a:lnSpc>
              <a:buNone/>
            </a:pPr>
            <a:r>
              <a:rPr lang="en-US" sz="1650" i="1" dirty="0">
                <a:solidFill>
                  <a:srgbClr val="1E2122"/>
                </a:solidFill>
                <a:latin typeface="Source Serif 4" pitchFamily="34" charset="0"/>
                <a:ea typeface="Source Serif 4" pitchFamily="34" charset="-122"/>
                <a:cs typeface="Source Serif 4" pitchFamily="34" charset="-120"/>
              </a:rPr>
              <a:t>Dos minutos para buscar; uno para resolverlo juntos.</a:t>
            </a:r>
            <a:endParaRPr lang="en-US" sz="1650" dirty="0"/>
          </a:p>
        </p:txBody>
      </p:sp>
      <p:sp>
        <p:nvSpPr>
          <p:cNvPr id="18" name="Text 16"/>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1E2122"/>
                </a:solidFill>
                <a:latin typeface="Source Serif 4" pitchFamily="34" charset="0"/>
                <a:ea typeface="Source Serif 4" pitchFamily="34" charset="-122"/>
                <a:cs typeface="Source Serif 4"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pic>
        <p:nvPicPr>
          <p:cNvPr id="3" name="Image 0" descr="preencoded.png">    </p:cNvPr>
          <p:cNvPicPr>
            <a:picLocks noChangeAspect="1"/>
          </p:cNvPicPr>
          <p:nvPr/>
        </p:nvPicPr>
        <p:blipFill>
          <a:blip r:embed="rId1"/>
          <a:srcRect l="0" r="0" t="0" b="0"/>
          <a:stretch/>
        </p:blipFill>
        <p:spPr>
          <a:xfrm>
            <a:off x="8382000" y="0"/>
            <a:ext cx="3810000" cy="6858000"/>
          </a:xfrm>
          <a:prstGeom prst="rect">
            <a:avLst/>
          </a:prstGeom>
        </p:spPr>
      </p:pic>
      <p:sp>
        <p:nvSpPr>
          <p:cNvPr id="4" name="Text 1"/>
          <p:cNvSpPr txBox="1"/>
          <p:nvPr/>
        </p:nvSpPr>
        <p:spPr>
          <a:xfrm>
            <a:off x="685800" y="685800"/>
            <a:ext cx="5772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PARA RECORDAR</a:t>
            </a:r>
            <a:endParaRPr lang="en-US" sz="980" dirty="0"/>
          </a:p>
        </p:txBody>
      </p:sp>
      <p:sp>
        <p:nvSpPr>
          <p:cNvPr id="5" name="Text 2"/>
          <p:cNvSpPr txBox="1"/>
          <p:nvPr/>
        </p:nvSpPr>
        <p:spPr>
          <a:xfrm>
            <a:off x="685800" y="142875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1</a:t>
            </a:r>
            <a:endParaRPr lang="en-US" sz="3900" dirty="0"/>
          </a:p>
        </p:txBody>
      </p:sp>
      <p:sp>
        <p:nvSpPr>
          <p:cNvPr id="6" name="Text 3"/>
          <p:cNvSpPr txBox="1"/>
          <p:nvPr/>
        </p:nvSpPr>
        <p:spPr>
          <a:xfrm>
            <a:off x="1333500" y="1504950"/>
            <a:ext cx="6534150" cy="365671"/>
          </a:xfrm>
          <a:prstGeom prst="rect">
            <a:avLst/>
          </a:prstGeom>
          <a:noFill/>
          <a:ln/>
        </p:spPr>
        <p:txBody>
          <a:bodyPr wrap="square" lIns="0" tIns="0" rIns="0" bIns="0" rtlCol="0" anchor="t"/>
          <a:lstStyle/>
          <a:p>
            <a:pPr algn="l" indent="0" marL="0">
              <a:lnSpc>
                <a:spcPts val="2880"/>
              </a:lnSpc>
              <a:buNone/>
            </a:pPr>
            <a:r>
              <a:rPr lang="en-US" sz="2400" b="1" dirty="0">
                <a:solidFill>
                  <a:srgbClr val="ECE8E1"/>
                </a:solidFill>
                <a:latin typeface="Archivo" pitchFamily="34" charset="0"/>
                <a:ea typeface="Archivo" pitchFamily="34" charset="-122"/>
                <a:cs typeface="Archivo" pitchFamily="34" charset="-120"/>
              </a:rPr>
              <a:t>Abra siempre el reporte más reciente.</a:t>
            </a:r>
            <a:endParaRPr lang="en-US" sz="2400" dirty="0"/>
          </a:p>
        </p:txBody>
      </p:sp>
      <p:sp>
        <p:nvSpPr>
          <p:cNvPr id="7" name="Text 4"/>
          <p:cNvSpPr txBox="1"/>
          <p:nvPr/>
        </p:nvSpPr>
        <p:spPr>
          <a:xfrm>
            <a:off x="685800" y="257175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2</a:t>
            </a:r>
            <a:endParaRPr lang="en-US" sz="3900" dirty="0"/>
          </a:p>
        </p:txBody>
      </p:sp>
      <p:sp>
        <p:nvSpPr>
          <p:cNvPr id="8" name="Text 5"/>
          <p:cNvSpPr txBox="1"/>
          <p:nvPr/>
        </p:nvSpPr>
        <p:spPr>
          <a:xfrm>
            <a:off x="1333500" y="2647950"/>
            <a:ext cx="6534150" cy="731341"/>
          </a:xfrm>
          <a:prstGeom prst="rect">
            <a:avLst/>
          </a:prstGeom>
          <a:noFill/>
          <a:ln/>
        </p:spPr>
        <p:txBody>
          <a:bodyPr wrap="square" lIns="0" tIns="0" rIns="0" bIns="0" rtlCol="0" anchor="t"/>
          <a:lstStyle/>
          <a:p>
            <a:pPr algn="l" indent="0" marL="0">
              <a:lnSpc>
                <a:spcPts val="2880"/>
              </a:lnSpc>
              <a:buNone/>
            </a:pPr>
            <a:r>
              <a:rPr lang="en-US" sz="2400" b="1" dirty="0">
                <a:solidFill>
                  <a:srgbClr val="ECE8E1"/>
                </a:solidFill>
                <a:latin typeface="Archivo" pitchFamily="34" charset="0"/>
                <a:ea typeface="Archivo" pitchFamily="34" charset="-122"/>
                <a:cs typeface="Archivo" pitchFamily="34" charset="-120"/>
              </a:rPr>
              <a:t>Si algo falta o no cuadra, mire Incidencias y el enlace.</a:t>
            </a:r>
            <a:endParaRPr lang="en-US" sz="2400" dirty="0"/>
          </a:p>
        </p:txBody>
      </p:sp>
      <p:sp>
        <p:nvSpPr>
          <p:cNvPr id="9" name="Text 6"/>
          <p:cNvSpPr txBox="1"/>
          <p:nvPr/>
        </p:nvSpPr>
        <p:spPr>
          <a:xfrm>
            <a:off x="685800" y="4076700"/>
            <a:ext cx="62865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3</a:t>
            </a:r>
            <a:endParaRPr lang="en-US" sz="3900" dirty="0"/>
          </a:p>
        </p:txBody>
      </p:sp>
      <p:sp>
        <p:nvSpPr>
          <p:cNvPr id="10" name="Text 7"/>
          <p:cNvSpPr txBox="1"/>
          <p:nvPr/>
        </p:nvSpPr>
        <p:spPr>
          <a:xfrm>
            <a:off x="1333500" y="4152900"/>
            <a:ext cx="6534150" cy="365671"/>
          </a:xfrm>
          <a:prstGeom prst="rect">
            <a:avLst/>
          </a:prstGeom>
          <a:noFill/>
          <a:ln/>
        </p:spPr>
        <p:txBody>
          <a:bodyPr wrap="square" lIns="0" tIns="0" rIns="0" bIns="0" rtlCol="0" anchor="t"/>
          <a:lstStyle/>
          <a:p>
            <a:pPr algn="l" indent="0" marL="0">
              <a:lnSpc>
                <a:spcPts val="2880"/>
              </a:lnSpc>
              <a:buNone/>
            </a:pPr>
            <a:r>
              <a:rPr lang="en-US" sz="2400" b="1" dirty="0">
                <a:solidFill>
                  <a:srgbClr val="ECE8E1"/>
                </a:solidFill>
                <a:latin typeface="Archivo" pitchFamily="34" charset="0"/>
                <a:ea typeface="Archivo" pitchFamily="34" charset="-122"/>
                <a:cs typeface="Archivo" pitchFamily="34" charset="-120"/>
              </a:rPr>
              <a:t>El sistema busca; usted decide y vende.</a:t>
            </a:r>
            <a:endParaRPr lang="en-US" sz="2400" dirty="0"/>
          </a:p>
        </p:txBody>
      </p:sp>
      <p:sp>
        <p:nvSpPr>
          <p:cNvPr id="11" name="Shape 8"/>
          <p:cNvSpPr/>
          <p:nvPr/>
        </p:nvSpPr>
        <p:spPr>
          <a:xfrm>
            <a:off x="685800" y="5619750"/>
            <a:ext cx="7239000" cy="9525"/>
          </a:xfrm>
          <a:prstGeom prst="rect">
            <a:avLst/>
          </a:prstGeom>
          <a:solidFill>
            <a:srgbClr val="3D4243"/>
          </a:solidFill>
          <a:ln/>
        </p:spPr>
      </p:sp>
      <p:sp>
        <p:nvSpPr>
          <p:cNvPr id="12" name="Text 9"/>
          <p:cNvSpPr txBox="1"/>
          <p:nvPr/>
        </p:nvSpPr>
        <p:spPr>
          <a:xfrm>
            <a:off x="685800" y="5829300"/>
            <a:ext cx="2914650" cy="190500"/>
          </a:xfrm>
          <a:prstGeom prst="rect">
            <a:avLst/>
          </a:prstGeom>
          <a:noFill/>
          <a:ln/>
        </p:spPr>
        <p:txBody>
          <a:bodyPr wrap="square" lIns="0" tIns="0" rIns="0" bIns="0" rtlCol="0" anchor="t"/>
          <a:lstStyle/>
          <a:p>
            <a:pPr algn="l" indent="0" marL="0">
              <a:lnSpc>
                <a:spcPts val="1620"/>
              </a:lnSpc>
              <a:buNone/>
            </a:pPr>
            <a:r>
              <a:rPr lang="en-US" sz="1350" b="1" dirty="0">
                <a:solidFill>
                  <a:srgbClr val="ECE8E1"/>
                </a:solidFill>
                <a:latin typeface="Archivo" pitchFamily="34" charset="0"/>
                <a:ea typeface="Archivo" pitchFamily="34" charset="-122"/>
                <a:cs typeface="Archivo" pitchFamily="34" charset="-120"/>
              </a:rPr>
              <a:t>Gracias · ¿Preguntas?</a:t>
            </a:r>
            <a:endParaRPr lang="en-US" sz="1350" dirty="0"/>
          </a:p>
        </p:txBody>
      </p:sp>
      <p:sp>
        <p:nvSpPr>
          <p:cNvPr id="13" name="Text 10"/>
          <p:cNvSpPr txBox="1"/>
          <p:nvPr/>
        </p:nvSpPr>
        <p:spPr>
          <a:xfrm>
            <a:off x="3810000" y="5848350"/>
            <a:ext cx="4171950" cy="152400"/>
          </a:xfrm>
          <a:prstGeom prst="rect">
            <a:avLst/>
          </a:prstGeom>
          <a:noFill/>
          <a:ln/>
        </p:spPr>
        <p:txBody>
          <a:bodyPr wrap="square" lIns="0" tIns="0" rIns="0" bIns="0" rtlCol="0" anchor="t"/>
          <a:lstStyle/>
          <a:p>
            <a:pPr algn="r" indent="0" marL="0">
              <a:lnSpc>
                <a:spcPts val="1350"/>
              </a:lnSpc>
              <a:buNone/>
            </a:pPr>
            <a:r>
              <a:rPr lang="en-US" sz="1130" dirty="0">
                <a:solidFill>
                  <a:srgbClr val="A9ACA6"/>
                </a:solidFill>
                <a:latin typeface="Archivo" pitchFamily="34" charset="0"/>
                <a:ea typeface="Archivo" pitchFamily="34" charset="-122"/>
                <a:cs typeface="Archivo" pitchFamily="34" charset="-120"/>
              </a:rPr>
              <a:t>Dudas o errores: [nombre y canal del responsable]</a:t>
            </a:r>
            <a:endParaRPr lang="en-US" sz="11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Universidad EAFIT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guia</dc:title>
  <dc:subject>PptxGenJS Presentation</dc:subject>
  <dc:creator>Equipo SAML</dc:creator>
  <cp:lastModifiedBy>Equipo SAML</cp:lastModifiedBy>
  <cp:revision>1</cp:revision>
  <dcterms:created xsi:type="dcterms:W3CDTF">2026-10-13T02:16:09Z</dcterms:created>
  <dcterms:modified xsi:type="dcterms:W3CDTF">2026-10-13T02:16:09Z</dcterms:modified>
</cp:coreProperties>
</file>