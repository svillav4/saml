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30 segundos.
"Buenos días. Somos el equipo de SAML, el sistema que estamos construyendo para que GRECO encuentre sin buscar a mano las obras públicas adjudicadas. Hoy les traemos tres cosas: dónde estamos frente a lo que planeamos, qué riesgos tenemos encima y cuatro decisiones que necesitamos de ustedes."
TIP: hablen al comité, no a la pantalla. Esta presentación es de decisiones, no técnica: no nombren herramientas (n8n, Python, Docker) salvo que pregunten.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 minuto.
"Si se llevan una sola idea de hoy, es esta: la extracción ya funciona. Con un clic, el sistema consulta Licitaciones.info, limpia los datos, los verifica y entrega un Excel listo para revisar. Eso era lo que el PO nos dijo que más importaba."
"Pero el calendario no va bien. Estamos en el hito 4 de 8, con el 3 y el 4 a medias. El motor de limpieza, que está en la ruta crítica, llegó 20 días tarde. Y por eso hoy les vamos a pedir cuatro decisiones."
SI PREGUNTAN POR QUÉ EL ATRASO: el cambio de scraping a la API (28-08) y el levantamiento de columnas de Obras V6 tomaron más de lo estimado, y descubrimos que la fuente no trae varios campos (lo vemos en dos diapositivas).
TRANSICIÓN: "Veamos el detalle en el tiempo."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2 minutos. Es la diapositiva más importante para el comité.
"Así se ve el avance contra el plan. Los círculos huecos son las fechas planeadas; los llenos, las reales. La línea amarilla es hoy."
"H1, la formulación, se cumplió a tiempo. H2, el motor que limpia y verifica los datos, se cumplió, pero 20 días tarde: quedó listo el 12 de octubre en lugar del 22 de septiembre. Tiene 11 pruebas automáticas y todas pasan."
"Ese atraso dejó abiertos H3 y H4. La consulta a Licitaciones.info funciona desde el 8 de octubre, pero los datos aún no se guardan en una base de datos central. Y el Excel ya se genera, pero las alertas automáticas no han empezado."
"Hacia adelante: H5, tableros y despliegue, vence mañana y está en riesgo, aunque la parte más difícil del despliegue, empaquetar todo en Docker, ya está hecha. El piloto depende de cerrar H4, y la capacitación no tiene fecha con GRECO. Tenemos una reserva hasta el 3 de noviembre, la zona gris."
SI PREGUNTAN POR QUÉ: el cambio de scraping a la API y el levantamiento de columnas de Obras V6 tomaron más de lo estimado.
TRANSICIÓN: "Y al construir la limpieza encontramos algo más importante que el atraso."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 minuto 30 segundos.
"Este es el hallazgo más importante del periodo. Su archivo Obras V6 tiene 20 columnas. Hoy el sistema llena 3: la entidad, el valor en millones y la empresa ganadora. Esas son las amarillas."
"Las rojas son el problema: 7 columnas que la fuente pública simplemente no publica. NIT, localidad, latitud, longitud, nombre de la obra, número de contrato y fecha de adjudicación. Y localidad es justo la que ustedes usan para asignar el asesor."
"Las otras 10 no son un problema: 4 son del asesor, como siempre, y 6 las calcula Obras V6 con sus fórmulas."
PRECISIÓN SI PREGUNTAN: la columna Empresa es provisional (sale del nombre de los ganadores); el nombre de la obra tiene un candidato, el objeto del proceso, pendiente de confirmar. Las columnas se tomaron de una captura de Obras V6; por eso pedimos el archivo original.
TRANSICIÓN: "Esto cambia el mapa de riesgos."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2 minutos.
"Este es nuestro mapa de riesgos. Arriba a la derecha está lo más grave. Los dos puntos rojos son nuevos y los traemos aquí porque no los puede resolver el equipo solo."
"N1: los campos que la fuente no publica. Ya ocurrió, por eso tiene probabilidad máxima. Necesita una decisión de negocio, no código."
"N2: el atraso. Si no reajustamos alcance o fechas, el piloto no alcanza."
"Los demás ya estaban en el registro. La calidad de los datos sigue alta en el papel, pero ya está mitigada: el motor de limpieza está construido. La caída de la API la seguimos semana a semana: cuatro semanas sin un solo incidente. Y la adopción del equipo comercial sigue en nivel medio, porque la capacitación no tiene fecha."
"El CRM ya se cerró: se descartó y se reemplazó por el Excel. Y Docker, que era una oportunidad, ya se aprovechó."
NOTA PARA EL EQUIPO: N1 y N2 todavía no están en el Excel del registro. Agréguenlos antes de entregar (N1: P5 × I4 = 20; N2: P4 × I4 = 16) y cierren EJ-5.
TRANSICIÓN: "Para llegar aquí ya tomamos algunas decisiones."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 minuto.
"En este periodo tomamos cuatro decisiones, todas acordadas con el PO, que simplificaron el sistema."
"El 28 de agosto dejamos la idea de revisar cuatro portales con robots y pasamos a una sola API, la de Licitaciones.info. Es más estable y más fácil de mantener."
"El 27 de septiembre acordamos con el PO los criterios que definen qué obra le interesa a GRECO."
"El 30 de septiembre descartamos la integración con el CRM, porque no tuvimos acceso a su API a tiempo. El propio PO la había llamado 'la milla extra'. La información llega en Excel."
"Y esta semana decidimos que el sistema genere un Excel aparte en lugar de escribir sobre Obras V6. Lo hicimos a propósito: no queremos arriesgar su archivo de control, con más de 550 registros y sus fórmulas, hasta validar las columnas contra el original."
TRANSICIÓN: "Y ahora, lo que necesitamos de ustedes."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 minuto 30 segundos. Hablen despacio: esto es lo que el comité debe recordar.
"Para cerrar el 3 de noviembre necesitamos cuatro decisiones esta semana."
"Uno: el archivo Obras V6 original. Hoy trabajamos con columnas tomadas de una captura de pantalla. Con el archivo real podemos anexar filas sin dañar sus fórmulas. Lo necesitamos antes del 15."
"Dos: decidir quién completa localidad, NIT y fecha de adjudicación. Hay tres caminos: que el asesor los complete como hoy, ampliar las fuentes, lo que cambia alcance y fecha, u operar sin ellos. Para el piloto recomendamos el primero."
"Tres: aprobar un reajuste. Proponemos terminar primero lo que el equipo comercial usa a diario, las alertas y la ejecución automática diaria, y dejar Power BI para después. Con eso el piloto iría del 20 al 27 de octubre y el cierre el 3 de noviembre, dentro de la reserva que ya teníamos."
"Cuatro: designar a la persona de GRECO que va a operar la solución y fijar la fecha de capacitación del equipo comercial."
SI EL COMITÉ RECHAZA LA 3: pregunten qué prefieren sacrificar, alcance o fecha, y anótenlo como decisión del comité.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30 segundos a 1 minuto (lo que quede para preguntas).
"Cerramos con una idea. GRECO toma escombro disperso y lo convierte en material útil. SAML hace lo mismo con la información: toma licitaciones dispersas y las convierte en oportunidades listas para vender. La parte difícil, la extracción, ya funciona. Con las cuatro decisiones de hoy, el equipo comercial la recibe a tiempo. Gracias. ¿Preguntas?"
PREGUNTAS PROBABLES:
- ¿Cuánto tiempo ahorra? Aún no lo medimos; se mide en el piloto contra la línea base. La meta es reducir al menos 40 %.
- ¿Qué tan confiables son los datos? Vienen de la entidad pública. El sistema no inventa ni corrige contenido: limpia formato, quita duplicados y marca lo dudoso. Cada fila trae el enlace al proceso original.
- ¿Qué pasa si Licitaciones.info se cae? El proceso se detiene sin entregar un Excel incompleto y los datos descargados se conservan.
- ¿Quién lo opera cuando terminen? Es la solicitud 4.
- ¿Por qué no está Power BI? Priorizamos lo que el equipo comercial usa a diario.
CONTROL DEL TIEMPO: si van pasados de 9 minutos, salten directo a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CE8E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txBox="1"/>
          <p:nvPr/>
        </p:nvSpPr>
        <p:spPr>
          <a:xfrm>
            <a:off x="685800" y="609600"/>
            <a:ext cx="5010150" cy="133350"/>
          </a:xfrm>
          <a:prstGeom prst="rect">
            <a:avLst/>
          </a:prstGeom>
          <a:noFill/>
          <a:ln/>
        </p:spPr>
        <p:txBody>
          <a:bodyPr wrap="square" lIns="0" tIns="0" rIns="0" bIns="0" rtlCol="0" anchor="t"/>
          <a:lstStyle/>
          <a:p>
            <a:pPr algn="l" indent="0" marL="0">
              <a:lnSpc>
                <a:spcPts val="1170"/>
              </a:lnSpc>
              <a:buNone/>
            </a:pPr>
            <a:r>
              <a:rPr lang="en-US" sz="980" b="1" spc="188" kern="0" dirty="0">
                <a:solidFill>
                  <a:srgbClr val="E8A33D"/>
                </a:solidFill>
                <a:latin typeface="Archivo" pitchFamily="34" charset="0"/>
                <a:ea typeface="Archivo" pitchFamily="34" charset="-122"/>
                <a:cs typeface="Archivo" pitchFamily="34" charset="-120"/>
              </a:rPr>
              <a:t>INFORME DE AVANCE · COMITÉ SPONSOR GRECO</a:t>
            </a:r>
            <a:endParaRPr lang="en-US" sz="980" dirty="0"/>
          </a:p>
        </p:txBody>
      </p:sp>
      <p:sp>
        <p:nvSpPr>
          <p:cNvPr id="4" name="Text 1"/>
          <p:cNvSpPr txBox="1"/>
          <p:nvPr/>
        </p:nvSpPr>
        <p:spPr>
          <a:xfrm>
            <a:off x="647700" y="1866900"/>
            <a:ext cx="5391150" cy="1428750"/>
          </a:xfrm>
          <a:prstGeom prst="rect">
            <a:avLst/>
          </a:prstGeom>
          <a:noFill/>
          <a:ln/>
        </p:spPr>
        <p:txBody>
          <a:bodyPr wrap="square" lIns="0" tIns="0" rIns="0" bIns="0" rtlCol="0" anchor="t"/>
          <a:lstStyle/>
          <a:p>
            <a:pPr algn="l" indent="0" marL="0">
              <a:lnSpc>
                <a:spcPts val="11250"/>
              </a:lnSpc>
              <a:buNone/>
            </a:pPr>
            <a:r>
              <a:rPr lang="en-US" sz="11250" b="1" spc="-375" kern="0" dirty="0">
                <a:solidFill>
                  <a:srgbClr val="ECE8E1"/>
                </a:solidFill>
                <a:latin typeface="Archivo" pitchFamily="34" charset="0"/>
                <a:ea typeface="Archivo" pitchFamily="34" charset="-122"/>
                <a:cs typeface="Archivo" pitchFamily="34" charset="-120"/>
              </a:rPr>
              <a:t>SAML</a:t>
            </a:r>
            <a:endParaRPr lang="en-US" sz="11250" dirty="0"/>
          </a:p>
        </p:txBody>
      </p:sp>
      <p:sp>
        <p:nvSpPr>
          <p:cNvPr id="5" name="Text 2"/>
          <p:cNvSpPr txBox="1"/>
          <p:nvPr/>
        </p:nvSpPr>
        <p:spPr>
          <a:xfrm>
            <a:off x="685800" y="3486150"/>
            <a:ext cx="5962650" cy="272355"/>
          </a:xfrm>
          <a:prstGeom prst="rect">
            <a:avLst/>
          </a:prstGeom>
          <a:noFill/>
          <a:ln/>
        </p:spPr>
        <p:txBody>
          <a:bodyPr wrap="square" lIns="0" tIns="0" rIns="0" bIns="0" rtlCol="0" anchor="t"/>
          <a:lstStyle/>
          <a:p>
            <a:pPr algn="l" indent="0" marL="0">
              <a:lnSpc>
                <a:spcPts val="2150"/>
              </a:lnSpc>
              <a:buNone/>
            </a:pPr>
            <a:r>
              <a:rPr lang="en-US" sz="1650" b="1" dirty="0">
                <a:solidFill>
                  <a:srgbClr val="ECE8E1"/>
                </a:solidFill>
                <a:latin typeface="Archivo" pitchFamily="34" charset="0"/>
                <a:ea typeface="Archivo" pitchFamily="34" charset="-122"/>
                <a:cs typeface="Archivo" pitchFamily="34" charset="-120"/>
              </a:rPr>
              <a:t>Sistema Automatizado de Monitoreo de Licitaciones</a:t>
            </a:r>
            <a:endParaRPr lang="en-US" sz="1650" dirty="0"/>
          </a:p>
        </p:txBody>
      </p:sp>
      <p:sp>
        <p:nvSpPr>
          <p:cNvPr id="6" name="Text 3"/>
          <p:cNvSpPr txBox="1"/>
          <p:nvPr/>
        </p:nvSpPr>
        <p:spPr>
          <a:xfrm>
            <a:off x="685800" y="4076700"/>
            <a:ext cx="4819650" cy="668536"/>
          </a:xfrm>
          <a:prstGeom prst="rect">
            <a:avLst/>
          </a:prstGeom>
          <a:noFill/>
          <a:ln/>
        </p:spPr>
        <p:txBody>
          <a:bodyPr wrap="square" lIns="0" tIns="0" rIns="0" bIns="0" rtlCol="0" anchor="t"/>
          <a:lstStyle/>
          <a:p>
            <a:pPr algn="l" indent="0" marL="0">
              <a:lnSpc>
                <a:spcPts val="2630"/>
              </a:lnSpc>
              <a:buNone/>
            </a:pPr>
            <a:r>
              <a:rPr lang="en-US" sz="2030" i="1" dirty="0">
                <a:solidFill>
                  <a:srgbClr val="CFCAC1"/>
                </a:solidFill>
                <a:latin typeface="Source Serif 4" pitchFamily="34" charset="0"/>
                <a:ea typeface="Source Serif 4" pitchFamily="34" charset="-122"/>
                <a:cs typeface="Source Serif 4" pitchFamily="34" charset="-120"/>
              </a:rPr>
              <a:t>Dónde estamos, qué nos puede frenar y qué necesitamos decidir hoy.</a:t>
            </a:r>
            <a:endParaRPr lang="en-US" sz="2030" dirty="0"/>
          </a:p>
        </p:txBody>
      </p:sp>
      <p:sp>
        <p:nvSpPr>
          <p:cNvPr id="7" name="Text 4"/>
          <p:cNvSpPr txBox="1"/>
          <p:nvPr/>
        </p:nvSpPr>
        <p:spPr>
          <a:xfrm>
            <a:off x="685800" y="5753100"/>
            <a:ext cx="5010150" cy="426541"/>
          </a:xfrm>
          <a:prstGeom prst="rect">
            <a:avLst/>
          </a:prstGeom>
          <a:noFill/>
          <a:ln/>
        </p:spPr>
        <p:txBody>
          <a:bodyPr wrap="square" lIns="0" tIns="0" rIns="0" bIns="0" rtlCol="0" anchor="t"/>
          <a:lstStyle/>
          <a:p>
            <a:pPr algn="l" indent="0" marL="0">
              <a:lnSpc>
                <a:spcPts val="1680"/>
              </a:lnSpc>
              <a:buNone/>
            </a:pPr>
            <a:r>
              <a:rPr lang="en-US" sz="1050" dirty="0">
                <a:solidFill>
                  <a:srgbClr val="A9ACA6"/>
                </a:solidFill>
                <a:latin typeface="Archivo" pitchFamily="34" charset="0"/>
                <a:ea typeface="Archivo" pitchFamily="34" charset="-122"/>
                <a:cs typeface="Archivo" pitchFamily="34" charset="-120"/>
              </a:rPr>
              <a:t>Samuel Villa · Cristóbal Rodríguez · Juan José Botero</a:t>
            </a:r>
            <a:endParaRPr lang="en-US" sz="1050" dirty="0"/>
          </a:p>
          <a:p>
            <a:pPr algn="l" indent="0" marL="0">
              <a:lnSpc>
                <a:spcPts val="1680"/>
              </a:lnSpc>
              <a:buNone/>
            </a:pPr>
            <a:r>
              <a:rPr lang="en-US" sz="1050" dirty="0">
                <a:solidFill>
                  <a:srgbClr val="A9ACA6"/>
                </a:solidFill>
                <a:latin typeface="Archivo" pitchFamily="34" charset="0"/>
                <a:ea typeface="Archivo" pitchFamily="34" charset="-122"/>
                <a:cs typeface="Archivo" pitchFamily="34" charset="-120"/>
              </a:rPr>
              <a:t>Emanuel Castañeda · Samuel Deossa</a:t>
            </a:r>
            <a:endParaRPr lang="en-US" sz="1050" dirty="0"/>
          </a:p>
        </p:txBody>
      </p:sp>
      <p:sp>
        <p:nvSpPr>
          <p:cNvPr id="8" name="Text 5"/>
          <p:cNvSpPr txBox="1"/>
          <p:nvPr/>
        </p:nvSpPr>
        <p:spPr>
          <a:xfrm>
            <a:off x="685800" y="6286500"/>
            <a:ext cx="5010150" cy="133350"/>
          </a:xfrm>
          <a:prstGeom prst="rect">
            <a:avLst/>
          </a:prstGeom>
          <a:noFill/>
          <a:ln/>
        </p:spPr>
        <p:txBody>
          <a:bodyPr wrap="square" lIns="0" tIns="0" rIns="0" bIns="0" rtlCol="0" anchor="t"/>
          <a:lstStyle/>
          <a:p>
            <a:pPr algn="l" indent="0" marL="0">
              <a:lnSpc>
                <a:spcPts val="1170"/>
              </a:lnSpc>
              <a:buNone/>
            </a:pPr>
            <a:r>
              <a:rPr lang="en-US" sz="980" b="1" spc="113" kern="0" dirty="0">
                <a:solidFill>
                  <a:srgbClr val="E8A33D"/>
                </a:solidFill>
                <a:latin typeface="Archivo" pitchFamily="34" charset="0"/>
                <a:ea typeface="Archivo" pitchFamily="34" charset="-122"/>
                <a:cs typeface="Archivo" pitchFamily="34" charset="-120"/>
              </a:rPr>
              <a:t>13 · 10 · 2026 — SI4008 · UNIVERSIDAD EAFIT</a:t>
            </a:r>
            <a:endParaRPr lang="en-US" sz="98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CE8E1"/>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CE8E1"/>
          </a:solidFill>
          <a:ln/>
        </p:spPr>
      </p:sp>
      <p:sp>
        <p:nvSpPr>
          <p:cNvPr id="3" name="Text 1"/>
          <p:cNvSpPr txBox="1"/>
          <p:nvPr/>
        </p:nvSpPr>
        <p:spPr>
          <a:xfrm>
            <a:off x="685800" y="381000"/>
            <a:ext cx="2968675" cy="133350"/>
          </a:xfrm>
          <a:prstGeom prst="rect">
            <a:avLst/>
          </a:prstGeom>
          <a:noFill/>
          <a:ln/>
        </p:spPr>
        <p:txBody>
          <a:bodyPr wrap="square" lIns="0" tIns="0" rIns="0" bIns="0" rtlCol="0" anchor="t"/>
          <a:lstStyle/>
          <a:p>
            <a:pPr algn="l" indent="0" marL="0">
              <a:lnSpc>
                <a:spcPts val="1080"/>
              </a:lnSpc>
              <a:buNone/>
            </a:pPr>
            <a:r>
              <a:rPr lang="en-US" sz="900" b="1" spc="188" kern="0" dirty="0">
                <a:solidFill>
                  <a:srgbClr val="5F635E"/>
                </a:solidFill>
                <a:latin typeface="Archivo" pitchFamily="34" charset="0"/>
                <a:ea typeface="Archivo" pitchFamily="34" charset="-122"/>
                <a:cs typeface="Archivo" pitchFamily="34" charset="-120"/>
              </a:rPr>
              <a:t>SAML · COMITÉ SPONSOR — LA TESIS</a:t>
            </a:r>
            <a:endParaRPr lang="en-US" sz="900" dirty="0"/>
          </a:p>
        </p:txBody>
      </p:sp>
      <p:sp>
        <p:nvSpPr>
          <p:cNvPr id="4" name="Text 2"/>
          <p:cNvSpPr txBox="1"/>
          <p:nvPr/>
        </p:nvSpPr>
        <p:spPr>
          <a:xfrm>
            <a:off x="685800" y="1333500"/>
            <a:ext cx="7296150" cy="2258318"/>
          </a:xfrm>
          <a:prstGeom prst="rect">
            <a:avLst/>
          </a:prstGeom>
          <a:noFill/>
          <a:ln/>
        </p:spPr>
        <p:txBody>
          <a:bodyPr wrap="square" lIns="0" tIns="0" rIns="0" bIns="0" rtlCol="0" anchor="t"/>
          <a:lstStyle/>
          <a:p>
            <a:pPr algn="l" indent="0" marL="0">
              <a:lnSpc>
                <a:spcPts val="5930"/>
              </a:lnSpc>
              <a:buNone/>
            </a:pPr>
            <a:r>
              <a:rPr lang="en-US" sz="5700" b="1" spc="-188" kern="0" dirty="0">
                <a:solidFill>
                  <a:srgbClr val="1E2122"/>
                </a:solidFill>
                <a:latin typeface="Archivo" pitchFamily="34" charset="0"/>
                <a:ea typeface="Archivo" pitchFamily="34" charset="-122"/>
                <a:cs typeface="Archivo" pitchFamily="34" charset="-120"/>
              </a:rPr>
              <a:t>La extracción</a:t>
            </a:r>
            <a:endParaRPr lang="en-US" sz="5700" dirty="0"/>
          </a:p>
          <a:p>
            <a:pPr algn="l" indent="0" marL="0">
              <a:lnSpc>
                <a:spcPts val="5930"/>
              </a:lnSpc>
              <a:buNone/>
            </a:pPr>
            <a:r>
              <a:rPr lang="en-US" sz="5700" b="1" spc="-188" kern="0" dirty="0">
                <a:solidFill>
                  <a:srgbClr val="1E2122"/>
                </a:solidFill>
                <a:latin typeface="Archivo" pitchFamily="34" charset="0"/>
                <a:ea typeface="Archivo" pitchFamily="34" charset="-122"/>
                <a:cs typeface="Archivo" pitchFamily="34" charset="-120"/>
              </a:rPr>
              <a:t>ya funciona.</a:t>
            </a:r>
            <a:endParaRPr lang="en-US" sz="5700" dirty="0"/>
          </a:p>
          <a:p>
            <a:pPr algn="l" indent="0" marL="0">
              <a:lnSpc>
                <a:spcPts val="5930"/>
              </a:lnSpc>
              <a:buNone/>
            </a:pPr>
            <a:r>
              <a:rPr lang="en-US" sz="5700" b="1" spc="-188" kern="0" dirty="0">
                <a:solidFill>
                  <a:srgbClr val="B5482A"/>
                </a:solidFill>
                <a:latin typeface="Archivo" pitchFamily="34" charset="0"/>
                <a:ea typeface="Archivo" pitchFamily="34" charset="-122"/>
                <a:cs typeface="Archivo" pitchFamily="34" charset="-120"/>
              </a:rPr>
              <a:t>El calendario, no.</a:t>
            </a:r>
            <a:endParaRPr lang="en-US" sz="5700" dirty="0"/>
          </a:p>
        </p:txBody>
      </p:sp>
      <p:sp>
        <p:nvSpPr>
          <p:cNvPr id="5" name="Text 3"/>
          <p:cNvSpPr txBox="1"/>
          <p:nvPr/>
        </p:nvSpPr>
        <p:spPr>
          <a:xfrm>
            <a:off x="723900" y="4191000"/>
            <a:ext cx="6343650" cy="985838"/>
          </a:xfrm>
          <a:prstGeom prst="rect">
            <a:avLst/>
          </a:prstGeom>
          <a:noFill/>
          <a:ln/>
        </p:spPr>
        <p:txBody>
          <a:bodyPr wrap="square" lIns="0" tIns="0" rIns="0" bIns="0" rtlCol="0" anchor="t"/>
          <a:lstStyle/>
          <a:p>
            <a:pPr algn="l" indent="0" marL="0">
              <a:lnSpc>
                <a:spcPts val="2590"/>
              </a:lnSpc>
              <a:buNone/>
            </a:pPr>
            <a:r>
              <a:rPr lang="en-US" sz="1880" i="1" dirty="0">
                <a:solidFill>
                  <a:srgbClr val="3F4341"/>
                </a:solidFill>
                <a:latin typeface="Source Serif 4" pitchFamily="34" charset="0"/>
                <a:ea typeface="Source Serif 4" pitchFamily="34" charset="-122"/>
                <a:cs typeface="Source Serif 4" pitchFamily="34" charset="-120"/>
              </a:rPr>
              <a:t>Un clic trae, limpia y verifica las licitaciones adjudicadas. Pero el motor de limpieza llegó tarde, arrastró dos hitos y dejó en riesgo el piloto con el equipo comercial.</a:t>
            </a:r>
            <a:endParaRPr lang="en-US" sz="1880" dirty="0"/>
          </a:p>
        </p:txBody>
      </p:sp>
      <p:sp>
        <p:nvSpPr>
          <p:cNvPr id="6" name="Shape 4"/>
          <p:cNvSpPr/>
          <p:nvPr/>
        </p:nvSpPr>
        <p:spPr>
          <a:xfrm>
            <a:off x="8267700" y="1257300"/>
            <a:ext cx="19050" cy="4476750"/>
          </a:xfrm>
          <a:prstGeom prst="rect">
            <a:avLst/>
          </a:prstGeom>
          <a:solidFill>
            <a:srgbClr val="CFC8BC"/>
          </a:solidFill>
          <a:ln/>
        </p:spPr>
      </p:sp>
      <p:sp>
        <p:nvSpPr>
          <p:cNvPr id="7" name="Text 5"/>
          <p:cNvSpPr txBox="1"/>
          <p:nvPr/>
        </p:nvSpPr>
        <p:spPr>
          <a:xfrm>
            <a:off x="8667750" y="1219200"/>
            <a:ext cx="2914650" cy="609600"/>
          </a:xfrm>
          <a:prstGeom prst="rect">
            <a:avLst/>
          </a:prstGeom>
          <a:noFill/>
          <a:ln/>
        </p:spPr>
        <p:txBody>
          <a:bodyPr wrap="square" lIns="0" tIns="0" rIns="0" bIns="0" rtlCol="0" anchor="t"/>
          <a:lstStyle/>
          <a:p>
            <a:pPr algn="l" indent="0" marL="0">
              <a:lnSpc>
                <a:spcPts val="4800"/>
              </a:lnSpc>
              <a:buNone/>
            </a:pPr>
            <a:r>
              <a:rPr lang="en-US" sz="4800" b="1" spc="-150" kern="0" dirty="0">
                <a:solidFill>
                  <a:srgbClr val="1E2122"/>
                </a:solidFill>
                <a:latin typeface="Archivo" pitchFamily="34" charset="0"/>
                <a:ea typeface="Archivo" pitchFamily="34" charset="-122"/>
                <a:cs typeface="Archivo" pitchFamily="34" charset="-120"/>
              </a:rPr>
              <a:t>4 </a:t>
            </a:r>
            <a:pPr algn="l" indent="0" marL="0">
              <a:lnSpc>
                <a:spcPts val="4800"/>
              </a:lnSpc>
              <a:buNone/>
            </a:pPr>
            <a:r>
              <a:rPr lang="en-US" sz="2250" b="1" spc="-150" kern="0" dirty="0">
                <a:solidFill>
                  <a:srgbClr val="5F635E"/>
                </a:solidFill>
                <a:latin typeface="Archivo" pitchFamily="34" charset="0"/>
                <a:ea typeface="Archivo" pitchFamily="34" charset="-122"/>
                <a:cs typeface="Archivo" pitchFamily="34" charset="-120"/>
              </a:rPr>
              <a:t>de 8</a:t>
            </a:r>
            <a:endParaRPr lang="en-US" sz="4800" dirty="0"/>
          </a:p>
        </p:txBody>
      </p:sp>
      <p:sp>
        <p:nvSpPr>
          <p:cNvPr id="8" name="Text 6"/>
          <p:cNvSpPr txBox="1"/>
          <p:nvPr/>
        </p:nvSpPr>
        <p:spPr>
          <a:xfrm>
            <a:off x="8686800" y="1943100"/>
            <a:ext cx="2914650" cy="218480"/>
          </a:xfrm>
          <a:prstGeom prst="rect">
            <a:avLst/>
          </a:prstGeom>
          <a:noFill/>
          <a:ln/>
        </p:spPr>
        <p:txBody>
          <a:bodyPr wrap="square" lIns="0" tIns="0" rIns="0" bIns="0" rtlCol="0" anchor="t"/>
          <a:lstStyle/>
          <a:p>
            <a:pPr algn="l" indent="0" marL="0">
              <a:lnSpc>
                <a:spcPts val="1720"/>
              </a:lnSpc>
              <a:buNone/>
            </a:pPr>
            <a:r>
              <a:rPr lang="en-US" sz="1280" dirty="0">
                <a:solidFill>
                  <a:srgbClr val="5F635E"/>
                </a:solidFill>
                <a:latin typeface="Archivo" pitchFamily="34" charset="0"/>
                <a:ea typeface="Archivo" pitchFamily="34" charset="-122"/>
                <a:cs typeface="Archivo" pitchFamily="34" charset="-120"/>
              </a:rPr>
              <a:t>hito en curso; el 3 y el 4 siguen a medias</a:t>
            </a:r>
            <a:endParaRPr lang="en-US" sz="1280" dirty="0"/>
          </a:p>
        </p:txBody>
      </p:sp>
      <p:sp>
        <p:nvSpPr>
          <p:cNvPr id="9" name="Shape 7"/>
          <p:cNvSpPr/>
          <p:nvPr/>
        </p:nvSpPr>
        <p:spPr>
          <a:xfrm>
            <a:off x="8667750" y="2667000"/>
            <a:ext cx="2857500" cy="9525"/>
          </a:xfrm>
          <a:prstGeom prst="rect">
            <a:avLst/>
          </a:prstGeom>
          <a:solidFill>
            <a:srgbClr val="CFC8BC"/>
          </a:solidFill>
          <a:ln/>
        </p:spPr>
      </p:sp>
      <p:sp>
        <p:nvSpPr>
          <p:cNvPr id="10" name="Text 8"/>
          <p:cNvSpPr txBox="1"/>
          <p:nvPr/>
        </p:nvSpPr>
        <p:spPr>
          <a:xfrm>
            <a:off x="8667750" y="2895600"/>
            <a:ext cx="2914650" cy="609600"/>
          </a:xfrm>
          <a:prstGeom prst="rect">
            <a:avLst/>
          </a:prstGeom>
          <a:noFill/>
          <a:ln/>
        </p:spPr>
        <p:txBody>
          <a:bodyPr wrap="square" lIns="0" tIns="0" rIns="0" bIns="0" rtlCol="0" anchor="t"/>
          <a:lstStyle/>
          <a:p>
            <a:pPr algn="l" indent="0" marL="0">
              <a:lnSpc>
                <a:spcPts val="4800"/>
              </a:lnSpc>
              <a:buNone/>
            </a:pPr>
            <a:r>
              <a:rPr lang="en-US" sz="4800" b="1" spc="-150" kern="0" dirty="0">
                <a:solidFill>
                  <a:srgbClr val="B5482A"/>
                </a:solidFill>
                <a:latin typeface="Archivo" pitchFamily="34" charset="0"/>
                <a:ea typeface="Archivo" pitchFamily="34" charset="-122"/>
                <a:cs typeface="Archivo" pitchFamily="34" charset="-120"/>
              </a:rPr>
              <a:t>+20 </a:t>
            </a:r>
            <a:pPr algn="l" indent="0" marL="0">
              <a:lnSpc>
                <a:spcPts val="4800"/>
              </a:lnSpc>
              <a:buNone/>
            </a:pPr>
            <a:r>
              <a:rPr lang="en-US" sz="2250" b="1" spc="-150" kern="0" dirty="0">
                <a:solidFill>
                  <a:srgbClr val="B5482A"/>
                </a:solidFill>
                <a:latin typeface="Archivo" pitchFamily="34" charset="0"/>
                <a:ea typeface="Archivo" pitchFamily="34" charset="-122"/>
                <a:cs typeface="Archivo" pitchFamily="34" charset="-120"/>
              </a:rPr>
              <a:t>días</a:t>
            </a:r>
            <a:endParaRPr lang="en-US" sz="4800" dirty="0"/>
          </a:p>
        </p:txBody>
      </p:sp>
      <p:sp>
        <p:nvSpPr>
          <p:cNvPr id="11" name="Text 9"/>
          <p:cNvSpPr txBox="1"/>
          <p:nvPr/>
        </p:nvSpPr>
        <p:spPr>
          <a:xfrm>
            <a:off x="8686800" y="3619500"/>
            <a:ext cx="2914650" cy="436959"/>
          </a:xfrm>
          <a:prstGeom prst="rect">
            <a:avLst/>
          </a:prstGeom>
          <a:noFill/>
          <a:ln/>
        </p:spPr>
        <p:txBody>
          <a:bodyPr wrap="square" lIns="0" tIns="0" rIns="0" bIns="0" rtlCol="0" anchor="t"/>
          <a:lstStyle/>
          <a:p>
            <a:pPr algn="l" indent="0" marL="0">
              <a:lnSpc>
                <a:spcPts val="1720"/>
              </a:lnSpc>
              <a:buNone/>
            </a:pPr>
            <a:r>
              <a:rPr lang="en-US" sz="1280" dirty="0">
                <a:solidFill>
                  <a:srgbClr val="5F635E"/>
                </a:solidFill>
                <a:latin typeface="Archivo" pitchFamily="34" charset="0"/>
                <a:ea typeface="Archivo" pitchFamily="34" charset="-122"/>
                <a:cs typeface="Archivo" pitchFamily="34" charset="-120"/>
              </a:rPr>
              <a:t>de atraso del motor de limpieza, en la ruta crítica</a:t>
            </a:r>
            <a:endParaRPr lang="en-US" sz="1280" dirty="0"/>
          </a:p>
        </p:txBody>
      </p:sp>
      <p:sp>
        <p:nvSpPr>
          <p:cNvPr id="12" name="Shape 10"/>
          <p:cNvSpPr/>
          <p:nvPr/>
        </p:nvSpPr>
        <p:spPr>
          <a:xfrm>
            <a:off x="8667750" y="4343400"/>
            <a:ext cx="2857500" cy="9525"/>
          </a:xfrm>
          <a:prstGeom prst="rect">
            <a:avLst/>
          </a:prstGeom>
          <a:solidFill>
            <a:srgbClr val="CFC8BC"/>
          </a:solidFill>
          <a:ln/>
        </p:spPr>
      </p:sp>
      <p:sp>
        <p:nvSpPr>
          <p:cNvPr id="13" name="Text 11"/>
          <p:cNvSpPr txBox="1"/>
          <p:nvPr/>
        </p:nvSpPr>
        <p:spPr>
          <a:xfrm>
            <a:off x="8667750" y="4572000"/>
            <a:ext cx="2914650" cy="609600"/>
          </a:xfrm>
          <a:prstGeom prst="rect">
            <a:avLst/>
          </a:prstGeom>
          <a:noFill/>
          <a:ln/>
        </p:spPr>
        <p:txBody>
          <a:bodyPr wrap="square" lIns="0" tIns="0" rIns="0" bIns="0" rtlCol="0" anchor="t"/>
          <a:lstStyle/>
          <a:p>
            <a:pPr algn="l" indent="0" marL="0">
              <a:lnSpc>
                <a:spcPts val="4800"/>
              </a:lnSpc>
              <a:buNone/>
            </a:pPr>
            <a:r>
              <a:rPr lang="en-US" sz="4800" b="1" spc="-150" kern="0" dirty="0">
                <a:solidFill>
                  <a:srgbClr val="1E2122"/>
                </a:solidFill>
                <a:latin typeface="Archivo" pitchFamily="34" charset="0"/>
                <a:ea typeface="Archivo" pitchFamily="34" charset="-122"/>
                <a:cs typeface="Archivo" pitchFamily="34" charset="-120"/>
              </a:rPr>
              <a:t>4</a:t>
            </a:r>
            <a:endParaRPr lang="en-US" sz="4800" dirty="0"/>
          </a:p>
        </p:txBody>
      </p:sp>
      <p:sp>
        <p:nvSpPr>
          <p:cNvPr id="14" name="Text 12"/>
          <p:cNvSpPr txBox="1"/>
          <p:nvPr/>
        </p:nvSpPr>
        <p:spPr>
          <a:xfrm>
            <a:off x="8686800" y="5295900"/>
            <a:ext cx="2914650" cy="436959"/>
          </a:xfrm>
          <a:prstGeom prst="rect">
            <a:avLst/>
          </a:prstGeom>
          <a:noFill/>
          <a:ln/>
        </p:spPr>
        <p:txBody>
          <a:bodyPr wrap="square" lIns="0" tIns="0" rIns="0" bIns="0" rtlCol="0" anchor="t"/>
          <a:lstStyle/>
          <a:p>
            <a:pPr algn="l" indent="0" marL="0">
              <a:lnSpc>
                <a:spcPts val="1720"/>
              </a:lnSpc>
              <a:buNone/>
            </a:pPr>
            <a:r>
              <a:rPr lang="en-US" sz="1280" dirty="0">
                <a:solidFill>
                  <a:srgbClr val="5F635E"/>
                </a:solidFill>
                <a:latin typeface="Archivo" pitchFamily="34" charset="0"/>
                <a:ea typeface="Archivo" pitchFamily="34" charset="-122"/>
                <a:cs typeface="Archivo" pitchFamily="34" charset="-120"/>
              </a:rPr>
              <a:t>decisiones que le pedimos hoy al comité</a:t>
            </a:r>
            <a:endParaRPr lang="en-US" sz="1280" dirty="0"/>
          </a:p>
        </p:txBody>
      </p:sp>
      <p:sp>
        <p:nvSpPr>
          <p:cNvPr id="15" name="Text 13"/>
          <p:cNvSpPr txBox="1"/>
          <p:nvPr/>
        </p:nvSpPr>
        <p:spPr>
          <a:xfrm>
            <a:off x="685800" y="6400800"/>
            <a:ext cx="4404717" cy="133350"/>
          </a:xfrm>
          <a:prstGeom prst="rect">
            <a:avLst/>
          </a:prstGeom>
          <a:noFill/>
          <a:ln/>
        </p:spPr>
        <p:txBody>
          <a:bodyPr wrap="square" lIns="0" tIns="0" rIns="0" bIns="0" rtlCol="0" anchor="t"/>
          <a:lstStyle/>
          <a:p>
            <a:pPr algn="l" indent="0" marL="0">
              <a:lnSpc>
                <a:spcPts val="1080"/>
              </a:lnSpc>
              <a:buNone/>
            </a:pPr>
            <a:r>
              <a:rPr lang="en-US" sz="900" spc="22" kern="0" dirty="0">
                <a:solidFill>
                  <a:srgbClr val="5F635E"/>
                </a:solidFill>
                <a:latin typeface="Archivo" pitchFamily="34" charset="0"/>
                <a:ea typeface="Archivo" pitchFamily="34" charset="-122"/>
                <a:cs typeface="Archivo" pitchFamily="34" charset="-120"/>
              </a:rPr>
              <a:t>Fuente: repositorio SAML (commits del 08-10 y 12-10) y cronograma del Anexo C.</a:t>
            </a:r>
            <a:endParaRPr lang="en-US" sz="900" dirty="0"/>
          </a:p>
        </p:txBody>
      </p:sp>
      <p:sp>
        <p:nvSpPr>
          <p:cNvPr id="16" name="Text 14"/>
          <p:cNvSpPr txBox="1"/>
          <p:nvPr/>
        </p:nvSpPr>
        <p:spPr>
          <a:xfrm>
            <a:off x="11342489" y="6343650"/>
            <a:ext cx="220861" cy="209550"/>
          </a:xfrm>
          <a:prstGeom prst="rect">
            <a:avLst/>
          </a:prstGeom>
          <a:noFill/>
          <a:ln/>
        </p:spPr>
        <p:txBody>
          <a:bodyPr wrap="square" lIns="0" tIns="0" rIns="0" bIns="0" rtlCol="0" anchor="t"/>
          <a:lstStyle/>
          <a:p>
            <a:pPr algn="l" indent="0" marL="0">
              <a:lnSpc>
                <a:spcPts val="1440"/>
              </a:lnSpc>
              <a:buNone/>
            </a:pPr>
            <a:r>
              <a:rPr lang="en-US" sz="1200" i="1" dirty="0">
                <a:solidFill>
                  <a:srgbClr val="5F635E"/>
                </a:solidFill>
                <a:latin typeface="Source Serif 4" pitchFamily="34" charset="0"/>
                <a:ea typeface="Source Serif 4" pitchFamily="34" charset="-122"/>
                <a:cs typeface="Source Serif 4"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CE8E1"/>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CE8E1"/>
          </a:solidFill>
          <a:ln/>
        </p:spPr>
      </p:sp>
      <p:sp>
        <p:nvSpPr>
          <p:cNvPr id="3" name="Text 1"/>
          <p:cNvSpPr txBox="1"/>
          <p:nvPr/>
        </p:nvSpPr>
        <p:spPr>
          <a:xfrm>
            <a:off x="685800" y="381000"/>
            <a:ext cx="4541490" cy="133350"/>
          </a:xfrm>
          <a:prstGeom prst="rect">
            <a:avLst/>
          </a:prstGeom>
          <a:noFill/>
          <a:ln/>
        </p:spPr>
        <p:txBody>
          <a:bodyPr wrap="square" lIns="0" tIns="0" rIns="0" bIns="0" rtlCol="0" anchor="t"/>
          <a:lstStyle/>
          <a:p>
            <a:pPr algn="l" indent="0" marL="0">
              <a:lnSpc>
                <a:spcPts val="1080"/>
              </a:lnSpc>
              <a:buNone/>
            </a:pPr>
            <a:r>
              <a:rPr lang="en-US" sz="900" b="1" spc="188" kern="0" dirty="0">
                <a:solidFill>
                  <a:srgbClr val="5F635E"/>
                </a:solidFill>
                <a:latin typeface="Archivo" pitchFamily="34" charset="0"/>
                <a:ea typeface="Archivo" pitchFamily="34" charset="-122"/>
                <a:cs typeface="Archivo" pitchFamily="34" charset="-120"/>
              </a:rPr>
              <a:t>SAML · COMITÉ SPONSOR — AVANCE REAL VS. PLANEADO</a:t>
            </a:r>
            <a:endParaRPr lang="en-US" sz="900" dirty="0"/>
          </a:p>
        </p:txBody>
      </p:sp>
      <p:sp>
        <p:nvSpPr>
          <p:cNvPr id="4" name="Text 2"/>
          <p:cNvSpPr txBox="1"/>
          <p:nvPr/>
        </p:nvSpPr>
        <p:spPr>
          <a:xfrm>
            <a:off x="685800" y="666750"/>
            <a:ext cx="10877550" cy="383977"/>
          </a:xfrm>
          <a:prstGeom prst="rect">
            <a:avLst/>
          </a:prstGeom>
          <a:noFill/>
          <a:ln/>
        </p:spPr>
        <p:txBody>
          <a:bodyPr wrap="square" lIns="0" tIns="0" rIns="0" bIns="0" rtlCol="0" anchor="t"/>
          <a:lstStyle/>
          <a:p>
            <a:pPr algn="l" indent="0" marL="0">
              <a:lnSpc>
                <a:spcPts val="3020"/>
              </a:lnSpc>
              <a:buNone/>
            </a:pPr>
            <a:r>
              <a:rPr lang="en-US" sz="2700" b="1" spc="-38" kern="0" dirty="0">
                <a:solidFill>
                  <a:srgbClr val="1E2122"/>
                </a:solidFill>
                <a:latin typeface="Archivo" pitchFamily="34" charset="0"/>
                <a:ea typeface="Archivo" pitchFamily="34" charset="-122"/>
                <a:cs typeface="Archivo" pitchFamily="34" charset="-120"/>
              </a:rPr>
              <a:t>El motor de limpieza llegó 20 días tarde y dejó abiertos los hitos 3 y 4</a:t>
            </a:r>
            <a:endParaRPr lang="en-US" sz="2700" dirty="0"/>
          </a:p>
        </p:txBody>
      </p:sp>
      <p:sp>
        <p:nvSpPr>
          <p:cNvPr id="5" name="Shape 3"/>
          <p:cNvSpPr/>
          <p:nvPr/>
        </p:nvSpPr>
        <p:spPr>
          <a:xfrm>
            <a:off x="10506075" y="1866900"/>
            <a:ext cx="923925" cy="3733800"/>
          </a:xfrm>
          <a:prstGeom prst="rect">
            <a:avLst/>
          </a:prstGeom>
          <a:solidFill>
            <a:srgbClr val="DDD7CC"/>
          </a:solidFill>
          <a:ln/>
        </p:spPr>
      </p:sp>
      <p:sp>
        <p:nvSpPr>
          <p:cNvPr id="6" name="Text 4"/>
          <p:cNvSpPr txBox="1"/>
          <p:nvPr/>
        </p:nvSpPr>
        <p:spPr>
          <a:xfrm>
            <a:off x="10553700" y="1905000"/>
            <a:ext cx="933450" cy="285750"/>
          </a:xfrm>
          <a:prstGeom prst="rect">
            <a:avLst/>
          </a:prstGeom>
          <a:noFill/>
          <a:ln/>
        </p:spPr>
        <p:txBody>
          <a:bodyPr wrap="square" lIns="0" tIns="0" rIns="0" bIns="0" rtlCol="0" anchor="t"/>
          <a:lstStyle/>
          <a:p>
            <a:pPr algn="l" indent="0" marL="0">
              <a:lnSpc>
                <a:spcPts val="1130"/>
              </a:lnSpc>
              <a:buNone/>
            </a:pPr>
            <a:r>
              <a:rPr lang="en-US" sz="900" b="1" spc="75" kern="0" dirty="0">
                <a:solidFill>
                  <a:srgbClr val="5F635E"/>
                </a:solidFill>
                <a:latin typeface="Archivo" pitchFamily="34" charset="0"/>
                <a:ea typeface="Archivo" pitchFamily="34" charset="-122"/>
                <a:cs typeface="Archivo" pitchFamily="34" charset="-120"/>
              </a:rPr>
              <a:t>RESERVA</a:t>
            </a:r>
            <a:endParaRPr lang="en-US" sz="900" dirty="0"/>
          </a:p>
          <a:p>
            <a:pPr algn="l" indent="0" marL="0">
              <a:lnSpc>
                <a:spcPts val="1130"/>
              </a:lnSpc>
              <a:buNone/>
            </a:pPr>
            <a:r>
              <a:rPr lang="en-US" sz="900" b="1" spc="75" kern="0" dirty="0">
                <a:solidFill>
                  <a:srgbClr val="5F635E"/>
                </a:solidFill>
                <a:latin typeface="Archivo" pitchFamily="34" charset="0"/>
                <a:ea typeface="Archivo" pitchFamily="34" charset="-122"/>
                <a:cs typeface="Archivo" pitchFamily="34" charset="-120"/>
              </a:rPr>
              <a:t>hasta 03-11</a:t>
            </a:r>
            <a:endParaRPr lang="en-US" sz="900" dirty="0"/>
          </a:p>
        </p:txBody>
      </p:sp>
      <p:sp>
        <p:nvSpPr>
          <p:cNvPr id="7" name="Shape 5"/>
          <p:cNvSpPr/>
          <p:nvPr/>
        </p:nvSpPr>
        <p:spPr>
          <a:xfrm>
            <a:off x="2857500" y="2171700"/>
            <a:ext cx="8572500" cy="9525"/>
          </a:xfrm>
          <a:prstGeom prst="rect">
            <a:avLst/>
          </a:prstGeom>
          <a:solidFill>
            <a:srgbClr val="D3CCC0"/>
          </a:solidFill>
          <a:ln/>
        </p:spPr>
      </p:sp>
      <p:sp>
        <p:nvSpPr>
          <p:cNvPr id="8" name="Shape 6"/>
          <p:cNvSpPr/>
          <p:nvPr/>
        </p:nvSpPr>
        <p:spPr>
          <a:xfrm>
            <a:off x="2857500" y="2609850"/>
            <a:ext cx="8572500" cy="9525"/>
          </a:xfrm>
          <a:prstGeom prst="rect">
            <a:avLst/>
          </a:prstGeom>
          <a:solidFill>
            <a:srgbClr val="D3CCC0"/>
          </a:solidFill>
          <a:ln/>
        </p:spPr>
      </p:sp>
      <p:sp>
        <p:nvSpPr>
          <p:cNvPr id="9" name="Shape 7"/>
          <p:cNvSpPr/>
          <p:nvPr/>
        </p:nvSpPr>
        <p:spPr>
          <a:xfrm>
            <a:off x="2857500" y="3048000"/>
            <a:ext cx="8572500" cy="9525"/>
          </a:xfrm>
          <a:prstGeom prst="rect">
            <a:avLst/>
          </a:prstGeom>
          <a:solidFill>
            <a:srgbClr val="D3CCC0"/>
          </a:solidFill>
          <a:ln/>
        </p:spPr>
      </p:sp>
      <p:sp>
        <p:nvSpPr>
          <p:cNvPr id="10" name="Shape 8"/>
          <p:cNvSpPr/>
          <p:nvPr/>
        </p:nvSpPr>
        <p:spPr>
          <a:xfrm>
            <a:off x="2857500" y="3486150"/>
            <a:ext cx="8572500" cy="9525"/>
          </a:xfrm>
          <a:prstGeom prst="rect">
            <a:avLst/>
          </a:prstGeom>
          <a:solidFill>
            <a:srgbClr val="D3CCC0"/>
          </a:solidFill>
          <a:ln/>
        </p:spPr>
      </p:sp>
      <p:sp>
        <p:nvSpPr>
          <p:cNvPr id="11" name="Shape 9"/>
          <p:cNvSpPr/>
          <p:nvPr/>
        </p:nvSpPr>
        <p:spPr>
          <a:xfrm>
            <a:off x="2857500" y="3924300"/>
            <a:ext cx="8572500" cy="9525"/>
          </a:xfrm>
          <a:prstGeom prst="rect">
            <a:avLst/>
          </a:prstGeom>
          <a:solidFill>
            <a:srgbClr val="D3CCC0"/>
          </a:solidFill>
          <a:ln/>
        </p:spPr>
      </p:sp>
      <p:sp>
        <p:nvSpPr>
          <p:cNvPr id="12" name="Shape 10"/>
          <p:cNvSpPr/>
          <p:nvPr/>
        </p:nvSpPr>
        <p:spPr>
          <a:xfrm>
            <a:off x="2857500" y="4362450"/>
            <a:ext cx="8572500" cy="9525"/>
          </a:xfrm>
          <a:prstGeom prst="rect">
            <a:avLst/>
          </a:prstGeom>
          <a:solidFill>
            <a:srgbClr val="D3CCC0"/>
          </a:solidFill>
          <a:ln/>
        </p:spPr>
      </p:sp>
      <p:sp>
        <p:nvSpPr>
          <p:cNvPr id="13" name="Shape 11"/>
          <p:cNvSpPr/>
          <p:nvPr/>
        </p:nvSpPr>
        <p:spPr>
          <a:xfrm>
            <a:off x="2857500" y="4800600"/>
            <a:ext cx="8572500" cy="9525"/>
          </a:xfrm>
          <a:prstGeom prst="rect">
            <a:avLst/>
          </a:prstGeom>
          <a:solidFill>
            <a:srgbClr val="D3CCC0"/>
          </a:solidFill>
          <a:ln/>
        </p:spPr>
      </p:sp>
      <p:sp>
        <p:nvSpPr>
          <p:cNvPr id="14" name="Shape 12"/>
          <p:cNvSpPr/>
          <p:nvPr/>
        </p:nvSpPr>
        <p:spPr>
          <a:xfrm>
            <a:off x="2857500" y="5238750"/>
            <a:ext cx="8572500" cy="9525"/>
          </a:xfrm>
          <a:prstGeom prst="rect">
            <a:avLst/>
          </a:prstGeom>
          <a:solidFill>
            <a:srgbClr val="D3CCC0"/>
          </a:solidFill>
          <a:ln/>
        </p:spPr>
      </p:sp>
      <p:sp>
        <p:nvSpPr>
          <p:cNvPr id="15" name="Shape 13"/>
          <p:cNvSpPr/>
          <p:nvPr/>
        </p:nvSpPr>
        <p:spPr>
          <a:xfrm>
            <a:off x="8648700" y="1733550"/>
            <a:ext cx="28575" cy="3905250"/>
          </a:xfrm>
          <a:prstGeom prst="rect">
            <a:avLst/>
          </a:prstGeom>
          <a:solidFill>
            <a:srgbClr val="E8A33D"/>
          </a:solidFill>
          <a:ln/>
        </p:spPr>
      </p:sp>
      <p:sp>
        <p:nvSpPr>
          <p:cNvPr id="16" name="Text 14"/>
          <p:cNvSpPr txBox="1"/>
          <p:nvPr/>
        </p:nvSpPr>
        <p:spPr>
          <a:xfrm>
            <a:off x="8382000" y="1524000"/>
            <a:ext cx="628650" cy="133350"/>
          </a:xfrm>
          <a:prstGeom prst="rect">
            <a:avLst/>
          </a:prstGeom>
          <a:noFill/>
          <a:ln/>
        </p:spPr>
        <p:txBody>
          <a:bodyPr wrap="square" lIns="0" tIns="0" rIns="0" bIns="0" rtlCol="0" anchor="t"/>
          <a:lstStyle/>
          <a:p>
            <a:pPr algn="ctr" indent="0" marL="0">
              <a:lnSpc>
                <a:spcPts val="1080"/>
              </a:lnSpc>
              <a:buNone/>
            </a:pPr>
            <a:r>
              <a:rPr lang="en-US" sz="900" b="1" spc="75" kern="0" dirty="0">
                <a:solidFill>
                  <a:srgbClr val="9A5E12"/>
                </a:solidFill>
                <a:latin typeface="Archivo" pitchFamily="34" charset="0"/>
                <a:ea typeface="Archivo" pitchFamily="34" charset="-122"/>
                <a:cs typeface="Archivo" pitchFamily="34" charset="-120"/>
              </a:rPr>
              <a:t>HOY</a:t>
            </a:r>
            <a:endParaRPr lang="en-US" sz="900" dirty="0"/>
          </a:p>
        </p:txBody>
      </p:sp>
      <p:sp>
        <p:nvSpPr>
          <p:cNvPr id="17" name="Text 15"/>
          <p:cNvSpPr txBox="1"/>
          <p:nvPr/>
        </p:nvSpPr>
        <p:spPr>
          <a:xfrm>
            <a:off x="685800" y="2076450"/>
            <a:ext cx="2152650" cy="152400"/>
          </a:xfrm>
          <a:prstGeom prst="rect">
            <a:avLst/>
          </a:prstGeom>
          <a:noFill/>
          <a:ln/>
        </p:spPr>
        <p:txBody>
          <a:bodyPr wrap="square" lIns="0" tIns="0" rIns="0" bIns="0" rtlCol="0" anchor="t"/>
          <a:lstStyle/>
          <a:p>
            <a:pPr algn="l" indent="0" marL="0">
              <a:lnSpc>
                <a:spcPts val="1350"/>
              </a:lnSpc>
              <a:buNone/>
            </a:pPr>
            <a:r>
              <a:rPr lang="en-US" sz="1130" b="1" dirty="0">
                <a:solidFill>
                  <a:srgbClr val="1E2122"/>
                </a:solidFill>
                <a:latin typeface="Archivo" pitchFamily="34" charset="0"/>
                <a:ea typeface="Archivo" pitchFamily="34" charset="-122"/>
                <a:cs typeface="Archivo" pitchFamily="34" charset="-120"/>
              </a:rPr>
              <a:t>H1</a:t>
            </a:r>
            <a:pPr algn="l" indent="0" marL="0">
              <a:lnSpc>
                <a:spcPts val="1350"/>
              </a:lnSpc>
              <a:buNone/>
            </a:pPr>
            <a:r>
              <a:rPr lang="en-US" sz="1130" dirty="0">
                <a:solidFill>
                  <a:srgbClr val="1E2122"/>
                </a:solidFill>
                <a:latin typeface="Archivo" pitchFamily="34" charset="0"/>
                <a:ea typeface="Archivo" pitchFamily="34" charset="-122"/>
                <a:cs typeface="Archivo" pitchFamily="34" charset="-120"/>
              </a:rPr>
              <a:t> · Formulación</a:t>
            </a:r>
            <a:endParaRPr lang="en-US" sz="1130" dirty="0"/>
          </a:p>
        </p:txBody>
      </p:sp>
      <p:sp>
        <p:nvSpPr>
          <p:cNvPr id="18" name="Text 16"/>
          <p:cNvSpPr txBox="1"/>
          <p:nvPr/>
        </p:nvSpPr>
        <p:spPr>
          <a:xfrm>
            <a:off x="685800" y="2514600"/>
            <a:ext cx="2152650" cy="152400"/>
          </a:xfrm>
          <a:prstGeom prst="rect">
            <a:avLst/>
          </a:prstGeom>
          <a:noFill/>
          <a:ln/>
        </p:spPr>
        <p:txBody>
          <a:bodyPr wrap="square" lIns="0" tIns="0" rIns="0" bIns="0" rtlCol="0" anchor="t"/>
          <a:lstStyle/>
          <a:p>
            <a:pPr algn="l" indent="0" marL="0">
              <a:lnSpc>
                <a:spcPts val="1350"/>
              </a:lnSpc>
              <a:buNone/>
            </a:pPr>
            <a:r>
              <a:rPr lang="en-US" sz="1130" b="1" dirty="0">
                <a:solidFill>
                  <a:srgbClr val="1E2122"/>
                </a:solidFill>
                <a:latin typeface="Archivo" pitchFamily="34" charset="0"/>
                <a:ea typeface="Archivo" pitchFamily="34" charset="-122"/>
                <a:cs typeface="Archivo" pitchFamily="34" charset="-120"/>
              </a:rPr>
              <a:t>H2</a:t>
            </a:r>
            <a:pPr algn="l" indent="0" marL="0">
              <a:lnSpc>
                <a:spcPts val="1350"/>
              </a:lnSpc>
              <a:buNone/>
            </a:pPr>
            <a:r>
              <a:rPr lang="en-US" sz="1130" dirty="0">
                <a:solidFill>
                  <a:srgbClr val="1E2122"/>
                </a:solidFill>
                <a:latin typeface="Archivo" pitchFamily="34" charset="0"/>
                <a:ea typeface="Archivo" pitchFamily="34" charset="-122"/>
                <a:cs typeface="Archivo" pitchFamily="34" charset="-120"/>
              </a:rPr>
              <a:t> · Motor de limpieza</a:t>
            </a:r>
            <a:endParaRPr lang="en-US" sz="1130" dirty="0"/>
          </a:p>
        </p:txBody>
      </p:sp>
      <p:sp>
        <p:nvSpPr>
          <p:cNvPr id="19" name="Text 17"/>
          <p:cNvSpPr txBox="1"/>
          <p:nvPr/>
        </p:nvSpPr>
        <p:spPr>
          <a:xfrm>
            <a:off x="685800" y="2952750"/>
            <a:ext cx="2152650" cy="152400"/>
          </a:xfrm>
          <a:prstGeom prst="rect">
            <a:avLst/>
          </a:prstGeom>
          <a:noFill/>
          <a:ln/>
        </p:spPr>
        <p:txBody>
          <a:bodyPr wrap="square" lIns="0" tIns="0" rIns="0" bIns="0" rtlCol="0" anchor="t"/>
          <a:lstStyle/>
          <a:p>
            <a:pPr algn="l" indent="0" marL="0">
              <a:lnSpc>
                <a:spcPts val="1350"/>
              </a:lnSpc>
              <a:buNone/>
            </a:pPr>
            <a:r>
              <a:rPr lang="en-US" sz="1130" b="1" dirty="0">
                <a:solidFill>
                  <a:srgbClr val="1E2122"/>
                </a:solidFill>
                <a:latin typeface="Archivo" pitchFamily="34" charset="0"/>
                <a:ea typeface="Archivo" pitchFamily="34" charset="-122"/>
                <a:cs typeface="Archivo" pitchFamily="34" charset="-120"/>
              </a:rPr>
              <a:t>H3</a:t>
            </a:r>
            <a:pPr algn="l" indent="0" marL="0">
              <a:lnSpc>
                <a:spcPts val="1350"/>
              </a:lnSpc>
              <a:buNone/>
            </a:pPr>
            <a:r>
              <a:rPr lang="en-US" sz="1130" dirty="0">
                <a:solidFill>
                  <a:srgbClr val="1E2122"/>
                </a:solidFill>
                <a:latin typeface="Archivo" pitchFamily="34" charset="0"/>
                <a:ea typeface="Archivo" pitchFamily="34" charset="-122"/>
                <a:cs typeface="Archivo" pitchFamily="34" charset="-120"/>
              </a:rPr>
              <a:t> · Ingesta y duplicados</a:t>
            </a:r>
            <a:endParaRPr lang="en-US" sz="1130" dirty="0"/>
          </a:p>
        </p:txBody>
      </p:sp>
      <p:sp>
        <p:nvSpPr>
          <p:cNvPr id="20" name="Text 18"/>
          <p:cNvSpPr txBox="1"/>
          <p:nvPr/>
        </p:nvSpPr>
        <p:spPr>
          <a:xfrm>
            <a:off x="685800" y="3390900"/>
            <a:ext cx="2152650" cy="152400"/>
          </a:xfrm>
          <a:prstGeom prst="rect">
            <a:avLst/>
          </a:prstGeom>
          <a:noFill/>
          <a:ln/>
        </p:spPr>
        <p:txBody>
          <a:bodyPr wrap="square" lIns="0" tIns="0" rIns="0" bIns="0" rtlCol="0" anchor="t"/>
          <a:lstStyle/>
          <a:p>
            <a:pPr algn="l" indent="0" marL="0">
              <a:lnSpc>
                <a:spcPts val="1350"/>
              </a:lnSpc>
              <a:buNone/>
            </a:pPr>
            <a:r>
              <a:rPr lang="en-US" sz="1130" b="1" dirty="0">
                <a:solidFill>
                  <a:srgbClr val="1E2122"/>
                </a:solidFill>
                <a:latin typeface="Archivo" pitchFamily="34" charset="0"/>
                <a:ea typeface="Archivo" pitchFamily="34" charset="-122"/>
                <a:cs typeface="Archivo" pitchFamily="34" charset="-120"/>
              </a:rPr>
              <a:t>H4</a:t>
            </a:r>
            <a:pPr algn="l" indent="0" marL="0">
              <a:lnSpc>
                <a:spcPts val="1350"/>
              </a:lnSpc>
              <a:buNone/>
            </a:pPr>
            <a:r>
              <a:rPr lang="en-US" sz="1130" dirty="0">
                <a:solidFill>
                  <a:srgbClr val="1E2122"/>
                </a:solidFill>
                <a:latin typeface="Archivo" pitchFamily="34" charset="0"/>
                <a:ea typeface="Archivo" pitchFamily="34" charset="-122"/>
                <a:cs typeface="Archivo" pitchFamily="34" charset="-120"/>
              </a:rPr>
              <a:t> · Excel y alertas</a:t>
            </a:r>
            <a:endParaRPr lang="en-US" sz="1130" dirty="0"/>
          </a:p>
        </p:txBody>
      </p:sp>
      <p:sp>
        <p:nvSpPr>
          <p:cNvPr id="21" name="Text 19"/>
          <p:cNvSpPr txBox="1"/>
          <p:nvPr/>
        </p:nvSpPr>
        <p:spPr>
          <a:xfrm>
            <a:off x="685800" y="3829050"/>
            <a:ext cx="2152650" cy="152400"/>
          </a:xfrm>
          <a:prstGeom prst="rect">
            <a:avLst/>
          </a:prstGeom>
          <a:noFill/>
          <a:ln/>
        </p:spPr>
        <p:txBody>
          <a:bodyPr wrap="square" lIns="0" tIns="0" rIns="0" bIns="0" rtlCol="0" anchor="t"/>
          <a:lstStyle/>
          <a:p>
            <a:pPr algn="l" indent="0" marL="0">
              <a:lnSpc>
                <a:spcPts val="1350"/>
              </a:lnSpc>
              <a:buNone/>
            </a:pPr>
            <a:r>
              <a:rPr lang="en-US" sz="1130" b="1" dirty="0">
                <a:solidFill>
                  <a:srgbClr val="1E2122"/>
                </a:solidFill>
                <a:latin typeface="Archivo" pitchFamily="34" charset="0"/>
                <a:ea typeface="Archivo" pitchFamily="34" charset="-122"/>
                <a:cs typeface="Archivo" pitchFamily="34" charset="-120"/>
              </a:rPr>
              <a:t>H5</a:t>
            </a:r>
            <a:pPr algn="l" indent="0" marL="0">
              <a:lnSpc>
                <a:spcPts val="1350"/>
              </a:lnSpc>
              <a:buNone/>
            </a:pPr>
            <a:r>
              <a:rPr lang="en-US" sz="1130" dirty="0">
                <a:solidFill>
                  <a:srgbClr val="1E2122"/>
                </a:solidFill>
                <a:latin typeface="Archivo" pitchFamily="34" charset="0"/>
                <a:ea typeface="Archivo" pitchFamily="34" charset="-122"/>
                <a:cs typeface="Archivo" pitchFamily="34" charset="-120"/>
              </a:rPr>
              <a:t> · Power BI y despliegue</a:t>
            </a:r>
            <a:endParaRPr lang="en-US" sz="1130" dirty="0"/>
          </a:p>
        </p:txBody>
      </p:sp>
      <p:sp>
        <p:nvSpPr>
          <p:cNvPr id="22" name="Text 20"/>
          <p:cNvSpPr txBox="1"/>
          <p:nvPr/>
        </p:nvSpPr>
        <p:spPr>
          <a:xfrm>
            <a:off x="685800" y="4267200"/>
            <a:ext cx="2152650" cy="152400"/>
          </a:xfrm>
          <a:prstGeom prst="rect">
            <a:avLst/>
          </a:prstGeom>
          <a:noFill/>
          <a:ln/>
        </p:spPr>
        <p:txBody>
          <a:bodyPr wrap="square" lIns="0" tIns="0" rIns="0" bIns="0" rtlCol="0" anchor="t"/>
          <a:lstStyle/>
          <a:p>
            <a:pPr algn="l" indent="0" marL="0">
              <a:lnSpc>
                <a:spcPts val="1350"/>
              </a:lnSpc>
              <a:buNone/>
            </a:pPr>
            <a:r>
              <a:rPr lang="en-US" sz="1130" b="1" dirty="0">
                <a:solidFill>
                  <a:srgbClr val="1E2122"/>
                </a:solidFill>
                <a:latin typeface="Archivo" pitchFamily="34" charset="0"/>
                <a:ea typeface="Archivo" pitchFamily="34" charset="-122"/>
                <a:cs typeface="Archivo" pitchFamily="34" charset="-120"/>
              </a:rPr>
              <a:t>H6</a:t>
            </a:r>
            <a:pPr algn="l" indent="0" marL="0">
              <a:lnSpc>
                <a:spcPts val="1350"/>
              </a:lnSpc>
              <a:buNone/>
            </a:pPr>
            <a:r>
              <a:rPr lang="en-US" sz="1130" dirty="0">
                <a:solidFill>
                  <a:srgbClr val="1E2122"/>
                </a:solidFill>
                <a:latin typeface="Archivo" pitchFamily="34" charset="0"/>
                <a:ea typeface="Archivo" pitchFamily="34" charset="-122"/>
                <a:cs typeface="Archivo" pitchFamily="34" charset="-120"/>
              </a:rPr>
              <a:t> · Pruebas y piloto</a:t>
            </a:r>
            <a:endParaRPr lang="en-US" sz="1130" dirty="0"/>
          </a:p>
        </p:txBody>
      </p:sp>
      <p:sp>
        <p:nvSpPr>
          <p:cNvPr id="23" name="Text 21"/>
          <p:cNvSpPr txBox="1"/>
          <p:nvPr/>
        </p:nvSpPr>
        <p:spPr>
          <a:xfrm>
            <a:off x="685800" y="4705350"/>
            <a:ext cx="2152650" cy="152400"/>
          </a:xfrm>
          <a:prstGeom prst="rect">
            <a:avLst/>
          </a:prstGeom>
          <a:noFill/>
          <a:ln/>
        </p:spPr>
        <p:txBody>
          <a:bodyPr wrap="square" lIns="0" tIns="0" rIns="0" bIns="0" rtlCol="0" anchor="t"/>
          <a:lstStyle/>
          <a:p>
            <a:pPr algn="l" indent="0" marL="0">
              <a:lnSpc>
                <a:spcPts val="1350"/>
              </a:lnSpc>
              <a:buNone/>
            </a:pPr>
            <a:r>
              <a:rPr lang="en-US" sz="1130" b="1" dirty="0">
                <a:solidFill>
                  <a:srgbClr val="1E2122"/>
                </a:solidFill>
                <a:latin typeface="Archivo" pitchFamily="34" charset="0"/>
                <a:ea typeface="Archivo" pitchFamily="34" charset="-122"/>
                <a:cs typeface="Archivo" pitchFamily="34" charset="-120"/>
              </a:rPr>
              <a:t>H7</a:t>
            </a:r>
            <a:pPr algn="l" indent="0" marL="0">
              <a:lnSpc>
                <a:spcPts val="1350"/>
              </a:lnSpc>
              <a:buNone/>
            </a:pPr>
            <a:r>
              <a:rPr lang="en-US" sz="1130" dirty="0">
                <a:solidFill>
                  <a:srgbClr val="1E2122"/>
                </a:solidFill>
                <a:latin typeface="Archivo" pitchFamily="34" charset="0"/>
                <a:ea typeface="Archivo" pitchFamily="34" charset="-122"/>
                <a:cs typeface="Archivo" pitchFamily="34" charset="-120"/>
              </a:rPr>
              <a:t> · Capacitación</a:t>
            </a:r>
            <a:endParaRPr lang="en-US" sz="1130" dirty="0"/>
          </a:p>
        </p:txBody>
      </p:sp>
      <p:sp>
        <p:nvSpPr>
          <p:cNvPr id="24" name="Text 22"/>
          <p:cNvSpPr txBox="1"/>
          <p:nvPr/>
        </p:nvSpPr>
        <p:spPr>
          <a:xfrm>
            <a:off x="685800" y="5143500"/>
            <a:ext cx="2152650" cy="152400"/>
          </a:xfrm>
          <a:prstGeom prst="rect">
            <a:avLst/>
          </a:prstGeom>
          <a:noFill/>
          <a:ln/>
        </p:spPr>
        <p:txBody>
          <a:bodyPr wrap="square" lIns="0" tIns="0" rIns="0" bIns="0" rtlCol="0" anchor="t"/>
          <a:lstStyle/>
          <a:p>
            <a:pPr algn="l" indent="0" marL="0">
              <a:lnSpc>
                <a:spcPts val="1350"/>
              </a:lnSpc>
              <a:buNone/>
            </a:pPr>
            <a:r>
              <a:rPr lang="en-US" sz="1130" b="1" dirty="0">
                <a:solidFill>
                  <a:srgbClr val="1E2122"/>
                </a:solidFill>
                <a:latin typeface="Archivo" pitchFamily="34" charset="0"/>
                <a:ea typeface="Archivo" pitchFamily="34" charset="-122"/>
                <a:cs typeface="Archivo" pitchFamily="34" charset="-120"/>
              </a:rPr>
              <a:t>H8</a:t>
            </a:r>
            <a:pPr algn="l" indent="0" marL="0">
              <a:lnSpc>
                <a:spcPts val="1350"/>
              </a:lnSpc>
              <a:buNone/>
            </a:pPr>
            <a:r>
              <a:rPr lang="en-US" sz="1130" dirty="0">
                <a:solidFill>
                  <a:srgbClr val="1E2122"/>
                </a:solidFill>
                <a:latin typeface="Archivo" pitchFamily="34" charset="0"/>
                <a:ea typeface="Archivo" pitchFamily="34" charset="-122"/>
                <a:cs typeface="Archivo" pitchFamily="34" charset="-120"/>
              </a:rPr>
              <a:t> · Cierre</a:t>
            </a:r>
            <a:endParaRPr lang="en-US" sz="1130" dirty="0"/>
          </a:p>
        </p:txBody>
      </p:sp>
      <p:sp>
        <p:nvSpPr>
          <p:cNvPr id="25" name="Shape 23"/>
          <p:cNvSpPr/>
          <p:nvPr/>
        </p:nvSpPr>
        <p:spPr>
          <a:xfrm>
            <a:off x="4629150" y="2095500"/>
            <a:ext cx="152400" cy="152400"/>
          </a:xfrm>
          <a:prstGeom prst="roundRect">
            <a:avLst>
              <a:gd name="adj" fmla="val 50000"/>
            </a:avLst>
          </a:prstGeom>
          <a:solidFill>
            <a:srgbClr val="1E2122"/>
          </a:solidFill>
          <a:ln/>
        </p:spPr>
      </p:sp>
      <p:sp>
        <p:nvSpPr>
          <p:cNvPr id="26" name="Text 24"/>
          <p:cNvSpPr txBox="1"/>
          <p:nvPr/>
        </p:nvSpPr>
        <p:spPr>
          <a:xfrm>
            <a:off x="4876800" y="2085975"/>
            <a:ext cx="1962150" cy="133350"/>
          </a:xfrm>
          <a:prstGeom prst="rect">
            <a:avLst/>
          </a:prstGeom>
          <a:noFill/>
          <a:ln/>
        </p:spPr>
        <p:txBody>
          <a:bodyPr wrap="square" lIns="0" tIns="0" rIns="0" bIns="0" rtlCol="0" anchor="t"/>
          <a:lstStyle/>
          <a:p>
            <a:pPr algn="l" indent="0" marL="0">
              <a:lnSpc>
                <a:spcPts val="1170"/>
              </a:lnSpc>
              <a:buNone/>
            </a:pPr>
            <a:r>
              <a:rPr lang="en-US" sz="980" dirty="0">
                <a:solidFill>
                  <a:srgbClr val="5F635E"/>
                </a:solidFill>
                <a:latin typeface="Archivo" pitchFamily="34" charset="0"/>
                <a:ea typeface="Archivo" pitchFamily="34" charset="-122"/>
                <a:cs typeface="Archivo" pitchFamily="34" charset="-120"/>
              </a:rPr>
              <a:t>A tiempo · 13-09</a:t>
            </a:r>
            <a:endParaRPr lang="en-US" sz="980" dirty="0"/>
          </a:p>
        </p:txBody>
      </p:sp>
      <p:sp>
        <p:nvSpPr>
          <p:cNvPr id="27" name="Shape 25"/>
          <p:cNvSpPr/>
          <p:nvPr/>
        </p:nvSpPr>
        <p:spPr>
          <a:xfrm>
            <a:off x="5895975" y="2505075"/>
            <a:ext cx="2628900" cy="57150"/>
          </a:xfrm>
          <a:prstGeom prst="rect">
            <a:avLst/>
          </a:prstGeom>
          <a:solidFill>
            <a:srgbClr val="B5482A"/>
          </a:solidFill>
          <a:ln/>
        </p:spPr>
      </p:sp>
      <p:sp>
        <p:nvSpPr>
          <p:cNvPr id="28" name="Shape 26"/>
          <p:cNvSpPr/>
          <p:nvPr/>
        </p:nvSpPr>
        <p:spPr>
          <a:xfrm>
            <a:off x="5819775" y="2457450"/>
            <a:ext cx="152400" cy="152400"/>
          </a:xfrm>
          <a:prstGeom prst="roundRect">
            <a:avLst>
              <a:gd name="adj" fmla="val 50000"/>
            </a:avLst>
          </a:prstGeom>
          <a:solidFill>
            <a:srgbClr val="ECE8E1"/>
          </a:solidFill>
          <a:ln w="19050">
            <a:solidFill>
              <a:srgbClr val="5F635E"/>
            </a:solidFill>
            <a:prstDash val="solid"/>
          </a:ln>
        </p:spPr>
      </p:sp>
      <p:sp>
        <p:nvSpPr>
          <p:cNvPr id="29" name="Shape 27"/>
          <p:cNvSpPr/>
          <p:nvPr/>
        </p:nvSpPr>
        <p:spPr>
          <a:xfrm>
            <a:off x="8448675" y="2457450"/>
            <a:ext cx="152400" cy="152400"/>
          </a:xfrm>
          <a:prstGeom prst="roundRect">
            <a:avLst>
              <a:gd name="adj" fmla="val 50000"/>
            </a:avLst>
          </a:prstGeom>
          <a:solidFill>
            <a:srgbClr val="B5482A"/>
          </a:solidFill>
          <a:ln/>
        </p:spPr>
      </p:sp>
      <p:sp>
        <p:nvSpPr>
          <p:cNvPr id="30" name="Text 28"/>
          <p:cNvSpPr txBox="1"/>
          <p:nvPr/>
        </p:nvSpPr>
        <p:spPr>
          <a:xfrm>
            <a:off x="6667500" y="2266950"/>
            <a:ext cx="1200150" cy="142875"/>
          </a:xfrm>
          <a:prstGeom prst="rect">
            <a:avLst/>
          </a:prstGeom>
          <a:noFill/>
          <a:ln/>
        </p:spPr>
        <p:txBody>
          <a:bodyPr wrap="square" lIns="0" tIns="0" rIns="0" bIns="0" rtlCol="0" anchor="t"/>
          <a:lstStyle/>
          <a:p>
            <a:pPr algn="ctr" indent="0" marL="0">
              <a:lnSpc>
                <a:spcPts val="1260"/>
              </a:lnSpc>
              <a:buNone/>
            </a:pPr>
            <a:r>
              <a:rPr lang="en-US" sz="1050" b="1" dirty="0">
                <a:solidFill>
                  <a:srgbClr val="B5482A"/>
                </a:solidFill>
                <a:latin typeface="Archivo" pitchFamily="34" charset="0"/>
                <a:ea typeface="Archivo" pitchFamily="34" charset="-122"/>
                <a:cs typeface="Archivo" pitchFamily="34" charset="-120"/>
              </a:rPr>
              <a:t>+20 días</a:t>
            </a:r>
            <a:endParaRPr lang="en-US" sz="1050" dirty="0"/>
          </a:p>
        </p:txBody>
      </p:sp>
      <p:sp>
        <p:nvSpPr>
          <p:cNvPr id="31" name="Text 29"/>
          <p:cNvSpPr txBox="1"/>
          <p:nvPr/>
        </p:nvSpPr>
        <p:spPr>
          <a:xfrm>
            <a:off x="8820150" y="2447925"/>
            <a:ext cx="1676400" cy="133350"/>
          </a:xfrm>
          <a:prstGeom prst="rect">
            <a:avLst/>
          </a:prstGeom>
          <a:noFill/>
          <a:ln/>
        </p:spPr>
        <p:txBody>
          <a:bodyPr wrap="square" lIns="0" tIns="0" rIns="0" bIns="0" rtlCol="0" anchor="t"/>
          <a:lstStyle/>
          <a:p>
            <a:pPr algn="l" indent="0" marL="0">
              <a:lnSpc>
                <a:spcPts val="1170"/>
              </a:lnSpc>
              <a:buNone/>
            </a:pPr>
            <a:r>
              <a:rPr lang="en-US" sz="980" dirty="0">
                <a:solidFill>
                  <a:srgbClr val="5F635E"/>
                </a:solidFill>
                <a:latin typeface="Archivo" pitchFamily="34" charset="0"/>
                <a:ea typeface="Archivo" pitchFamily="34" charset="-122"/>
                <a:cs typeface="Archivo" pitchFamily="34" charset="-120"/>
              </a:rPr>
              <a:t>Listo el 12-10</a:t>
            </a:r>
            <a:endParaRPr lang="en-US" sz="980" dirty="0"/>
          </a:p>
        </p:txBody>
      </p:sp>
      <p:sp>
        <p:nvSpPr>
          <p:cNvPr id="32" name="Shape 30"/>
          <p:cNvSpPr/>
          <p:nvPr/>
        </p:nvSpPr>
        <p:spPr>
          <a:xfrm>
            <a:off x="6286500" y="2943225"/>
            <a:ext cx="2371725" cy="57150"/>
          </a:xfrm>
          <a:prstGeom prst="rect">
            <a:avLst/>
          </a:prstGeom>
          <a:solidFill>
            <a:srgbClr val="E8A33D"/>
          </a:solidFill>
          <a:ln/>
        </p:spPr>
      </p:sp>
      <p:sp>
        <p:nvSpPr>
          <p:cNvPr id="33" name="Shape 31"/>
          <p:cNvSpPr/>
          <p:nvPr/>
        </p:nvSpPr>
        <p:spPr>
          <a:xfrm>
            <a:off x="6210300" y="2895600"/>
            <a:ext cx="152400" cy="152400"/>
          </a:xfrm>
          <a:prstGeom prst="roundRect">
            <a:avLst>
              <a:gd name="adj" fmla="val 50000"/>
            </a:avLst>
          </a:prstGeom>
          <a:solidFill>
            <a:srgbClr val="ECE8E1"/>
          </a:solidFill>
          <a:ln w="19050">
            <a:solidFill>
              <a:srgbClr val="5F635E"/>
            </a:solidFill>
            <a:prstDash val="solid"/>
          </a:ln>
        </p:spPr>
      </p:sp>
      <p:sp>
        <p:nvSpPr>
          <p:cNvPr id="34" name="Text 32"/>
          <p:cNvSpPr txBox="1"/>
          <p:nvPr/>
        </p:nvSpPr>
        <p:spPr>
          <a:xfrm>
            <a:off x="8820150" y="2819400"/>
            <a:ext cx="1676400" cy="309563"/>
          </a:xfrm>
          <a:prstGeom prst="rect">
            <a:avLst/>
          </a:prstGeom>
          <a:noFill/>
          <a:ln/>
        </p:spPr>
        <p:txBody>
          <a:bodyPr wrap="square" lIns="0" tIns="0" rIns="0" bIns="0" rtlCol="0" anchor="t"/>
          <a:lstStyle/>
          <a:p>
            <a:pPr algn="l" indent="0" marL="0">
              <a:lnSpc>
                <a:spcPts val="1220"/>
              </a:lnSpc>
              <a:buNone/>
            </a:pPr>
            <a:r>
              <a:rPr lang="en-US" sz="980" dirty="0">
                <a:solidFill>
                  <a:srgbClr val="1E2122"/>
                </a:solidFill>
                <a:latin typeface="Archivo" pitchFamily="34" charset="0"/>
                <a:ea typeface="Archivo" pitchFamily="34" charset="-122"/>
                <a:cs typeface="Archivo" pitchFamily="34" charset="-120"/>
              </a:rPr>
              <a:t>Abierto: falta la base de datos central</a:t>
            </a:r>
            <a:endParaRPr lang="en-US" sz="980" dirty="0"/>
          </a:p>
        </p:txBody>
      </p:sp>
      <p:sp>
        <p:nvSpPr>
          <p:cNvPr id="35" name="Shape 33"/>
          <p:cNvSpPr/>
          <p:nvPr/>
        </p:nvSpPr>
        <p:spPr>
          <a:xfrm>
            <a:off x="7210425" y="3381375"/>
            <a:ext cx="1447800" cy="57150"/>
          </a:xfrm>
          <a:prstGeom prst="rect">
            <a:avLst/>
          </a:prstGeom>
          <a:solidFill>
            <a:srgbClr val="E8A33D"/>
          </a:solidFill>
          <a:ln/>
        </p:spPr>
      </p:sp>
      <p:sp>
        <p:nvSpPr>
          <p:cNvPr id="36" name="Shape 34"/>
          <p:cNvSpPr/>
          <p:nvPr/>
        </p:nvSpPr>
        <p:spPr>
          <a:xfrm>
            <a:off x="7134225" y="3333750"/>
            <a:ext cx="152400" cy="152400"/>
          </a:xfrm>
          <a:prstGeom prst="roundRect">
            <a:avLst>
              <a:gd name="adj" fmla="val 50000"/>
            </a:avLst>
          </a:prstGeom>
          <a:solidFill>
            <a:srgbClr val="ECE8E1"/>
          </a:solidFill>
          <a:ln w="19050">
            <a:solidFill>
              <a:srgbClr val="5F635E"/>
            </a:solidFill>
            <a:prstDash val="solid"/>
          </a:ln>
        </p:spPr>
      </p:sp>
      <p:sp>
        <p:nvSpPr>
          <p:cNvPr id="37" name="Text 35"/>
          <p:cNvSpPr txBox="1"/>
          <p:nvPr/>
        </p:nvSpPr>
        <p:spPr>
          <a:xfrm>
            <a:off x="8820150" y="3257550"/>
            <a:ext cx="1676400" cy="154781"/>
          </a:xfrm>
          <a:prstGeom prst="rect">
            <a:avLst/>
          </a:prstGeom>
          <a:noFill/>
          <a:ln/>
        </p:spPr>
        <p:txBody>
          <a:bodyPr wrap="square" lIns="0" tIns="0" rIns="0" bIns="0" rtlCol="0" anchor="t"/>
          <a:lstStyle/>
          <a:p>
            <a:pPr algn="l" indent="0" marL="0">
              <a:lnSpc>
                <a:spcPts val="1220"/>
              </a:lnSpc>
              <a:buNone/>
            </a:pPr>
            <a:r>
              <a:rPr lang="en-US" sz="980" dirty="0">
                <a:solidFill>
                  <a:srgbClr val="1E2122"/>
                </a:solidFill>
                <a:latin typeface="Archivo" pitchFamily="34" charset="0"/>
                <a:ea typeface="Archivo" pitchFamily="34" charset="-122"/>
                <a:cs typeface="Archivo" pitchFamily="34" charset="-120"/>
              </a:rPr>
              <a:t>Abierto: alertas sin iniciar</a:t>
            </a:r>
            <a:endParaRPr lang="en-US" sz="980" dirty="0"/>
          </a:p>
        </p:txBody>
      </p:sp>
      <p:sp>
        <p:nvSpPr>
          <p:cNvPr id="38" name="Shape 36"/>
          <p:cNvSpPr/>
          <p:nvPr/>
        </p:nvSpPr>
        <p:spPr>
          <a:xfrm>
            <a:off x="8715375" y="3771900"/>
            <a:ext cx="152400" cy="152400"/>
          </a:xfrm>
          <a:prstGeom prst="roundRect">
            <a:avLst>
              <a:gd name="adj" fmla="val 50000"/>
            </a:avLst>
          </a:prstGeom>
          <a:solidFill>
            <a:srgbClr val="ECE8E1"/>
          </a:solidFill>
          <a:ln w="19050">
            <a:solidFill>
              <a:srgbClr val="B5482A"/>
            </a:solidFill>
            <a:prstDash val="solid"/>
          </a:ln>
        </p:spPr>
      </p:sp>
      <p:sp>
        <p:nvSpPr>
          <p:cNvPr id="39" name="Text 37"/>
          <p:cNvSpPr txBox="1"/>
          <p:nvPr/>
        </p:nvSpPr>
        <p:spPr>
          <a:xfrm>
            <a:off x="4953000" y="3771900"/>
            <a:ext cx="3581400" cy="133350"/>
          </a:xfrm>
          <a:prstGeom prst="rect">
            <a:avLst/>
          </a:prstGeom>
          <a:noFill/>
          <a:ln/>
        </p:spPr>
        <p:txBody>
          <a:bodyPr wrap="square" lIns="0" tIns="0" rIns="0" bIns="0" rtlCol="0" anchor="t"/>
          <a:lstStyle/>
          <a:p>
            <a:pPr algn="r" indent="0" marL="0">
              <a:lnSpc>
                <a:spcPts val="1170"/>
              </a:lnSpc>
              <a:buNone/>
            </a:pPr>
            <a:r>
              <a:rPr lang="en-US" sz="980" b="1" dirty="0">
                <a:solidFill>
                  <a:srgbClr val="B5482A"/>
                </a:solidFill>
                <a:latin typeface="Archivo" pitchFamily="34" charset="0"/>
                <a:ea typeface="Archivo" pitchFamily="34" charset="-122"/>
                <a:cs typeface="Archivo" pitchFamily="34" charset="-120"/>
              </a:rPr>
              <a:t>En riesgo: Power BI sin iniciar; Docker ya listo</a:t>
            </a:r>
            <a:endParaRPr lang="en-US" sz="980" dirty="0"/>
          </a:p>
        </p:txBody>
      </p:sp>
      <p:sp>
        <p:nvSpPr>
          <p:cNvPr id="40" name="Shape 38"/>
          <p:cNvSpPr/>
          <p:nvPr/>
        </p:nvSpPr>
        <p:spPr>
          <a:xfrm>
            <a:off x="9639300" y="4210050"/>
            <a:ext cx="152400" cy="152400"/>
          </a:xfrm>
          <a:prstGeom prst="roundRect">
            <a:avLst>
              <a:gd name="adj" fmla="val 50000"/>
            </a:avLst>
          </a:prstGeom>
          <a:solidFill>
            <a:srgbClr val="ECE8E1"/>
          </a:solidFill>
          <a:ln w="19050">
            <a:solidFill>
              <a:srgbClr val="5F635E"/>
            </a:solidFill>
            <a:prstDash val="solid"/>
          </a:ln>
        </p:spPr>
      </p:sp>
      <p:sp>
        <p:nvSpPr>
          <p:cNvPr id="41" name="Text 39"/>
          <p:cNvSpPr txBox="1"/>
          <p:nvPr/>
        </p:nvSpPr>
        <p:spPr>
          <a:xfrm>
            <a:off x="5715000" y="4210050"/>
            <a:ext cx="2819400" cy="133350"/>
          </a:xfrm>
          <a:prstGeom prst="rect">
            <a:avLst/>
          </a:prstGeom>
          <a:noFill/>
          <a:ln/>
        </p:spPr>
        <p:txBody>
          <a:bodyPr wrap="square" lIns="0" tIns="0" rIns="0" bIns="0" rtlCol="0" anchor="t"/>
          <a:lstStyle/>
          <a:p>
            <a:pPr algn="r" indent="0" marL="0">
              <a:lnSpc>
                <a:spcPts val="1170"/>
              </a:lnSpc>
              <a:buNone/>
            </a:pPr>
            <a:r>
              <a:rPr lang="en-US" sz="980" dirty="0">
                <a:solidFill>
                  <a:srgbClr val="5F635E"/>
                </a:solidFill>
                <a:latin typeface="Archivo" pitchFamily="34" charset="0"/>
                <a:ea typeface="Archivo" pitchFamily="34" charset="-122"/>
                <a:cs typeface="Archivo" pitchFamily="34" charset="-120"/>
              </a:rPr>
              <a:t>Depende de cerrar H4 · 21-10</a:t>
            </a:r>
            <a:endParaRPr lang="en-US" sz="980" dirty="0"/>
          </a:p>
        </p:txBody>
      </p:sp>
      <p:sp>
        <p:nvSpPr>
          <p:cNvPr id="42" name="Shape 40"/>
          <p:cNvSpPr/>
          <p:nvPr/>
        </p:nvSpPr>
        <p:spPr>
          <a:xfrm>
            <a:off x="9906000" y="4648200"/>
            <a:ext cx="152400" cy="152400"/>
          </a:xfrm>
          <a:prstGeom prst="roundRect">
            <a:avLst>
              <a:gd name="adj" fmla="val 50000"/>
            </a:avLst>
          </a:prstGeom>
          <a:solidFill>
            <a:srgbClr val="ECE8E1"/>
          </a:solidFill>
          <a:ln w="19050">
            <a:solidFill>
              <a:srgbClr val="5F635E"/>
            </a:solidFill>
            <a:prstDash val="solid"/>
          </a:ln>
        </p:spPr>
      </p:sp>
      <p:sp>
        <p:nvSpPr>
          <p:cNvPr id="43" name="Text 41"/>
          <p:cNvSpPr txBox="1"/>
          <p:nvPr/>
        </p:nvSpPr>
        <p:spPr>
          <a:xfrm>
            <a:off x="5715000" y="4648200"/>
            <a:ext cx="2819400" cy="133350"/>
          </a:xfrm>
          <a:prstGeom prst="rect">
            <a:avLst/>
          </a:prstGeom>
          <a:noFill/>
          <a:ln/>
        </p:spPr>
        <p:txBody>
          <a:bodyPr wrap="square" lIns="0" tIns="0" rIns="0" bIns="0" rtlCol="0" anchor="t"/>
          <a:lstStyle/>
          <a:p>
            <a:pPr algn="r" indent="0" marL="0">
              <a:lnSpc>
                <a:spcPts val="1170"/>
              </a:lnSpc>
              <a:buNone/>
            </a:pPr>
            <a:r>
              <a:rPr lang="en-US" sz="980" dirty="0">
                <a:solidFill>
                  <a:srgbClr val="5F635E"/>
                </a:solidFill>
                <a:latin typeface="Archivo" pitchFamily="34" charset="0"/>
                <a:ea typeface="Archivo" pitchFamily="34" charset="-122"/>
                <a:cs typeface="Archivo" pitchFamily="34" charset="-120"/>
              </a:rPr>
              <a:t>Sin fecha acordada con GRECO · 23-10</a:t>
            </a:r>
            <a:endParaRPr lang="en-US" sz="980" dirty="0"/>
          </a:p>
        </p:txBody>
      </p:sp>
      <p:sp>
        <p:nvSpPr>
          <p:cNvPr id="44" name="Shape 42"/>
          <p:cNvSpPr/>
          <p:nvPr/>
        </p:nvSpPr>
        <p:spPr>
          <a:xfrm>
            <a:off x="10429875" y="5086350"/>
            <a:ext cx="152400" cy="152400"/>
          </a:xfrm>
          <a:prstGeom prst="roundRect">
            <a:avLst>
              <a:gd name="adj" fmla="val 50000"/>
            </a:avLst>
          </a:prstGeom>
          <a:solidFill>
            <a:srgbClr val="ECE8E1"/>
          </a:solidFill>
          <a:ln w="19050">
            <a:solidFill>
              <a:srgbClr val="5F635E"/>
            </a:solidFill>
            <a:prstDash val="solid"/>
          </a:ln>
        </p:spPr>
      </p:sp>
      <p:sp>
        <p:nvSpPr>
          <p:cNvPr id="45" name="Text 43"/>
          <p:cNvSpPr txBox="1"/>
          <p:nvPr/>
        </p:nvSpPr>
        <p:spPr>
          <a:xfrm>
            <a:off x="5715000" y="5086350"/>
            <a:ext cx="2819400" cy="133350"/>
          </a:xfrm>
          <a:prstGeom prst="rect">
            <a:avLst/>
          </a:prstGeom>
          <a:noFill/>
          <a:ln/>
        </p:spPr>
        <p:txBody>
          <a:bodyPr wrap="square" lIns="0" tIns="0" rIns="0" bIns="0" rtlCol="0" anchor="t"/>
          <a:lstStyle/>
          <a:p>
            <a:pPr algn="r" indent="0" marL="0">
              <a:lnSpc>
                <a:spcPts val="1170"/>
              </a:lnSpc>
              <a:buNone/>
            </a:pPr>
            <a:r>
              <a:rPr lang="en-US" sz="980" dirty="0">
                <a:solidFill>
                  <a:srgbClr val="5F635E"/>
                </a:solidFill>
                <a:latin typeface="Archivo" pitchFamily="34" charset="0"/>
                <a:ea typeface="Archivo" pitchFamily="34" charset="-122"/>
                <a:cs typeface="Archivo" pitchFamily="34" charset="-120"/>
              </a:rPr>
              <a:t>Plan 27-10 · reserva hasta 03-11</a:t>
            </a:r>
            <a:endParaRPr lang="en-US" sz="980" dirty="0"/>
          </a:p>
        </p:txBody>
      </p:sp>
      <p:sp>
        <p:nvSpPr>
          <p:cNvPr id="46" name="Shape 44"/>
          <p:cNvSpPr/>
          <p:nvPr/>
        </p:nvSpPr>
        <p:spPr>
          <a:xfrm>
            <a:off x="2857500" y="5638800"/>
            <a:ext cx="8572500" cy="9525"/>
          </a:xfrm>
          <a:prstGeom prst="rect">
            <a:avLst/>
          </a:prstGeom>
          <a:solidFill>
            <a:srgbClr val="5F635E"/>
          </a:solidFill>
          <a:ln/>
        </p:spPr>
      </p:sp>
      <p:sp>
        <p:nvSpPr>
          <p:cNvPr id="47" name="Text 45"/>
          <p:cNvSpPr txBox="1"/>
          <p:nvPr/>
        </p:nvSpPr>
        <p:spPr>
          <a:xfrm>
            <a:off x="2952750" y="5715000"/>
            <a:ext cx="819150" cy="133350"/>
          </a:xfrm>
          <a:prstGeom prst="rect">
            <a:avLst/>
          </a:prstGeom>
          <a:noFill/>
          <a:ln/>
        </p:spPr>
        <p:txBody>
          <a:bodyPr wrap="square" lIns="0" tIns="0" rIns="0" bIns="0" rtlCol="0" anchor="t"/>
          <a:lstStyle/>
          <a:p>
            <a:pPr algn="l" indent="0" marL="0">
              <a:lnSpc>
                <a:spcPts val="1170"/>
              </a:lnSpc>
              <a:buNone/>
            </a:pPr>
            <a:r>
              <a:rPr lang="en-US" sz="980" b="1" dirty="0">
                <a:solidFill>
                  <a:srgbClr val="5F635E"/>
                </a:solidFill>
                <a:latin typeface="Archivo" pitchFamily="34" charset="0"/>
                <a:ea typeface="Archivo" pitchFamily="34" charset="-122"/>
                <a:cs typeface="Archivo" pitchFamily="34" charset="-120"/>
              </a:rPr>
              <a:t>SEP</a:t>
            </a:r>
            <a:endParaRPr lang="en-US" sz="980" dirty="0"/>
          </a:p>
        </p:txBody>
      </p:sp>
      <p:sp>
        <p:nvSpPr>
          <p:cNvPr id="48" name="Text 46"/>
          <p:cNvSpPr txBox="1"/>
          <p:nvPr/>
        </p:nvSpPr>
        <p:spPr>
          <a:xfrm>
            <a:off x="7096125" y="5715000"/>
            <a:ext cx="819150" cy="133350"/>
          </a:xfrm>
          <a:prstGeom prst="rect">
            <a:avLst/>
          </a:prstGeom>
          <a:noFill/>
          <a:ln/>
        </p:spPr>
        <p:txBody>
          <a:bodyPr wrap="square" lIns="0" tIns="0" rIns="0" bIns="0" rtlCol="0" anchor="t"/>
          <a:lstStyle/>
          <a:p>
            <a:pPr algn="l" indent="0" marL="0">
              <a:lnSpc>
                <a:spcPts val="1170"/>
              </a:lnSpc>
              <a:buNone/>
            </a:pPr>
            <a:r>
              <a:rPr lang="en-US" sz="980" b="1" dirty="0">
                <a:solidFill>
                  <a:srgbClr val="5F635E"/>
                </a:solidFill>
                <a:latin typeface="Archivo" pitchFamily="34" charset="0"/>
                <a:ea typeface="Archivo" pitchFamily="34" charset="-122"/>
                <a:cs typeface="Archivo" pitchFamily="34" charset="-120"/>
              </a:rPr>
              <a:t>OCT</a:t>
            </a:r>
            <a:endParaRPr lang="en-US" sz="980" dirty="0"/>
          </a:p>
        </p:txBody>
      </p:sp>
      <p:sp>
        <p:nvSpPr>
          <p:cNvPr id="49" name="Text 47"/>
          <p:cNvSpPr txBox="1"/>
          <p:nvPr/>
        </p:nvSpPr>
        <p:spPr>
          <a:xfrm>
            <a:off x="10953750" y="5715000"/>
            <a:ext cx="628650" cy="133350"/>
          </a:xfrm>
          <a:prstGeom prst="rect">
            <a:avLst/>
          </a:prstGeom>
          <a:noFill/>
          <a:ln/>
        </p:spPr>
        <p:txBody>
          <a:bodyPr wrap="square" lIns="0" tIns="0" rIns="0" bIns="0" rtlCol="0" anchor="t"/>
          <a:lstStyle/>
          <a:p>
            <a:pPr algn="l" indent="0" marL="0">
              <a:lnSpc>
                <a:spcPts val="1170"/>
              </a:lnSpc>
              <a:buNone/>
            </a:pPr>
            <a:r>
              <a:rPr lang="en-US" sz="980" b="1" dirty="0">
                <a:solidFill>
                  <a:srgbClr val="5F635E"/>
                </a:solidFill>
                <a:latin typeface="Archivo" pitchFamily="34" charset="0"/>
                <a:ea typeface="Archivo" pitchFamily="34" charset="-122"/>
                <a:cs typeface="Archivo" pitchFamily="34" charset="-120"/>
              </a:rPr>
              <a:t>NOV</a:t>
            </a:r>
            <a:endParaRPr lang="en-US" sz="980" dirty="0"/>
          </a:p>
        </p:txBody>
      </p:sp>
      <p:sp>
        <p:nvSpPr>
          <p:cNvPr id="50" name="Shape 48"/>
          <p:cNvSpPr/>
          <p:nvPr/>
        </p:nvSpPr>
        <p:spPr>
          <a:xfrm>
            <a:off x="3114675" y="5600700"/>
            <a:ext cx="9525" cy="85725"/>
          </a:xfrm>
          <a:prstGeom prst="rect">
            <a:avLst/>
          </a:prstGeom>
          <a:solidFill>
            <a:srgbClr val="5F635E"/>
          </a:solidFill>
          <a:ln/>
        </p:spPr>
      </p:sp>
      <p:sp>
        <p:nvSpPr>
          <p:cNvPr id="51" name="Shape 49"/>
          <p:cNvSpPr/>
          <p:nvPr/>
        </p:nvSpPr>
        <p:spPr>
          <a:xfrm>
            <a:off x="7077075" y="5600700"/>
            <a:ext cx="9525" cy="85725"/>
          </a:xfrm>
          <a:prstGeom prst="rect">
            <a:avLst/>
          </a:prstGeom>
          <a:solidFill>
            <a:srgbClr val="5F635E"/>
          </a:solidFill>
          <a:ln/>
        </p:spPr>
      </p:sp>
      <p:sp>
        <p:nvSpPr>
          <p:cNvPr id="52" name="Shape 50"/>
          <p:cNvSpPr/>
          <p:nvPr/>
        </p:nvSpPr>
        <p:spPr>
          <a:xfrm>
            <a:off x="11163300" y="5600700"/>
            <a:ext cx="9525" cy="85725"/>
          </a:xfrm>
          <a:prstGeom prst="rect">
            <a:avLst/>
          </a:prstGeom>
          <a:solidFill>
            <a:srgbClr val="5F635E"/>
          </a:solidFill>
          <a:ln/>
        </p:spPr>
      </p:sp>
      <p:sp>
        <p:nvSpPr>
          <p:cNvPr id="53" name="Shape 51"/>
          <p:cNvSpPr/>
          <p:nvPr/>
        </p:nvSpPr>
        <p:spPr>
          <a:xfrm>
            <a:off x="2857500" y="6115050"/>
            <a:ext cx="114300" cy="114300"/>
          </a:xfrm>
          <a:prstGeom prst="roundRect">
            <a:avLst>
              <a:gd name="adj" fmla="val 50000"/>
            </a:avLst>
          </a:prstGeom>
          <a:ln w="19050">
            <a:solidFill>
              <a:srgbClr val="5F635E"/>
            </a:solidFill>
            <a:prstDash val="solid"/>
          </a:ln>
        </p:spPr>
      </p:sp>
      <p:sp>
        <p:nvSpPr>
          <p:cNvPr id="54" name="Text 52"/>
          <p:cNvSpPr txBox="1"/>
          <p:nvPr/>
        </p:nvSpPr>
        <p:spPr>
          <a:xfrm>
            <a:off x="3028950" y="6086475"/>
            <a:ext cx="1009650" cy="133350"/>
          </a:xfrm>
          <a:prstGeom prst="rect">
            <a:avLst/>
          </a:prstGeom>
          <a:noFill/>
          <a:ln/>
        </p:spPr>
        <p:txBody>
          <a:bodyPr wrap="square" lIns="0" tIns="0" rIns="0" bIns="0" rtlCol="0" anchor="t"/>
          <a:lstStyle/>
          <a:p>
            <a:pPr algn="l" indent="0" marL="0">
              <a:lnSpc>
                <a:spcPts val="1170"/>
              </a:lnSpc>
              <a:buNone/>
            </a:pPr>
            <a:r>
              <a:rPr lang="en-US" sz="980" dirty="0">
                <a:solidFill>
                  <a:srgbClr val="5F635E"/>
                </a:solidFill>
                <a:latin typeface="Archivo" pitchFamily="34" charset="0"/>
                <a:ea typeface="Archivo" pitchFamily="34" charset="-122"/>
                <a:cs typeface="Archivo" pitchFamily="34" charset="-120"/>
              </a:rPr>
              <a:t>Planeado</a:t>
            </a:r>
            <a:endParaRPr lang="en-US" sz="980" dirty="0"/>
          </a:p>
        </p:txBody>
      </p:sp>
      <p:sp>
        <p:nvSpPr>
          <p:cNvPr id="55" name="Shape 53"/>
          <p:cNvSpPr/>
          <p:nvPr/>
        </p:nvSpPr>
        <p:spPr>
          <a:xfrm>
            <a:off x="3810000" y="6115050"/>
            <a:ext cx="114300" cy="114300"/>
          </a:xfrm>
          <a:prstGeom prst="roundRect">
            <a:avLst>
              <a:gd name="adj" fmla="val 50000"/>
            </a:avLst>
          </a:prstGeom>
          <a:solidFill>
            <a:srgbClr val="1E2122"/>
          </a:solidFill>
          <a:ln/>
        </p:spPr>
      </p:sp>
      <p:sp>
        <p:nvSpPr>
          <p:cNvPr id="56" name="Text 54"/>
          <p:cNvSpPr txBox="1"/>
          <p:nvPr/>
        </p:nvSpPr>
        <p:spPr>
          <a:xfrm>
            <a:off x="3981450" y="6086475"/>
            <a:ext cx="1009650" cy="133350"/>
          </a:xfrm>
          <a:prstGeom prst="rect">
            <a:avLst/>
          </a:prstGeom>
          <a:noFill/>
          <a:ln/>
        </p:spPr>
        <p:txBody>
          <a:bodyPr wrap="square" lIns="0" tIns="0" rIns="0" bIns="0" rtlCol="0" anchor="t"/>
          <a:lstStyle/>
          <a:p>
            <a:pPr algn="l" indent="0" marL="0">
              <a:lnSpc>
                <a:spcPts val="1170"/>
              </a:lnSpc>
              <a:buNone/>
            </a:pPr>
            <a:r>
              <a:rPr lang="en-US" sz="980" dirty="0">
                <a:solidFill>
                  <a:srgbClr val="5F635E"/>
                </a:solidFill>
                <a:latin typeface="Archivo" pitchFamily="34" charset="0"/>
                <a:ea typeface="Archivo" pitchFamily="34" charset="-122"/>
                <a:cs typeface="Archivo" pitchFamily="34" charset="-120"/>
              </a:rPr>
              <a:t>Real</a:t>
            </a:r>
            <a:endParaRPr lang="en-US" sz="980" dirty="0"/>
          </a:p>
        </p:txBody>
      </p:sp>
      <p:sp>
        <p:nvSpPr>
          <p:cNvPr id="57" name="Shape 55"/>
          <p:cNvSpPr/>
          <p:nvPr/>
        </p:nvSpPr>
        <p:spPr>
          <a:xfrm>
            <a:off x="4552950" y="6143625"/>
            <a:ext cx="247650" cy="57150"/>
          </a:xfrm>
          <a:prstGeom prst="rect">
            <a:avLst/>
          </a:prstGeom>
          <a:solidFill>
            <a:srgbClr val="B5482A"/>
          </a:solidFill>
          <a:ln/>
        </p:spPr>
      </p:sp>
      <p:sp>
        <p:nvSpPr>
          <p:cNvPr id="58" name="Text 56"/>
          <p:cNvSpPr txBox="1"/>
          <p:nvPr/>
        </p:nvSpPr>
        <p:spPr>
          <a:xfrm>
            <a:off x="4876800" y="6086475"/>
            <a:ext cx="1200150" cy="133350"/>
          </a:xfrm>
          <a:prstGeom prst="rect">
            <a:avLst/>
          </a:prstGeom>
          <a:noFill/>
          <a:ln/>
        </p:spPr>
        <p:txBody>
          <a:bodyPr wrap="square" lIns="0" tIns="0" rIns="0" bIns="0" rtlCol="0" anchor="t"/>
          <a:lstStyle/>
          <a:p>
            <a:pPr algn="l" indent="0" marL="0">
              <a:lnSpc>
                <a:spcPts val="1170"/>
              </a:lnSpc>
              <a:buNone/>
            </a:pPr>
            <a:r>
              <a:rPr lang="en-US" sz="980" dirty="0">
                <a:solidFill>
                  <a:srgbClr val="5F635E"/>
                </a:solidFill>
                <a:latin typeface="Archivo" pitchFamily="34" charset="0"/>
                <a:ea typeface="Archivo" pitchFamily="34" charset="-122"/>
                <a:cs typeface="Archivo" pitchFamily="34" charset="-120"/>
              </a:rPr>
              <a:t>Atraso</a:t>
            </a:r>
            <a:endParaRPr lang="en-US" sz="980" dirty="0"/>
          </a:p>
        </p:txBody>
      </p:sp>
      <p:sp>
        <p:nvSpPr>
          <p:cNvPr id="59" name="Shape 57"/>
          <p:cNvSpPr/>
          <p:nvPr/>
        </p:nvSpPr>
        <p:spPr>
          <a:xfrm>
            <a:off x="5505450" y="6143625"/>
            <a:ext cx="247650" cy="57150"/>
          </a:xfrm>
          <a:prstGeom prst="rect">
            <a:avLst/>
          </a:prstGeom>
          <a:solidFill>
            <a:srgbClr val="E8A33D"/>
          </a:solidFill>
          <a:ln/>
        </p:spPr>
      </p:sp>
      <p:sp>
        <p:nvSpPr>
          <p:cNvPr id="60" name="Text 58"/>
          <p:cNvSpPr txBox="1"/>
          <p:nvPr/>
        </p:nvSpPr>
        <p:spPr>
          <a:xfrm>
            <a:off x="5829300" y="6086475"/>
            <a:ext cx="1581150" cy="133350"/>
          </a:xfrm>
          <a:prstGeom prst="rect">
            <a:avLst/>
          </a:prstGeom>
          <a:noFill/>
          <a:ln/>
        </p:spPr>
        <p:txBody>
          <a:bodyPr wrap="square" lIns="0" tIns="0" rIns="0" bIns="0" rtlCol="0" anchor="t"/>
          <a:lstStyle/>
          <a:p>
            <a:pPr algn="l" indent="0" marL="0">
              <a:lnSpc>
                <a:spcPts val="1170"/>
              </a:lnSpc>
              <a:buNone/>
            </a:pPr>
            <a:r>
              <a:rPr lang="en-US" sz="980" dirty="0">
                <a:solidFill>
                  <a:srgbClr val="5F635E"/>
                </a:solidFill>
                <a:latin typeface="Archivo" pitchFamily="34" charset="0"/>
                <a:ea typeface="Archivo" pitchFamily="34" charset="-122"/>
                <a:cs typeface="Archivo" pitchFamily="34" charset="-120"/>
              </a:rPr>
              <a:t>Abierto hasta hoy</a:t>
            </a:r>
            <a:endParaRPr lang="en-US" sz="980" dirty="0"/>
          </a:p>
        </p:txBody>
      </p:sp>
      <p:sp>
        <p:nvSpPr>
          <p:cNvPr id="61" name="Text 59"/>
          <p:cNvSpPr txBox="1"/>
          <p:nvPr/>
        </p:nvSpPr>
        <p:spPr>
          <a:xfrm>
            <a:off x="11342489" y="6343650"/>
            <a:ext cx="220861" cy="209550"/>
          </a:xfrm>
          <a:prstGeom prst="rect">
            <a:avLst/>
          </a:prstGeom>
          <a:noFill/>
          <a:ln/>
        </p:spPr>
        <p:txBody>
          <a:bodyPr wrap="square" lIns="0" tIns="0" rIns="0" bIns="0" rtlCol="0" anchor="t"/>
          <a:lstStyle/>
          <a:p>
            <a:pPr algn="l" indent="0" marL="0">
              <a:lnSpc>
                <a:spcPts val="1440"/>
              </a:lnSpc>
              <a:buNone/>
            </a:pPr>
            <a:r>
              <a:rPr lang="en-US" sz="1200" i="1" dirty="0">
                <a:solidFill>
                  <a:srgbClr val="5F635E"/>
                </a:solidFill>
                <a:latin typeface="Source Serif 4" pitchFamily="34" charset="0"/>
                <a:ea typeface="Source Serif 4" pitchFamily="34" charset="-122"/>
                <a:cs typeface="Source Serif 4" pitchFamily="34" charset="-120"/>
              </a:rPr>
              <a:t>03</a:t>
            </a:r>
            <a:endParaRPr lang="en-US" sz="1200" dirty="0"/>
          </a:p>
        </p:txBody>
      </p:sp>
      <p:sp>
        <p:nvSpPr>
          <p:cNvPr id="62" name="Text 60"/>
          <p:cNvSpPr txBox="1"/>
          <p:nvPr/>
        </p:nvSpPr>
        <p:spPr>
          <a:xfrm>
            <a:off x="7810500" y="6400800"/>
            <a:ext cx="2914650" cy="133350"/>
          </a:xfrm>
          <a:prstGeom prst="rect">
            <a:avLst/>
          </a:prstGeom>
          <a:noFill/>
          <a:ln/>
        </p:spPr>
        <p:txBody>
          <a:bodyPr wrap="square" lIns="0" tIns="0" rIns="0" bIns="0" rtlCol="0" anchor="t"/>
          <a:lstStyle/>
          <a:p>
            <a:pPr algn="r" indent="0" marL="0">
              <a:lnSpc>
                <a:spcPts val="1080"/>
              </a:lnSpc>
              <a:buNone/>
            </a:pPr>
            <a:r>
              <a:rPr lang="en-US" sz="900" spc="22" kern="0" dirty="0">
                <a:solidFill>
                  <a:srgbClr val="5F635E"/>
                </a:solidFill>
                <a:latin typeface="Archivo" pitchFamily="34" charset="0"/>
                <a:ea typeface="Archivo" pitchFamily="34" charset="-122"/>
                <a:cs typeface="Archivo" pitchFamily="34" charset="-120"/>
              </a:rPr>
              <a:t>Fuente: cronograma de hitos y repositorio SAML</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CE8E1"/>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E2122"/>
          </a:solidFill>
          <a:ln/>
        </p:spPr>
      </p:sp>
      <p:sp>
        <p:nvSpPr>
          <p:cNvPr id="3" name="Text 1"/>
          <p:cNvSpPr txBox="1"/>
          <p:nvPr/>
        </p:nvSpPr>
        <p:spPr>
          <a:xfrm>
            <a:off x="685800" y="381000"/>
            <a:ext cx="3337024" cy="133350"/>
          </a:xfrm>
          <a:prstGeom prst="rect">
            <a:avLst/>
          </a:prstGeom>
          <a:noFill/>
          <a:ln/>
        </p:spPr>
        <p:txBody>
          <a:bodyPr wrap="square" lIns="0" tIns="0" rIns="0" bIns="0" rtlCol="0" anchor="t"/>
          <a:lstStyle/>
          <a:p>
            <a:pPr algn="l" indent="0" marL="0">
              <a:lnSpc>
                <a:spcPts val="1080"/>
              </a:lnSpc>
              <a:buNone/>
            </a:pPr>
            <a:r>
              <a:rPr lang="en-US" sz="900" b="1" spc="188" kern="0" dirty="0">
                <a:solidFill>
                  <a:srgbClr val="A9ACA6"/>
                </a:solidFill>
                <a:latin typeface="Archivo" pitchFamily="34" charset="0"/>
                <a:ea typeface="Archivo" pitchFamily="34" charset="-122"/>
                <a:cs typeface="Archivo" pitchFamily="34" charset="-120"/>
              </a:rPr>
              <a:t>SAML · COMITÉ SPONSOR — EL HALLAZGO</a:t>
            </a:r>
            <a:endParaRPr lang="en-US" sz="900" dirty="0"/>
          </a:p>
        </p:txBody>
      </p:sp>
      <p:sp>
        <p:nvSpPr>
          <p:cNvPr id="4" name="Text 2"/>
          <p:cNvSpPr txBox="1"/>
          <p:nvPr/>
        </p:nvSpPr>
        <p:spPr>
          <a:xfrm>
            <a:off x="685800" y="666750"/>
            <a:ext cx="10534650" cy="767953"/>
          </a:xfrm>
          <a:prstGeom prst="rect">
            <a:avLst/>
          </a:prstGeom>
          <a:noFill/>
          <a:ln/>
        </p:spPr>
        <p:txBody>
          <a:bodyPr wrap="square" lIns="0" tIns="0" rIns="0" bIns="0" rtlCol="0" anchor="t"/>
          <a:lstStyle/>
          <a:p>
            <a:pPr algn="l" indent="0" marL="0">
              <a:lnSpc>
                <a:spcPts val="3020"/>
              </a:lnSpc>
              <a:buNone/>
            </a:pPr>
            <a:r>
              <a:rPr lang="en-US" sz="2700" b="1" spc="-38" kern="0" dirty="0">
                <a:solidFill>
                  <a:srgbClr val="ECE8E1"/>
                </a:solidFill>
                <a:latin typeface="Archivo" pitchFamily="34" charset="0"/>
                <a:ea typeface="Archivo" pitchFamily="34" charset="-122"/>
                <a:cs typeface="Archivo" pitchFamily="34" charset="-120"/>
              </a:rPr>
              <a:t>Localidad, NIT y fecha de adjudicación no existen en la fuente pública</a:t>
            </a:r>
            <a:endParaRPr lang="en-US" sz="2700" dirty="0"/>
          </a:p>
        </p:txBody>
      </p:sp>
      <p:sp>
        <p:nvSpPr>
          <p:cNvPr id="5" name="Text 3"/>
          <p:cNvSpPr txBox="1"/>
          <p:nvPr/>
        </p:nvSpPr>
        <p:spPr>
          <a:xfrm>
            <a:off x="609600" y="1962150"/>
            <a:ext cx="4057650" cy="2190750"/>
          </a:xfrm>
          <a:prstGeom prst="rect">
            <a:avLst/>
          </a:prstGeom>
          <a:noFill/>
          <a:ln/>
        </p:spPr>
        <p:txBody>
          <a:bodyPr wrap="square" lIns="0" tIns="0" rIns="0" bIns="0" rtlCol="0" anchor="t"/>
          <a:lstStyle/>
          <a:p>
            <a:pPr algn="l" indent="0" marL="0">
              <a:lnSpc>
                <a:spcPts val="17250"/>
              </a:lnSpc>
              <a:buNone/>
            </a:pPr>
            <a:r>
              <a:rPr lang="en-US" sz="17250" b="1" spc="-750" kern="0" dirty="0">
                <a:solidFill>
                  <a:srgbClr val="E8A33D"/>
                </a:solidFill>
                <a:latin typeface="Archivo" pitchFamily="34" charset="0"/>
                <a:ea typeface="Archivo" pitchFamily="34" charset="-122"/>
                <a:cs typeface="Archivo" pitchFamily="34" charset="-120"/>
              </a:rPr>
              <a:t>3</a:t>
            </a:r>
            <a:pPr algn="l" indent="0" marL="0">
              <a:lnSpc>
                <a:spcPts val="17250"/>
              </a:lnSpc>
              <a:buNone/>
            </a:pPr>
            <a:r>
              <a:rPr lang="en-US" sz="7200" b="1" spc="-225" kern="0" dirty="0">
                <a:solidFill>
                  <a:srgbClr val="ECE8E1"/>
                </a:solidFill>
                <a:latin typeface="Archivo" pitchFamily="34" charset="0"/>
                <a:ea typeface="Archivo" pitchFamily="34" charset="-122"/>
                <a:cs typeface="Archivo" pitchFamily="34" charset="-120"/>
              </a:rPr>
              <a:t>/20</a:t>
            </a:r>
            <a:endParaRPr lang="en-US" sz="17250" dirty="0"/>
          </a:p>
        </p:txBody>
      </p:sp>
      <p:sp>
        <p:nvSpPr>
          <p:cNvPr id="6" name="Text 4"/>
          <p:cNvSpPr txBox="1"/>
          <p:nvPr/>
        </p:nvSpPr>
        <p:spPr>
          <a:xfrm>
            <a:off x="685800" y="4324350"/>
            <a:ext cx="3867150" cy="617041"/>
          </a:xfrm>
          <a:prstGeom prst="rect">
            <a:avLst/>
          </a:prstGeom>
          <a:noFill/>
          <a:ln/>
        </p:spPr>
        <p:txBody>
          <a:bodyPr wrap="square" lIns="0" tIns="0" rIns="0" bIns="0" rtlCol="0" anchor="t"/>
          <a:lstStyle/>
          <a:p>
            <a:pPr algn="l" indent="0" marL="0">
              <a:lnSpc>
                <a:spcPts val="2430"/>
              </a:lnSpc>
              <a:buNone/>
            </a:pPr>
            <a:r>
              <a:rPr lang="en-US" sz="1800" i="1" dirty="0">
                <a:solidFill>
                  <a:srgbClr val="CFCAC1"/>
                </a:solidFill>
                <a:latin typeface="Source Serif 4" pitchFamily="34" charset="0"/>
                <a:ea typeface="Source Serif 4" pitchFamily="34" charset="-122"/>
                <a:cs typeface="Source Serif 4" pitchFamily="34" charset="-120"/>
              </a:rPr>
              <a:t>columnas de Obras V6 que el sistema puede llenar hoy con datos públicos.</a:t>
            </a:r>
            <a:endParaRPr lang="en-US" sz="1800" dirty="0"/>
          </a:p>
        </p:txBody>
      </p:sp>
      <p:sp>
        <p:nvSpPr>
          <p:cNvPr id="7" name="Text 5"/>
          <p:cNvSpPr txBox="1"/>
          <p:nvPr/>
        </p:nvSpPr>
        <p:spPr>
          <a:xfrm>
            <a:off x="685800" y="5391150"/>
            <a:ext cx="3867150" cy="414338"/>
          </a:xfrm>
          <a:prstGeom prst="rect">
            <a:avLst/>
          </a:prstGeom>
          <a:noFill/>
          <a:ln/>
        </p:spPr>
        <p:txBody>
          <a:bodyPr wrap="square" lIns="0" tIns="0" rIns="0" bIns="0" rtlCol="0" anchor="t"/>
          <a:lstStyle/>
          <a:p>
            <a:pPr algn="l" indent="0" marL="0">
              <a:lnSpc>
                <a:spcPts val="1630"/>
              </a:lnSpc>
              <a:buNone/>
            </a:pPr>
            <a:r>
              <a:rPr lang="en-US" sz="1130" dirty="0">
                <a:solidFill>
                  <a:srgbClr val="A9ACA6"/>
                </a:solidFill>
                <a:latin typeface="Archivo" pitchFamily="34" charset="0"/>
                <a:ea typeface="Archivo" pitchFamily="34" charset="-122"/>
                <a:cs typeface="Archivo" pitchFamily="34" charset="-120"/>
              </a:rPr>
              <a:t>Las 7 sin fuente incluyen la que usan para asignar el asesor: </a:t>
            </a:r>
            <a:pPr algn="l" indent="0" marL="0">
              <a:lnSpc>
                <a:spcPts val="1630"/>
              </a:lnSpc>
              <a:buNone/>
            </a:pPr>
            <a:r>
              <a:rPr lang="en-US" sz="1130" b="1" dirty="0">
                <a:solidFill>
                  <a:srgbClr val="ECE8E1"/>
                </a:solidFill>
                <a:latin typeface="Archivo" pitchFamily="34" charset="0"/>
                <a:ea typeface="Archivo" pitchFamily="34" charset="-122"/>
                <a:cs typeface="Archivo" pitchFamily="34" charset="-120"/>
              </a:rPr>
              <a:t>localidad</a:t>
            </a:r>
            <a:pPr algn="l" indent="0" marL="0">
              <a:lnSpc>
                <a:spcPts val="1630"/>
              </a:lnSpc>
              <a:buNone/>
            </a:pPr>
            <a:r>
              <a:rPr lang="en-US" sz="1130" dirty="0">
                <a:solidFill>
                  <a:srgbClr val="A9ACA6"/>
                </a:solidFill>
                <a:latin typeface="Archivo" pitchFamily="34" charset="0"/>
                <a:ea typeface="Archivo" pitchFamily="34" charset="-122"/>
                <a:cs typeface="Archivo" pitchFamily="34" charset="-120"/>
              </a:rPr>
              <a:t>.</a:t>
            </a:r>
            <a:endParaRPr lang="en-US" sz="1130" dirty="0"/>
          </a:p>
        </p:txBody>
      </p:sp>
      <p:sp>
        <p:nvSpPr>
          <p:cNvPr id="8" name="Shape 6"/>
          <p:cNvSpPr/>
          <p:nvPr/>
        </p:nvSpPr>
        <p:spPr>
          <a:xfrm>
            <a:off x="5334000" y="2000250"/>
            <a:ext cx="1457325" cy="552450"/>
          </a:xfrm>
          <a:prstGeom prst="rect">
            <a:avLst/>
          </a:prstGeom>
          <a:solidFill>
            <a:srgbClr val="E8A33D"/>
          </a:solidFill>
          <a:ln/>
        </p:spPr>
      </p:sp>
      <p:sp>
        <p:nvSpPr>
          <p:cNvPr id="9" name="Text 7"/>
          <p:cNvSpPr txBox="1"/>
          <p:nvPr/>
        </p:nvSpPr>
        <p:spPr>
          <a:xfrm>
            <a:off x="5334000" y="2000250"/>
            <a:ext cx="1514475" cy="552450"/>
          </a:xfrm>
          <a:prstGeom prst="rect">
            <a:avLst/>
          </a:prstGeom>
          <a:noFill/>
          <a:ln/>
        </p:spPr>
        <p:txBody>
          <a:bodyPr wrap="square" lIns="114300" tIns="95250" rIns="114300" bIns="95250" rtlCol="0" anchor="t"/>
          <a:lstStyle/>
          <a:p>
            <a:pPr algn="l" indent="0" marL="0">
              <a:lnSpc>
                <a:spcPts val="1260"/>
              </a:lnSpc>
              <a:buNone/>
            </a:pPr>
            <a:r>
              <a:rPr lang="en-US" sz="1050" b="1" dirty="0">
                <a:solidFill>
                  <a:srgbClr val="1E2122"/>
                </a:solidFill>
                <a:latin typeface="Archivo" pitchFamily="34" charset="0"/>
                <a:ea typeface="Archivo" pitchFamily="34" charset="-122"/>
                <a:cs typeface="Archivo" pitchFamily="34" charset="-120"/>
              </a:rPr>
              <a:t>Entidad</a:t>
            </a:r>
            <a:endParaRPr lang="en-US" sz="1050" dirty="0"/>
          </a:p>
        </p:txBody>
      </p:sp>
      <p:sp>
        <p:nvSpPr>
          <p:cNvPr id="10" name="Shape 8"/>
          <p:cNvSpPr/>
          <p:nvPr/>
        </p:nvSpPr>
        <p:spPr>
          <a:xfrm>
            <a:off x="6905625" y="2000250"/>
            <a:ext cx="1457325" cy="552450"/>
          </a:xfrm>
          <a:prstGeom prst="rect">
            <a:avLst/>
          </a:prstGeom>
          <a:solidFill>
            <a:srgbClr val="E8A33D"/>
          </a:solidFill>
          <a:ln/>
        </p:spPr>
      </p:sp>
      <p:sp>
        <p:nvSpPr>
          <p:cNvPr id="11" name="Text 9"/>
          <p:cNvSpPr txBox="1"/>
          <p:nvPr/>
        </p:nvSpPr>
        <p:spPr>
          <a:xfrm>
            <a:off x="6905625" y="2000250"/>
            <a:ext cx="1514475" cy="552450"/>
          </a:xfrm>
          <a:prstGeom prst="rect">
            <a:avLst/>
          </a:prstGeom>
          <a:noFill/>
          <a:ln/>
        </p:spPr>
        <p:txBody>
          <a:bodyPr wrap="square" lIns="114300" tIns="95250" rIns="114300" bIns="95250" rtlCol="0" anchor="t"/>
          <a:lstStyle/>
          <a:p>
            <a:pPr algn="l" indent="0" marL="0">
              <a:lnSpc>
                <a:spcPts val="1260"/>
              </a:lnSpc>
              <a:buNone/>
            </a:pPr>
            <a:r>
              <a:rPr lang="en-US" sz="1050" b="1" dirty="0">
                <a:solidFill>
                  <a:srgbClr val="1E2122"/>
                </a:solidFill>
                <a:latin typeface="Archivo" pitchFamily="34" charset="0"/>
                <a:ea typeface="Archivo" pitchFamily="34" charset="-122"/>
                <a:cs typeface="Archivo" pitchFamily="34" charset="-120"/>
              </a:rPr>
              <a:t>Valor en millones</a:t>
            </a:r>
            <a:endParaRPr lang="en-US" sz="1050" dirty="0"/>
          </a:p>
        </p:txBody>
      </p:sp>
      <p:sp>
        <p:nvSpPr>
          <p:cNvPr id="12" name="Shape 10"/>
          <p:cNvSpPr/>
          <p:nvPr/>
        </p:nvSpPr>
        <p:spPr>
          <a:xfrm>
            <a:off x="8477250" y="2000250"/>
            <a:ext cx="1457325" cy="552450"/>
          </a:xfrm>
          <a:prstGeom prst="rect">
            <a:avLst/>
          </a:prstGeom>
          <a:solidFill>
            <a:srgbClr val="E8A33D"/>
          </a:solidFill>
          <a:ln/>
        </p:spPr>
      </p:sp>
      <p:sp>
        <p:nvSpPr>
          <p:cNvPr id="13" name="Text 11"/>
          <p:cNvSpPr txBox="1"/>
          <p:nvPr/>
        </p:nvSpPr>
        <p:spPr>
          <a:xfrm>
            <a:off x="8477250" y="2000250"/>
            <a:ext cx="1514475" cy="552450"/>
          </a:xfrm>
          <a:prstGeom prst="rect">
            <a:avLst/>
          </a:prstGeom>
          <a:noFill/>
          <a:ln/>
        </p:spPr>
        <p:txBody>
          <a:bodyPr wrap="square" lIns="114300" tIns="95250" rIns="114300" bIns="95250" rtlCol="0" anchor="t"/>
          <a:lstStyle/>
          <a:p>
            <a:pPr algn="l" indent="0" marL="0">
              <a:lnSpc>
                <a:spcPts val="1260"/>
              </a:lnSpc>
              <a:buNone/>
            </a:pPr>
            <a:r>
              <a:rPr lang="en-US" sz="1050" b="1" dirty="0">
                <a:solidFill>
                  <a:srgbClr val="1E2122"/>
                </a:solidFill>
                <a:latin typeface="Archivo" pitchFamily="34" charset="0"/>
                <a:ea typeface="Archivo" pitchFamily="34" charset="-122"/>
                <a:cs typeface="Archivo" pitchFamily="34" charset="-120"/>
              </a:rPr>
              <a:t>Empresa ganadora</a:t>
            </a:r>
            <a:endParaRPr lang="en-US" sz="1050" dirty="0"/>
          </a:p>
        </p:txBody>
      </p:sp>
      <p:sp>
        <p:nvSpPr>
          <p:cNvPr id="14" name="Shape 12"/>
          <p:cNvSpPr/>
          <p:nvPr/>
        </p:nvSpPr>
        <p:spPr>
          <a:xfrm>
            <a:off x="10048875" y="2000250"/>
            <a:ext cx="1457325" cy="552450"/>
          </a:xfrm>
          <a:prstGeom prst="rect">
            <a:avLst/>
          </a:prstGeom>
          <a:solidFill>
            <a:srgbClr val="B5482A"/>
          </a:solidFill>
          <a:ln/>
        </p:spPr>
      </p:sp>
      <p:sp>
        <p:nvSpPr>
          <p:cNvPr id="15" name="Text 13"/>
          <p:cNvSpPr txBox="1"/>
          <p:nvPr/>
        </p:nvSpPr>
        <p:spPr>
          <a:xfrm>
            <a:off x="10048875" y="2000250"/>
            <a:ext cx="1514475" cy="552450"/>
          </a:xfrm>
          <a:prstGeom prst="rect">
            <a:avLst/>
          </a:prstGeom>
          <a:noFill/>
          <a:ln/>
        </p:spPr>
        <p:txBody>
          <a:bodyPr wrap="square" lIns="114300" tIns="95250" rIns="114300" bIns="95250" rtlCol="0" anchor="t"/>
          <a:lstStyle/>
          <a:p>
            <a:pPr algn="l" indent="0" marL="0">
              <a:lnSpc>
                <a:spcPts val="1260"/>
              </a:lnSpc>
              <a:buNone/>
            </a:pPr>
            <a:r>
              <a:rPr lang="en-US" sz="1050" b="1" dirty="0">
                <a:solidFill>
                  <a:srgbClr val="ECE8E1"/>
                </a:solidFill>
                <a:latin typeface="Archivo" pitchFamily="34" charset="0"/>
                <a:ea typeface="Archivo" pitchFamily="34" charset="-122"/>
                <a:cs typeface="Archivo" pitchFamily="34" charset="-120"/>
              </a:rPr>
              <a:t>NIT</a:t>
            </a:r>
            <a:endParaRPr lang="en-US" sz="1050" dirty="0"/>
          </a:p>
        </p:txBody>
      </p:sp>
      <p:sp>
        <p:nvSpPr>
          <p:cNvPr id="16" name="Shape 14"/>
          <p:cNvSpPr/>
          <p:nvPr/>
        </p:nvSpPr>
        <p:spPr>
          <a:xfrm>
            <a:off x="5334000" y="2667000"/>
            <a:ext cx="1457325" cy="552450"/>
          </a:xfrm>
          <a:prstGeom prst="rect">
            <a:avLst/>
          </a:prstGeom>
          <a:solidFill>
            <a:srgbClr val="B5482A"/>
          </a:solidFill>
          <a:ln/>
        </p:spPr>
      </p:sp>
      <p:sp>
        <p:nvSpPr>
          <p:cNvPr id="17" name="Text 15"/>
          <p:cNvSpPr txBox="1"/>
          <p:nvPr/>
        </p:nvSpPr>
        <p:spPr>
          <a:xfrm>
            <a:off x="5334000" y="2667000"/>
            <a:ext cx="1514475" cy="552450"/>
          </a:xfrm>
          <a:prstGeom prst="rect">
            <a:avLst/>
          </a:prstGeom>
          <a:noFill/>
          <a:ln/>
        </p:spPr>
        <p:txBody>
          <a:bodyPr wrap="square" lIns="114300" tIns="95250" rIns="114300" bIns="95250" rtlCol="0" anchor="t"/>
          <a:lstStyle/>
          <a:p>
            <a:pPr algn="l" indent="0" marL="0">
              <a:lnSpc>
                <a:spcPts val="1260"/>
              </a:lnSpc>
              <a:buNone/>
            </a:pPr>
            <a:r>
              <a:rPr lang="en-US" sz="1050" b="1" dirty="0">
                <a:solidFill>
                  <a:srgbClr val="ECE8E1"/>
                </a:solidFill>
                <a:latin typeface="Archivo" pitchFamily="34" charset="0"/>
                <a:ea typeface="Archivo" pitchFamily="34" charset="-122"/>
                <a:cs typeface="Archivo" pitchFamily="34" charset="-120"/>
              </a:rPr>
              <a:t>Localidad</a:t>
            </a:r>
            <a:endParaRPr lang="en-US" sz="1050" dirty="0"/>
          </a:p>
        </p:txBody>
      </p:sp>
      <p:sp>
        <p:nvSpPr>
          <p:cNvPr id="18" name="Shape 16"/>
          <p:cNvSpPr/>
          <p:nvPr/>
        </p:nvSpPr>
        <p:spPr>
          <a:xfrm>
            <a:off x="6905625" y="2667000"/>
            <a:ext cx="1457325" cy="552450"/>
          </a:xfrm>
          <a:prstGeom prst="rect">
            <a:avLst/>
          </a:prstGeom>
          <a:solidFill>
            <a:srgbClr val="B5482A"/>
          </a:solidFill>
          <a:ln/>
        </p:spPr>
      </p:sp>
      <p:sp>
        <p:nvSpPr>
          <p:cNvPr id="19" name="Text 17"/>
          <p:cNvSpPr txBox="1"/>
          <p:nvPr/>
        </p:nvSpPr>
        <p:spPr>
          <a:xfrm>
            <a:off x="6905625" y="2667000"/>
            <a:ext cx="1514475" cy="552450"/>
          </a:xfrm>
          <a:prstGeom prst="rect">
            <a:avLst/>
          </a:prstGeom>
          <a:noFill/>
          <a:ln/>
        </p:spPr>
        <p:txBody>
          <a:bodyPr wrap="square" lIns="114300" tIns="95250" rIns="114300" bIns="95250" rtlCol="0" anchor="t"/>
          <a:lstStyle/>
          <a:p>
            <a:pPr algn="l" indent="0" marL="0">
              <a:lnSpc>
                <a:spcPts val="1260"/>
              </a:lnSpc>
              <a:buNone/>
            </a:pPr>
            <a:r>
              <a:rPr lang="en-US" sz="1050" b="1" dirty="0">
                <a:solidFill>
                  <a:srgbClr val="ECE8E1"/>
                </a:solidFill>
                <a:latin typeface="Archivo" pitchFamily="34" charset="0"/>
                <a:ea typeface="Archivo" pitchFamily="34" charset="-122"/>
                <a:cs typeface="Archivo" pitchFamily="34" charset="-120"/>
              </a:rPr>
              <a:t>Latitud</a:t>
            </a:r>
            <a:endParaRPr lang="en-US" sz="1050" dirty="0"/>
          </a:p>
        </p:txBody>
      </p:sp>
      <p:sp>
        <p:nvSpPr>
          <p:cNvPr id="20" name="Shape 18"/>
          <p:cNvSpPr/>
          <p:nvPr/>
        </p:nvSpPr>
        <p:spPr>
          <a:xfrm>
            <a:off x="8477250" y="2667000"/>
            <a:ext cx="1457325" cy="552450"/>
          </a:xfrm>
          <a:prstGeom prst="rect">
            <a:avLst/>
          </a:prstGeom>
          <a:solidFill>
            <a:srgbClr val="B5482A"/>
          </a:solidFill>
          <a:ln/>
        </p:spPr>
      </p:sp>
      <p:sp>
        <p:nvSpPr>
          <p:cNvPr id="21" name="Text 19"/>
          <p:cNvSpPr txBox="1"/>
          <p:nvPr/>
        </p:nvSpPr>
        <p:spPr>
          <a:xfrm>
            <a:off x="8477250" y="2667000"/>
            <a:ext cx="1514475" cy="552450"/>
          </a:xfrm>
          <a:prstGeom prst="rect">
            <a:avLst/>
          </a:prstGeom>
          <a:noFill/>
          <a:ln/>
        </p:spPr>
        <p:txBody>
          <a:bodyPr wrap="square" lIns="114300" tIns="95250" rIns="114300" bIns="95250" rtlCol="0" anchor="t"/>
          <a:lstStyle/>
          <a:p>
            <a:pPr algn="l" indent="0" marL="0">
              <a:lnSpc>
                <a:spcPts val="1260"/>
              </a:lnSpc>
              <a:buNone/>
            </a:pPr>
            <a:r>
              <a:rPr lang="en-US" sz="1050" b="1" dirty="0">
                <a:solidFill>
                  <a:srgbClr val="ECE8E1"/>
                </a:solidFill>
                <a:latin typeface="Archivo" pitchFamily="34" charset="0"/>
                <a:ea typeface="Archivo" pitchFamily="34" charset="-122"/>
                <a:cs typeface="Archivo" pitchFamily="34" charset="-120"/>
              </a:rPr>
              <a:t>Longitud</a:t>
            </a:r>
            <a:endParaRPr lang="en-US" sz="1050" dirty="0"/>
          </a:p>
        </p:txBody>
      </p:sp>
      <p:sp>
        <p:nvSpPr>
          <p:cNvPr id="22" name="Shape 20"/>
          <p:cNvSpPr/>
          <p:nvPr/>
        </p:nvSpPr>
        <p:spPr>
          <a:xfrm>
            <a:off x="10048875" y="2667000"/>
            <a:ext cx="1457325" cy="552450"/>
          </a:xfrm>
          <a:prstGeom prst="rect">
            <a:avLst/>
          </a:prstGeom>
          <a:solidFill>
            <a:srgbClr val="B5482A"/>
          </a:solidFill>
          <a:ln/>
        </p:spPr>
      </p:sp>
      <p:sp>
        <p:nvSpPr>
          <p:cNvPr id="23" name="Text 21"/>
          <p:cNvSpPr txBox="1"/>
          <p:nvPr/>
        </p:nvSpPr>
        <p:spPr>
          <a:xfrm>
            <a:off x="10048875" y="2667000"/>
            <a:ext cx="1514475" cy="552450"/>
          </a:xfrm>
          <a:prstGeom prst="rect">
            <a:avLst/>
          </a:prstGeom>
          <a:noFill/>
          <a:ln/>
        </p:spPr>
        <p:txBody>
          <a:bodyPr wrap="square" lIns="114300" tIns="95250" rIns="114300" bIns="95250" rtlCol="0" anchor="t"/>
          <a:lstStyle/>
          <a:p>
            <a:pPr algn="l" indent="0" marL="0">
              <a:lnSpc>
                <a:spcPts val="1260"/>
              </a:lnSpc>
              <a:buNone/>
            </a:pPr>
            <a:r>
              <a:rPr lang="en-US" sz="1050" b="1" dirty="0">
                <a:solidFill>
                  <a:srgbClr val="ECE8E1"/>
                </a:solidFill>
                <a:latin typeface="Archivo" pitchFamily="34" charset="0"/>
                <a:ea typeface="Archivo" pitchFamily="34" charset="-122"/>
                <a:cs typeface="Archivo" pitchFamily="34" charset="-120"/>
              </a:rPr>
              <a:t>Nombre de la obra</a:t>
            </a:r>
            <a:endParaRPr lang="en-US" sz="1050" dirty="0"/>
          </a:p>
        </p:txBody>
      </p:sp>
      <p:sp>
        <p:nvSpPr>
          <p:cNvPr id="24" name="Shape 22"/>
          <p:cNvSpPr/>
          <p:nvPr/>
        </p:nvSpPr>
        <p:spPr>
          <a:xfrm>
            <a:off x="5334000" y="3333750"/>
            <a:ext cx="1457325" cy="552450"/>
          </a:xfrm>
          <a:prstGeom prst="rect">
            <a:avLst/>
          </a:prstGeom>
          <a:solidFill>
            <a:srgbClr val="B5482A"/>
          </a:solidFill>
          <a:ln/>
        </p:spPr>
      </p:sp>
      <p:sp>
        <p:nvSpPr>
          <p:cNvPr id="25" name="Text 23"/>
          <p:cNvSpPr txBox="1"/>
          <p:nvPr/>
        </p:nvSpPr>
        <p:spPr>
          <a:xfrm>
            <a:off x="5334000" y="3333750"/>
            <a:ext cx="1514475" cy="552450"/>
          </a:xfrm>
          <a:prstGeom prst="rect">
            <a:avLst/>
          </a:prstGeom>
          <a:noFill/>
          <a:ln/>
        </p:spPr>
        <p:txBody>
          <a:bodyPr wrap="square" lIns="114300" tIns="95250" rIns="114300" bIns="95250" rtlCol="0" anchor="t"/>
          <a:lstStyle/>
          <a:p>
            <a:pPr algn="l" indent="0" marL="0">
              <a:lnSpc>
                <a:spcPts val="1260"/>
              </a:lnSpc>
              <a:buNone/>
            </a:pPr>
            <a:r>
              <a:rPr lang="en-US" sz="1050" b="1" dirty="0">
                <a:solidFill>
                  <a:srgbClr val="ECE8E1"/>
                </a:solidFill>
                <a:latin typeface="Archivo" pitchFamily="34" charset="0"/>
                <a:ea typeface="Archivo" pitchFamily="34" charset="-122"/>
                <a:cs typeface="Archivo" pitchFamily="34" charset="-120"/>
              </a:rPr>
              <a:t>Contrato No.</a:t>
            </a:r>
            <a:endParaRPr lang="en-US" sz="1050" dirty="0"/>
          </a:p>
        </p:txBody>
      </p:sp>
      <p:sp>
        <p:nvSpPr>
          <p:cNvPr id="26" name="Shape 24"/>
          <p:cNvSpPr/>
          <p:nvPr/>
        </p:nvSpPr>
        <p:spPr>
          <a:xfrm>
            <a:off x="6905625" y="3333750"/>
            <a:ext cx="1457325" cy="552450"/>
          </a:xfrm>
          <a:prstGeom prst="rect">
            <a:avLst/>
          </a:prstGeom>
          <a:solidFill>
            <a:srgbClr val="B5482A"/>
          </a:solidFill>
          <a:ln/>
        </p:spPr>
      </p:sp>
      <p:sp>
        <p:nvSpPr>
          <p:cNvPr id="27" name="Text 25"/>
          <p:cNvSpPr txBox="1"/>
          <p:nvPr/>
        </p:nvSpPr>
        <p:spPr>
          <a:xfrm>
            <a:off x="6905625" y="3333750"/>
            <a:ext cx="1514475" cy="552450"/>
          </a:xfrm>
          <a:prstGeom prst="rect">
            <a:avLst/>
          </a:prstGeom>
          <a:noFill/>
          <a:ln/>
        </p:spPr>
        <p:txBody>
          <a:bodyPr wrap="square" lIns="114300" tIns="95250" rIns="114300" bIns="95250" rtlCol="0" anchor="t"/>
          <a:lstStyle/>
          <a:p>
            <a:pPr algn="l" indent="0" marL="0">
              <a:lnSpc>
                <a:spcPts val="1260"/>
              </a:lnSpc>
              <a:buNone/>
            </a:pPr>
            <a:r>
              <a:rPr lang="en-US" sz="1050" b="1" dirty="0">
                <a:solidFill>
                  <a:srgbClr val="ECE8E1"/>
                </a:solidFill>
                <a:latin typeface="Archivo" pitchFamily="34" charset="0"/>
                <a:ea typeface="Archivo" pitchFamily="34" charset="-122"/>
                <a:cs typeface="Archivo" pitchFamily="34" charset="-120"/>
              </a:rPr>
              <a:t>Fecha de adjudicación</a:t>
            </a:r>
            <a:endParaRPr lang="en-US" sz="1050" dirty="0"/>
          </a:p>
        </p:txBody>
      </p:sp>
      <p:sp>
        <p:nvSpPr>
          <p:cNvPr id="28" name="Shape 26"/>
          <p:cNvSpPr/>
          <p:nvPr/>
        </p:nvSpPr>
        <p:spPr>
          <a:xfrm>
            <a:off x="8477250" y="3333750"/>
            <a:ext cx="1457325" cy="552450"/>
          </a:xfrm>
          <a:prstGeom prst="rect">
            <a:avLst/>
          </a:prstGeom>
          <a:ln w="9525">
            <a:solidFill>
              <a:srgbClr val="6F736E"/>
            </a:solidFill>
            <a:prstDash val="solid"/>
          </a:ln>
        </p:spPr>
      </p:sp>
      <p:sp>
        <p:nvSpPr>
          <p:cNvPr id="29" name="Text 27"/>
          <p:cNvSpPr txBox="1"/>
          <p:nvPr/>
        </p:nvSpPr>
        <p:spPr>
          <a:xfrm>
            <a:off x="8477250" y="3333750"/>
            <a:ext cx="1514475" cy="552450"/>
          </a:xfrm>
          <a:prstGeom prst="rect">
            <a:avLst/>
          </a:prstGeom>
          <a:noFill/>
          <a:ln/>
        </p:spPr>
        <p:txBody>
          <a:bodyPr wrap="square" lIns="114300" tIns="95250" rIns="114300" bIns="95250" rtlCol="0" anchor="t"/>
          <a:lstStyle/>
          <a:p>
            <a:pPr algn="l" indent="0" marL="0">
              <a:lnSpc>
                <a:spcPts val="1260"/>
              </a:lnSpc>
              <a:buNone/>
            </a:pPr>
            <a:r>
              <a:rPr lang="en-US" sz="1050" dirty="0">
                <a:solidFill>
                  <a:srgbClr val="ECE8E1"/>
                </a:solidFill>
                <a:latin typeface="Archivo" pitchFamily="34" charset="0"/>
                <a:ea typeface="Archivo" pitchFamily="34" charset="-122"/>
                <a:cs typeface="Archivo" pitchFamily="34" charset="-120"/>
              </a:rPr>
              <a:t>Asesor</a:t>
            </a:r>
            <a:endParaRPr lang="en-US" sz="1050" dirty="0"/>
          </a:p>
        </p:txBody>
      </p:sp>
      <p:sp>
        <p:nvSpPr>
          <p:cNvPr id="30" name="Shape 28"/>
          <p:cNvSpPr/>
          <p:nvPr/>
        </p:nvSpPr>
        <p:spPr>
          <a:xfrm>
            <a:off x="10048875" y="3333750"/>
            <a:ext cx="1457325" cy="552450"/>
          </a:xfrm>
          <a:prstGeom prst="rect">
            <a:avLst/>
          </a:prstGeom>
          <a:ln w="9525">
            <a:solidFill>
              <a:srgbClr val="6F736E"/>
            </a:solidFill>
            <a:prstDash val="solid"/>
          </a:ln>
        </p:spPr>
      </p:sp>
      <p:sp>
        <p:nvSpPr>
          <p:cNvPr id="31" name="Text 29"/>
          <p:cNvSpPr txBox="1"/>
          <p:nvPr/>
        </p:nvSpPr>
        <p:spPr>
          <a:xfrm>
            <a:off x="10048875" y="3333750"/>
            <a:ext cx="1514475" cy="552450"/>
          </a:xfrm>
          <a:prstGeom prst="rect">
            <a:avLst/>
          </a:prstGeom>
          <a:noFill/>
          <a:ln/>
        </p:spPr>
        <p:txBody>
          <a:bodyPr wrap="square" lIns="114300" tIns="95250" rIns="114300" bIns="95250" rtlCol="0" anchor="t"/>
          <a:lstStyle/>
          <a:p>
            <a:pPr algn="l" indent="0" marL="0">
              <a:lnSpc>
                <a:spcPts val="1260"/>
              </a:lnSpc>
              <a:buNone/>
            </a:pPr>
            <a:r>
              <a:rPr lang="en-US" sz="1050" dirty="0">
                <a:solidFill>
                  <a:srgbClr val="ECE8E1"/>
                </a:solidFill>
                <a:latin typeface="Archivo" pitchFamily="34" charset="0"/>
                <a:ea typeface="Archivo" pitchFamily="34" charset="-122"/>
                <a:cs typeface="Archivo" pitchFamily="34" charset="-120"/>
              </a:rPr>
              <a:t>Despacho / disposición</a:t>
            </a:r>
            <a:endParaRPr lang="en-US" sz="1050" dirty="0"/>
          </a:p>
        </p:txBody>
      </p:sp>
      <p:sp>
        <p:nvSpPr>
          <p:cNvPr id="32" name="Shape 30"/>
          <p:cNvSpPr/>
          <p:nvPr/>
        </p:nvSpPr>
        <p:spPr>
          <a:xfrm>
            <a:off x="5334000" y="4000500"/>
            <a:ext cx="1457325" cy="552450"/>
          </a:xfrm>
          <a:prstGeom prst="rect">
            <a:avLst/>
          </a:prstGeom>
          <a:ln w="9525">
            <a:solidFill>
              <a:srgbClr val="6F736E"/>
            </a:solidFill>
            <a:prstDash val="solid"/>
          </a:ln>
        </p:spPr>
      </p:sp>
      <p:sp>
        <p:nvSpPr>
          <p:cNvPr id="33" name="Text 31"/>
          <p:cNvSpPr txBox="1"/>
          <p:nvPr/>
        </p:nvSpPr>
        <p:spPr>
          <a:xfrm>
            <a:off x="5334000" y="4000500"/>
            <a:ext cx="1514475" cy="552450"/>
          </a:xfrm>
          <a:prstGeom prst="rect">
            <a:avLst/>
          </a:prstGeom>
          <a:noFill/>
          <a:ln/>
        </p:spPr>
        <p:txBody>
          <a:bodyPr wrap="square" lIns="114300" tIns="95250" rIns="114300" bIns="95250" rtlCol="0" anchor="t"/>
          <a:lstStyle/>
          <a:p>
            <a:pPr algn="l" indent="0" marL="0">
              <a:lnSpc>
                <a:spcPts val="1260"/>
              </a:lnSpc>
              <a:buNone/>
            </a:pPr>
            <a:r>
              <a:rPr lang="en-US" sz="1050" dirty="0">
                <a:solidFill>
                  <a:srgbClr val="ECE8E1"/>
                </a:solidFill>
                <a:latin typeface="Archivo" pitchFamily="34" charset="0"/>
                <a:ea typeface="Archivo" pitchFamily="34" charset="-122"/>
                <a:cs typeface="Archivo" pitchFamily="34" charset="-120"/>
              </a:rPr>
              <a:t>Contactada</a:t>
            </a:r>
            <a:endParaRPr lang="en-US" sz="1050" dirty="0"/>
          </a:p>
        </p:txBody>
      </p:sp>
      <p:sp>
        <p:nvSpPr>
          <p:cNvPr id="34" name="Shape 32"/>
          <p:cNvSpPr/>
          <p:nvPr/>
        </p:nvSpPr>
        <p:spPr>
          <a:xfrm>
            <a:off x="6905625" y="4000500"/>
            <a:ext cx="1457325" cy="552450"/>
          </a:xfrm>
          <a:prstGeom prst="rect">
            <a:avLst/>
          </a:prstGeom>
          <a:ln w="9525">
            <a:solidFill>
              <a:srgbClr val="6F736E"/>
            </a:solidFill>
            <a:prstDash val="solid"/>
          </a:ln>
        </p:spPr>
      </p:sp>
      <p:sp>
        <p:nvSpPr>
          <p:cNvPr id="35" name="Text 33"/>
          <p:cNvSpPr txBox="1"/>
          <p:nvPr/>
        </p:nvSpPr>
        <p:spPr>
          <a:xfrm>
            <a:off x="6905625" y="4000500"/>
            <a:ext cx="1514475" cy="552450"/>
          </a:xfrm>
          <a:prstGeom prst="rect">
            <a:avLst/>
          </a:prstGeom>
          <a:noFill/>
          <a:ln/>
        </p:spPr>
        <p:txBody>
          <a:bodyPr wrap="square" lIns="114300" tIns="95250" rIns="114300" bIns="95250" rtlCol="0" anchor="t"/>
          <a:lstStyle/>
          <a:p>
            <a:pPr algn="l" indent="0" marL="0">
              <a:lnSpc>
                <a:spcPts val="1260"/>
              </a:lnSpc>
              <a:buNone/>
            </a:pPr>
            <a:r>
              <a:rPr lang="en-US" sz="1050" dirty="0">
                <a:solidFill>
                  <a:srgbClr val="ECE8E1"/>
                </a:solidFill>
                <a:latin typeface="Archivo" pitchFamily="34" charset="0"/>
                <a:ea typeface="Archivo" pitchFamily="34" charset="-122"/>
                <a:cs typeface="Archivo" pitchFamily="34" charset="-120"/>
              </a:rPr>
              <a:t>Notas</a:t>
            </a:r>
            <a:endParaRPr lang="en-US" sz="1050" dirty="0"/>
          </a:p>
        </p:txBody>
      </p:sp>
      <p:sp>
        <p:nvSpPr>
          <p:cNvPr id="36" name="Shape 34"/>
          <p:cNvSpPr/>
          <p:nvPr/>
        </p:nvSpPr>
        <p:spPr>
          <a:xfrm>
            <a:off x="8477250" y="4000500"/>
            <a:ext cx="1457325" cy="552450"/>
          </a:xfrm>
          <a:prstGeom prst="rect">
            <a:avLst/>
          </a:prstGeom>
          <a:solidFill>
            <a:srgbClr val="2A2E2F"/>
          </a:solidFill>
          <a:ln/>
        </p:spPr>
      </p:sp>
      <p:sp>
        <p:nvSpPr>
          <p:cNvPr id="37" name="Text 35"/>
          <p:cNvSpPr txBox="1"/>
          <p:nvPr/>
        </p:nvSpPr>
        <p:spPr>
          <a:xfrm>
            <a:off x="8477250" y="4000500"/>
            <a:ext cx="1514475" cy="552450"/>
          </a:xfrm>
          <a:prstGeom prst="rect">
            <a:avLst/>
          </a:prstGeom>
          <a:noFill/>
          <a:ln/>
        </p:spPr>
        <p:txBody>
          <a:bodyPr wrap="square" lIns="114300" tIns="95250" rIns="114300" bIns="95250" rtlCol="0" anchor="t"/>
          <a:lstStyle/>
          <a:p>
            <a:pPr algn="l" indent="0" marL="0">
              <a:lnSpc>
                <a:spcPts val="1260"/>
              </a:lnSpc>
              <a:buNone/>
            </a:pPr>
            <a:r>
              <a:rPr lang="en-US" sz="1050" dirty="0">
                <a:solidFill>
                  <a:srgbClr val="A9ACA6"/>
                </a:solidFill>
                <a:latin typeface="Archivo" pitchFamily="34" charset="0"/>
                <a:ea typeface="Archivo" pitchFamily="34" charset="-122"/>
                <a:cs typeface="Archivo" pitchFamily="34" charset="-120"/>
              </a:rPr>
              <a:t>Avance %</a:t>
            </a:r>
            <a:endParaRPr lang="en-US" sz="1050" dirty="0"/>
          </a:p>
        </p:txBody>
      </p:sp>
      <p:sp>
        <p:nvSpPr>
          <p:cNvPr id="38" name="Shape 36"/>
          <p:cNvSpPr/>
          <p:nvPr/>
        </p:nvSpPr>
        <p:spPr>
          <a:xfrm>
            <a:off x="10048875" y="4000500"/>
            <a:ext cx="1457325" cy="552450"/>
          </a:xfrm>
          <a:prstGeom prst="rect">
            <a:avLst/>
          </a:prstGeom>
          <a:solidFill>
            <a:srgbClr val="2A2E2F"/>
          </a:solidFill>
          <a:ln/>
        </p:spPr>
      </p:sp>
      <p:sp>
        <p:nvSpPr>
          <p:cNvPr id="39" name="Text 37"/>
          <p:cNvSpPr txBox="1"/>
          <p:nvPr/>
        </p:nvSpPr>
        <p:spPr>
          <a:xfrm>
            <a:off x="10048875" y="4000500"/>
            <a:ext cx="1514475" cy="552450"/>
          </a:xfrm>
          <a:prstGeom prst="rect">
            <a:avLst/>
          </a:prstGeom>
          <a:noFill/>
          <a:ln/>
        </p:spPr>
        <p:txBody>
          <a:bodyPr wrap="square" lIns="114300" tIns="95250" rIns="114300" bIns="95250" rtlCol="0" anchor="t"/>
          <a:lstStyle/>
          <a:p>
            <a:pPr algn="l" indent="0" marL="0">
              <a:lnSpc>
                <a:spcPts val="1260"/>
              </a:lnSpc>
              <a:buNone/>
            </a:pPr>
            <a:r>
              <a:rPr lang="en-US" sz="1050" dirty="0">
                <a:solidFill>
                  <a:srgbClr val="A9ACA6"/>
                </a:solidFill>
                <a:latin typeface="Archivo" pitchFamily="34" charset="0"/>
                <a:ea typeface="Archivo" pitchFamily="34" charset="-122"/>
                <a:cs typeface="Archivo" pitchFamily="34" charset="-120"/>
              </a:rPr>
              <a:t>Meses por terminar</a:t>
            </a:r>
            <a:endParaRPr lang="en-US" sz="1050" dirty="0"/>
          </a:p>
        </p:txBody>
      </p:sp>
      <p:sp>
        <p:nvSpPr>
          <p:cNvPr id="40" name="Shape 38"/>
          <p:cNvSpPr/>
          <p:nvPr/>
        </p:nvSpPr>
        <p:spPr>
          <a:xfrm>
            <a:off x="5334000" y="4667250"/>
            <a:ext cx="1457325" cy="552450"/>
          </a:xfrm>
          <a:prstGeom prst="rect">
            <a:avLst/>
          </a:prstGeom>
          <a:solidFill>
            <a:srgbClr val="2A2E2F"/>
          </a:solidFill>
          <a:ln/>
        </p:spPr>
      </p:sp>
      <p:sp>
        <p:nvSpPr>
          <p:cNvPr id="41" name="Text 39"/>
          <p:cNvSpPr txBox="1"/>
          <p:nvPr/>
        </p:nvSpPr>
        <p:spPr>
          <a:xfrm>
            <a:off x="5334000" y="4667250"/>
            <a:ext cx="1514475" cy="552450"/>
          </a:xfrm>
          <a:prstGeom prst="rect">
            <a:avLst/>
          </a:prstGeom>
          <a:noFill/>
          <a:ln/>
        </p:spPr>
        <p:txBody>
          <a:bodyPr wrap="square" lIns="114300" tIns="95250" rIns="114300" bIns="95250" rtlCol="0" anchor="t"/>
          <a:lstStyle/>
          <a:p>
            <a:pPr algn="l" indent="0" marL="0">
              <a:lnSpc>
                <a:spcPts val="1260"/>
              </a:lnSpc>
              <a:buNone/>
            </a:pPr>
            <a:r>
              <a:rPr lang="en-US" sz="1050" dirty="0">
                <a:solidFill>
                  <a:srgbClr val="A9ACA6"/>
                </a:solidFill>
                <a:latin typeface="Archivo" pitchFamily="34" charset="0"/>
                <a:ea typeface="Archivo" pitchFamily="34" charset="-122"/>
                <a:cs typeface="Archivo" pitchFamily="34" charset="-120"/>
              </a:rPr>
              <a:t>Valor por ejecutar</a:t>
            </a:r>
            <a:endParaRPr lang="en-US" sz="1050" dirty="0"/>
          </a:p>
        </p:txBody>
      </p:sp>
      <p:sp>
        <p:nvSpPr>
          <p:cNvPr id="42" name="Shape 40"/>
          <p:cNvSpPr/>
          <p:nvPr/>
        </p:nvSpPr>
        <p:spPr>
          <a:xfrm>
            <a:off x="6905625" y="4667250"/>
            <a:ext cx="1457325" cy="552450"/>
          </a:xfrm>
          <a:prstGeom prst="rect">
            <a:avLst/>
          </a:prstGeom>
          <a:solidFill>
            <a:srgbClr val="2A2E2F"/>
          </a:solidFill>
          <a:ln/>
        </p:spPr>
      </p:sp>
      <p:sp>
        <p:nvSpPr>
          <p:cNvPr id="43" name="Text 41"/>
          <p:cNvSpPr txBox="1"/>
          <p:nvPr/>
        </p:nvSpPr>
        <p:spPr>
          <a:xfrm>
            <a:off x="6905625" y="4667250"/>
            <a:ext cx="1514475" cy="552450"/>
          </a:xfrm>
          <a:prstGeom prst="rect">
            <a:avLst/>
          </a:prstGeom>
          <a:noFill/>
          <a:ln/>
        </p:spPr>
        <p:txBody>
          <a:bodyPr wrap="square" lIns="114300" tIns="95250" rIns="114300" bIns="95250" rtlCol="0" anchor="t"/>
          <a:lstStyle/>
          <a:p>
            <a:pPr algn="l" indent="0" marL="0">
              <a:lnSpc>
                <a:spcPts val="1260"/>
              </a:lnSpc>
              <a:buNone/>
            </a:pPr>
            <a:r>
              <a:rPr lang="en-US" sz="1050" dirty="0">
                <a:solidFill>
                  <a:srgbClr val="A9ACA6"/>
                </a:solidFill>
                <a:latin typeface="Archivo" pitchFamily="34" charset="0"/>
                <a:ea typeface="Archivo" pitchFamily="34" charset="-122"/>
                <a:cs typeface="Archivo" pitchFamily="34" charset="-120"/>
              </a:rPr>
              <a:t>Potencial infraestructura</a:t>
            </a:r>
            <a:endParaRPr lang="en-US" sz="1050" dirty="0"/>
          </a:p>
        </p:txBody>
      </p:sp>
      <p:sp>
        <p:nvSpPr>
          <p:cNvPr id="44" name="Shape 42"/>
          <p:cNvSpPr/>
          <p:nvPr/>
        </p:nvSpPr>
        <p:spPr>
          <a:xfrm>
            <a:off x="8477250" y="4667250"/>
            <a:ext cx="1457325" cy="552450"/>
          </a:xfrm>
          <a:prstGeom prst="rect">
            <a:avLst/>
          </a:prstGeom>
          <a:solidFill>
            <a:srgbClr val="2A2E2F"/>
          </a:solidFill>
          <a:ln/>
        </p:spPr>
      </p:sp>
      <p:sp>
        <p:nvSpPr>
          <p:cNvPr id="45" name="Text 43"/>
          <p:cNvSpPr txBox="1"/>
          <p:nvPr/>
        </p:nvSpPr>
        <p:spPr>
          <a:xfrm>
            <a:off x="8477250" y="4667250"/>
            <a:ext cx="1514475" cy="552450"/>
          </a:xfrm>
          <a:prstGeom prst="rect">
            <a:avLst/>
          </a:prstGeom>
          <a:noFill/>
          <a:ln/>
        </p:spPr>
        <p:txBody>
          <a:bodyPr wrap="square" lIns="114300" tIns="95250" rIns="114300" bIns="95250" rtlCol="0" anchor="t"/>
          <a:lstStyle/>
          <a:p>
            <a:pPr algn="l" indent="0" marL="0">
              <a:lnSpc>
                <a:spcPts val="1260"/>
              </a:lnSpc>
              <a:buNone/>
            </a:pPr>
            <a:r>
              <a:rPr lang="en-US" sz="1050" dirty="0">
                <a:solidFill>
                  <a:srgbClr val="A9ACA6"/>
                </a:solidFill>
                <a:latin typeface="Archivo" pitchFamily="34" charset="0"/>
                <a:ea typeface="Archivo" pitchFamily="34" charset="-122"/>
                <a:cs typeface="Archivo" pitchFamily="34" charset="-120"/>
              </a:rPr>
              <a:t>Meta 25 % material</a:t>
            </a:r>
            <a:endParaRPr lang="en-US" sz="1050" dirty="0"/>
          </a:p>
        </p:txBody>
      </p:sp>
      <p:sp>
        <p:nvSpPr>
          <p:cNvPr id="46" name="Shape 44"/>
          <p:cNvSpPr/>
          <p:nvPr/>
        </p:nvSpPr>
        <p:spPr>
          <a:xfrm>
            <a:off x="10048875" y="4667250"/>
            <a:ext cx="1457325" cy="552450"/>
          </a:xfrm>
          <a:prstGeom prst="rect">
            <a:avLst/>
          </a:prstGeom>
          <a:solidFill>
            <a:srgbClr val="2A2E2F"/>
          </a:solidFill>
          <a:ln/>
        </p:spPr>
      </p:sp>
      <p:sp>
        <p:nvSpPr>
          <p:cNvPr id="47" name="Text 45"/>
          <p:cNvSpPr txBox="1"/>
          <p:nvPr/>
        </p:nvSpPr>
        <p:spPr>
          <a:xfrm>
            <a:off x="10048875" y="4667250"/>
            <a:ext cx="1514475" cy="552450"/>
          </a:xfrm>
          <a:prstGeom prst="rect">
            <a:avLst/>
          </a:prstGeom>
          <a:noFill/>
          <a:ln/>
        </p:spPr>
        <p:txBody>
          <a:bodyPr wrap="square" lIns="114300" tIns="95250" rIns="114300" bIns="95250" rtlCol="0" anchor="t"/>
          <a:lstStyle/>
          <a:p>
            <a:pPr algn="l" indent="0" marL="0">
              <a:lnSpc>
                <a:spcPts val="1260"/>
              </a:lnSpc>
              <a:buNone/>
            </a:pPr>
            <a:r>
              <a:rPr lang="en-US" sz="1050" dirty="0">
                <a:solidFill>
                  <a:srgbClr val="A9ACA6"/>
                </a:solidFill>
                <a:latin typeface="Archivo" pitchFamily="34" charset="0"/>
                <a:ea typeface="Archivo" pitchFamily="34" charset="-122"/>
                <a:cs typeface="Archivo" pitchFamily="34" charset="-120"/>
              </a:rPr>
              <a:t>MS Greco</a:t>
            </a:r>
            <a:endParaRPr lang="en-US" sz="1050" dirty="0"/>
          </a:p>
        </p:txBody>
      </p:sp>
      <p:sp>
        <p:nvSpPr>
          <p:cNvPr id="48" name="Shape 46"/>
          <p:cNvSpPr/>
          <p:nvPr/>
        </p:nvSpPr>
        <p:spPr>
          <a:xfrm>
            <a:off x="5334000" y="5505450"/>
            <a:ext cx="133350" cy="133350"/>
          </a:xfrm>
          <a:prstGeom prst="rect">
            <a:avLst/>
          </a:prstGeom>
          <a:solidFill>
            <a:srgbClr val="E8A33D"/>
          </a:solidFill>
          <a:ln/>
        </p:spPr>
      </p:sp>
      <p:sp>
        <p:nvSpPr>
          <p:cNvPr id="49" name="Text 47"/>
          <p:cNvSpPr txBox="1"/>
          <p:nvPr/>
        </p:nvSpPr>
        <p:spPr>
          <a:xfrm>
            <a:off x="5543550" y="5476875"/>
            <a:ext cx="1295400" cy="133350"/>
          </a:xfrm>
          <a:prstGeom prst="rect">
            <a:avLst/>
          </a:prstGeom>
          <a:noFill/>
          <a:ln/>
        </p:spPr>
        <p:txBody>
          <a:bodyPr wrap="square" lIns="0" tIns="0" rIns="0" bIns="0" rtlCol="0" anchor="t"/>
          <a:lstStyle/>
          <a:p>
            <a:pPr algn="l" indent="0" marL="0">
              <a:lnSpc>
                <a:spcPts val="1170"/>
              </a:lnSpc>
              <a:buNone/>
            </a:pPr>
            <a:r>
              <a:rPr lang="en-US" sz="980" dirty="0">
                <a:solidFill>
                  <a:srgbClr val="ECE8E1"/>
                </a:solidFill>
                <a:latin typeface="Archivo" pitchFamily="34" charset="0"/>
                <a:ea typeface="Archivo" pitchFamily="34" charset="-122"/>
                <a:cs typeface="Archivo" pitchFamily="34" charset="-120"/>
              </a:rPr>
              <a:t>3 · las llena SAML</a:t>
            </a:r>
            <a:endParaRPr lang="en-US" sz="980" dirty="0"/>
          </a:p>
        </p:txBody>
      </p:sp>
      <p:sp>
        <p:nvSpPr>
          <p:cNvPr id="50" name="Shape 48"/>
          <p:cNvSpPr/>
          <p:nvPr/>
        </p:nvSpPr>
        <p:spPr>
          <a:xfrm>
            <a:off x="6781800" y="5505450"/>
            <a:ext cx="133350" cy="133350"/>
          </a:xfrm>
          <a:prstGeom prst="rect">
            <a:avLst/>
          </a:prstGeom>
          <a:solidFill>
            <a:srgbClr val="B5482A"/>
          </a:solidFill>
          <a:ln/>
        </p:spPr>
      </p:sp>
      <p:sp>
        <p:nvSpPr>
          <p:cNvPr id="51" name="Text 49"/>
          <p:cNvSpPr txBox="1"/>
          <p:nvPr/>
        </p:nvSpPr>
        <p:spPr>
          <a:xfrm>
            <a:off x="6991350" y="5476875"/>
            <a:ext cx="1676400" cy="133350"/>
          </a:xfrm>
          <a:prstGeom prst="rect">
            <a:avLst/>
          </a:prstGeom>
          <a:noFill/>
          <a:ln/>
        </p:spPr>
        <p:txBody>
          <a:bodyPr wrap="square" lIns="0" tIns="0" rIns="0" bIns="0" rtlCol="0" anchor="t"/>
          <a:lstStyle/>
          <a:p>
            <a:pPr algn="l" indent="0" marL="0">
              <a:lnSpc>
                <a:spcPts val="1170"/>
              </a:lnSpc>
              <a:buNone/>
            </a:pPr>
            <a:r>
              <a:rPr lang="en-US" sz="980" dirty="0">
                <a:solidFill>
                  <a:srgbClr val="ECE8E1"/>
                </a:solidFill>
                <a:latin typeface="Archivo" pitchFamily="34" charset="0"/>
                <a:ea typeface="Archivo" pitchFamily="34" charset="-122"/>
                <a:cs typeface="Archivo" pitchFamily="34" charset="-120"/>
              </a:rPr>
              <a:t>7 · sin fuente pública</a:t>
            </a:r>
            <a:endParaRPr lang="en-US" sz="980" dirty="0"/>
          </a:p>
        </p:txBody>
      </p:sp>
      <p:sp>
        <p:nvSpPr>
          <p:cNvPr id="52" name="Shape 50"/>
          <p:cNvSpPr/>
          <p:nvPr/>
        </p:nvSpPr>
        <p:spPr>
          <a:xfrm>
            <a:off x="8477250" y="5505450"/>
            <a:ext cx="133350" cy="133350"/>
          </a:xfrm>
          <a:prstGeom prst="rect">
            <a:avLst/>
          </a:prstGeom>
          <a:ln w="9525">
            <a:solidFill>
              <a:srgbClr val="9A9E98"/>
            </a:solidFill>
            <a:prstDash val="solid"/>
          </a:ln>
        </p:spPr>
      </p:sp>
      <p:sp>
        <p:nvSpPr>
          <p:cNvPr id="53" name="Text 51"/>
          <p:cNvSpPr txBox="1"/>
          <p:nvPr/>
        </p:nvSpPr>
        <p:spPr>
          <a:xfrm>
            <a:off x="8686800" y="5476875"/>
            <a:ext cx="1200150" cy="133350"/>
          </a:xfrm>
          <a:prstGeom prst="rect">
            <a:avLst/>
          </a:prstGeom>
          <a:noFill/>
          <a:ln/>
        </p:spPr>
        <p:txBody>
          <a:bodyPr wrap="square" lIns="0" tIns="0" rIns="0" bIns="0" rtlCol="0" anchor="t"/>
          <a:lstStyle/>
          <a:p>
            <a:pPr algn="l" indent="0" marL="0">
              <a:lnSpc>
                <a:spcPts val="1170"/>
              </a:lnSpc>
              <a:buNone/>
            </a:pPr>
            <a:r>
              <a:rPr lang="en-US" sz="980" dirty="0">
                <a:solidFill>
                  <a:srgbClr val="ECE8E1"/>
                </a:solidFill>
                <a:latin typeface="Archivo" pitchFamily="34" charset="0"/>
                <a:ea typeface="Archivo" pitchFamily="34" charset="-122"/>
                <a:cs typeface="Archivo" pitchFamily="34" charset="-120"/>
              </a:rPr>
              <a:t>4 · del asesor</a:t>
            </a:r>
            <a:endParaRPr lang="en-US" sz="980" dirty="0"/>
          </a:p>
        </p:txBody>
      </p:sp>
      <p:sp>
        <p:nvSpPr>
          <p:cNvPr id="54" name="Shape 52"/>
          <p:cNvSpPr/>
          <p:nvPr/>
        </p:nvSpPr>
        <p:spPr>
          <a:xfrm>
            <a:off x="9810750" y="5505450"/>
            <a:ext cx="133350" cy="133350"/>
          </a:xfrm>
          <a:prstGeom prst="rect">
            <a:avLst/>
          </a:prstGeom>
          <a:solidFill>
            <a:srgbClr val="3A3F40"/>
          </a:solidFill>
          <a:ln/>
        </p:spPr>
      </p:sp>
      <p:sp>
        <p:nvSpPr>
          <p:cNvPr id="55" name="Text 53"/>
          <p:cNvSpPr txBox="1"/>
          <p:nvPr/>
        </p:nvSpPr>
        <p:spPr>
          <a:xfrm>
            <a:off x="10020300" y="5476875"/>
            <a:ext cx="1581150" cy="133350"/>
          </a:xfrm>
          <a:prstGeom prst="rect">
            <a:avLst/>
          </a:prstGeom>
          <a:noFill/>
          <a:ln/>
        </p:spPr>
        <p:txBody>
          <a:bodyPr wrap="square" lIns="0" tIns="0" rIns="0" bIns="0" rtlCol="0" anchor="t"/>
          <a:lstStyle/>
          <a:p>
            <a:pPr algn="l" indent="0" marL="0">
              <a:lnSpc>
                <a:spcPts val="1170"/>
              </a:lnSpc>
              <a:buNone/>
            </a:pPr>
            <a:r>
              <a:rPr lang="en-US" sz="980" dirty="0">
                <a:solidFill>
                  <a:srgbClr val="ECE8E1"/>
                </a:solidFill>
                <a:latin typeface="Archivo" pitchFamily="34" charset="0"/>
                <a:ea typeface="Archivo" pitchFamily="34" charset="-122"/>
                <a:cs typeface="Archivo" pitchFamily="34" charset="-120"/>
              </a:rPr>
              <a:t>6 · fórmulas de Obras V6</a:t>
            </a:r>
            <a:endParaRPr lang="en-US" sz="980" dirty="0"/>
          </a:p>
        </p:txBody>
      </p:sp>
      <p:sp>
        <p:nvSpPr>
          <p:cNvPr id="56" name="Text 54"/>
          <p:cNvSpPr txBox="1"/>
          <p:nvPr/>
        </p:nvSpPr>
        <p:spPr>
          <a:xfrm>
            <a:off x="685800" y="6400800"/>
            <a:ext cx="4974878" cy="133350"/>
          </a:xfrm>
          <a:prstGeom prst="rect">
            <a:avLst/>
          </a:prstGeom>
          <a:noFill/>
          <a:ln/>
        </p:spPr>
        <p:txBody>
          <a:bodyPr wrap="square" lIns="0" tIns="0" rIns="0" bIns="0" rtlCol="0" anchor="t"/>
          <a:lstStyle/>
          <a:p>
            <a:pPr algn="l" indent="0" marL="0">
              <a:lnSpc>
                <a:spcPts val="1080"/>
              </a:lnSpc>
              <a:buNone/>
            </a:pPr>
            <a:r>
              <a:rPr lang="en-US" sz="900" spc="22" kern="0" dirty="0">
                <a:solidFill>
                  <a:srgbClr val="A9ACA6"/>
                </a:solidFill>
                <a:latin typeface="Archivo" pitchFamily="34" charset="0"/>
                <a:ea typeface="Archivo" pitchFamily="34" charset="-122"/>
                <a:cs typeface="Archivo" pitchFamily="34" charset="-120"/>
              </a:rPr>
              <a:t>Fuente: mapeo de columnas de Obras V6, repositorio SAML (Transformacion/README.md).</a:t>
            </a:r>
            <a:endParaRPr lang="en-US" sz="900" dirty="0"/>
          </a:p>
        </p:txBody>
      </p:sp>
      <p:sp>
        <p:nvSpPr>
          <p:cNvPr id="57" name="Text 55"/>
          <p:cNvSpPr txBox="1"/>
          <p:nvPr/>
        </p:nvSpPr>
        <p:spPr>
          <a:xfrm>
            <a:off x="11342489" y="6343650"/>
            <a:ext cx="220861" cy="209550"/>
          </a:xfrm>
          <a:prstGeom prst="rect">
            <a:avLst/>
          </a:prstGeom>
          <a:noFill/>
          <a:ln/>
        </p:spPr>
        <p:txBody>
          <a:bodyPr wrap="square" lIns="0" tIns="0" rIns="0" bIns="0" rtlCol="0" anchor="t"/>
          <a:lstStyle/>
          <a:p>
            <a:pPr algn="l" indent="0" marL="0">
              <a:lnSpc>
                <a:spcPts val="1440"/>
              </a:lnSpc>
              <a:buNone/>
            </a:pPr>
            <a:r>
              <a:rPr lang="en-US" sz="1200" i="1" dirty="0">
                <a:solidFill>
                  <a:srgbClr val="A9ACA6"/>
                </a:solidFill>
                <a:latin typeface="Source Serif 4" pitchFamily="34" charset="0"/>
                <a:ea typeface="Source Serif 4" pitchFamily="34" charset="-122"/>
                <a:cs typeface="Source Serif 4"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CE8E1"/>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CE8E1"/>
          </a:solidFill>
          <a:ln/>
        </p:spPr>
      </p:sp>
      <p:sp>
        <p:nvSpPr>
          <p:cNvPr id="3" name="Text 1"/>
          <p:cNvSpPr txBox="1"/>
          <p:nvPr/>
        </p:nvSpPr>
        <p:spPr>
          <a:xfrm>
            <a:off x="685800" y="381000"/>
            <a:ext cx="3799880" cy="133350"/>
          </a:xfrm>
          <a:prstGeom prst="rect">
            <a:avLst/>
          </a:prstGeom>
          <a:noFill/>
          <a:ln/>
        </p:spPr>
        <p:txBody>
          <a:bodyPr wrap="square" lIns="0" tIns="0" rIns="0" bIns="0" rtlCol="0" anchor="t"/>
          <a:lstStyle/>
          <a:p>
            <a:pPr algn="l" indent="0" marL="0">
              <a:lnSpc>
                <a:spcPts val="1080"/>
              </a:lnSpc>
              <a:buNone/>
            </a:pPr>
            <a:r>
              <a:rPr lang="en-US" sz="900" b="1" spc="188" kern="0" dirty="0">
                <a:solidFill>
                  <a:srgbClr val="5F635E"/>
                </a:solidFill>
                <a:latin typeface="Archivo" pitchFamily="34" charset="0"/>
                <a:ea typeface="Archivo" pitchFamily="34" charset="-122"/>
                <a:cs typeface="Archivo" pitchFamily="34" charset="-120"/>
              </a:rPr>
              <a:t>SAML · COMITÉ SPONSOR — RIESGOS VIGENTES</a:t>
            </a:r>
            <a:endParaRPr lang="en-US" sz="900" dirty="0"/>
          </a:p>
        </p:txBody>
      </p:sp>
      <p:sp>
        <p:nvSpPr>
          <p:cNvPr id="4" name="Text 2"/>
          <p:cNvSpPr txBox="1"/>
          <p:nvPr/>
        </p:nvSpPr>
        <p:spPr>
          <a:xfrm>
            <a:off x="685800" y="666750"/>
            <a:ext cx="10877550" cy="767953"/>
          </a:xfrm>
          <a:prstGeom prst="rect">
            <a:avLst/>
          </a:prstGeom>
          <a:noFill/>
          <a:ln/>
        </p:spPr>
        <p:txBody>
          <a:bodyPr wrap="square" lIns="0" tIns="0" rIns="0" bIns="0" rtlCol="0" anchor="t"/>
          <a:lstStyle/>
          <a:p>
            <a:pPr algn="l" indent="0" marL="0">
              <a:lnSpc>
                <a:spcPts val="3020"/>
              </a:lnSpc>
              <a:buNone/>
            </a:pPr>
            <a:r>
              <a:rPr lang="en-US" sz="2700" b="1" spc="-38" kern="0" dirty="0">
                <a:solidFill>
                  <a:srgbClr val="1E2122"/>
                </a:solidFill>
                <a:latin typeface="Archivo" pitchFamily="34" charset="0"/>
                <a:ea typeface="Archivo" pitchFamily="34" charset="-122"/>
                <a:cs typeface="Archivo" pitchFamily="34" charset="-120"/>
              </a:rPr>
              <a:t>Los dos riesgos nuevos están entre los más altos y solo el comité puede resolverlos</a:t>
            </a:r>
            <a:endParaRPr lang="en-US" sz="2700" dirty="0"/>
          </a:p>
        </p:txBody>
      </p:sp>
      <p:sp>
        <p:nvSpPr>
          <p:cNvPr id="5" name="Text 3"/>
          <p:cNvSpPr txBox="1"/>
          <p:nvPr/>
        </p:nvSpPr>
        <p:spPr>
          <a:xfrm>
            <a:off x="685800" y="1733550"/>
            <a:ext cx="1962150" cy="133350"/>
          </a:xfrm>
          <a:prstGeom prst="rect">
            <a:avLst/>
          </a:prstGeom>
          <a:noFill/>
          <a:ln/>
        </p:spPr>
        <p:txBody>
          <a:bodyPr wrap="square" lIns="0" tIns="0" rIns="0" bIns="0" rtlCol="0" anchor="t"/>
          <a:lstStyle/>
          <a:p>
            <a:pPr algn="l" indent="0" marL="0">
              <a:lnSpc>
                <a:spcPts val="1080"/>
              </a:lnSpc>
              <a:buNone/>
            </a:pPr>
            <a:r>
              <a:rPr lang="en-US" sz="900" b="1" spc="113" kern="0" dirty="0">
                <a:solidFill>
                  <a:srgbClr val="5F635E"/>
                </a:solidFill>
                <a:latin typeface="Archivo" pitchFamily="34" charset="0"/>
                <a:ea typeface="Archivo" pitchFamily="34" charset="-122"/>
                <a:cs typeface="Archivo" pitchFamily="34" charset="-120"/>
              </a:rPr>
              <a:t>PROBABILIDAD</a:t>
            </a:r>
            <a:endParaRPr lang="en-US" sz="900" dirty="0"/>
          </a:p>
        </p:txBody>
      </p:sp>
      <p:sp>
        <p:nvSpPr>
          <p:cNvPr id="6" name="Text 4"/>
          <p:cNvSpPr txBox="1"/>
          <p:nvPr/>
        </p:nvSpPr>
        <p:spPr>
          <a:xfrm>
            <a:off x="800100" y="2133600"/>
            <a:ext cx="285750" cy="142875"/>
          </a:xfrm>
          <a:prstGeom prst="rect">
            <a:avLst/>
          </a:prstGeom>
          <a:noFill/>
          <a:ln/>
        </p:spPr>
        <p:txBody>
          <a:bodyPr wrap="square" lIns="0" tIns="0" rIns="0" bIns="0" rtlCol="0" anchor="t"/>
          <a:lstStyle/>
          <a:p>
            <a:pPr algn="l" indent="0" marL="0">
              <a:lnSpc>
                <a:spcPts val="1260"/>
              </a:lnSpc>
              <a:buNone/>
            </a:pPr>
            <a:r>
              <a:rPr lang="en-US" sz="1050" b="1" dirty="0">
                <a:solidFill>
                  <a:srgbClr val="5F635E"/>
                </a:solidFill>
                <a:latin typeface="Archivo" pitchFamily="34" charset="0"/>
                <a:ea typeface="Archivo" pitchFamily="34" charset="-122"/>
                <a:cs typeface="Archivo" pitchFamily="34" charset="-120"/>
              </a:rPr>
              <a:t>5</a:t>
            </a:r>
            <a:endParaRPr lang="en-US" sz="1050" dirty="0"/>
          </a:p>
        </p:txBody>
      </p:sp>
      <p:sp>
        <p:nvSpPr>
          <p:cNvPr id="7" name="Text 5"/>
          <p:cNvSpPr txBox="1"/>
          <p:nvPr/>
        </p:nvSpPr>
        <p:spPr>
          <a:xfrm>
            <a:off x="800100" y="2819400"/>
            <a:ext cx="285750" cy="142875"/>
          </a:xfrm>
          <a:prstGeom prst="rect">
            <a:avLst/>
          </a:prstGeom>
          <a:noFill/>
          <a:ln/>
        </p:spPr>
        <p:txBody>
          <a:bodyPr wrap="square" lIns="0" tIns="0" rIns="0" bIns="0" rtlCol="0" anchor="t"/>
          <a:lstStyle/>
          <a:p>
            <a:pPr algn="l" indent="0" marL="0">
              <a:lnSpc>
                <a:spcPts val="1260"/>
              </a:lnSpc>
              <a:buNone/>
            </a:pPr>
            <a:r>
              <a:rPr lang="en-US" sz="1050" b="1" dirty="0">
                <a:solidFill>
                  <a:srgbClr val="5F635E"/>
                </a:solidFill>
                <a:latin typeface="Archivo" pitchFamily="34" charset="0"/>
                <a:ea typeface="Archivo" pitchFamily="34" charset="-122"/>
                <a:cs typeface="Archivo" pitchFamily="34" charset="-120"/>
              </a:rPr>
              <a:t>4</a:t>
            </a:r>
            <a:endParaRPr lang="en-US" sz="1050" dirty="0"/>
          </a:p>
        </p:txBody>
      </p:sp>
      <p:sp>
        <p:nvSpPr>
          <p:cNvPr id="8" name="Text 6"/>
          <p:cNvSpPr txBox="1"/>
          <p:nvPr/>
        </p:nvSpPr>
        <p:spPr>
          <a:xfrm>
            <a:off x="800100" y="3505200"/>
            <a:ext cx="285750" cy="142875"/>
          </a:xfrm>
          <a:prstGeom prst="rect">
            <a:avLst/>
          </a:prstGeom>
          <a:noFill/>
          <a:ln/>
        </p:spPr>
        <p:txBody>
          <a:bodyPr wrap="square" lIns="0" tIns="0" rIns="0" bIns="0" rtlCol="0" anchor="t"/>
          <a:lstStyle/>
          <a:p>
            <a:pPr algn="l" indent="0" marL="0">
              <a:lnSpc>
                <a:spcPts val="1260"/>
              </a:lnSpc>
              <a:buNone/>
            </a:pPr>
            <a:r>
              <a:rPr lang="en-US" sz="1050" b="1" dirty="0">
                <a:solidFill>
                  <a:srgbClr val="5F635E"/>
                </a:solidFill>
                <a:latin typeface="Archivo" pitchFamily="34" charset="0"/>
                <a:ea typeface="Archivo" pitchFamily="34" charset="-122"/>
                <a:cs typeface="Archivo" pitchFamily="34" charset="-120"/>
              </a:rPr>
              <a:t>3</a:t>
            </a:r>
            <a:endParaRPr lang="en-US" sz="1050" dirty="0"/>
          </a:p>
        </p:txBody>
      </p:sp>
      <p:sp>
        <p:nvSpPr>
          <p:cNvPr id="9" name="Text 7"/>
          <p:cNvSpPr txBox="1"/>
          <p:nvPr/>
        </p:nvSpPr>
        <p:spPr>
          <a:xfrm>
            <a:off x="800100" y="4191000"/>
            <a:ext cx="285750" cy="142875"/>
          </a:xfrm>
          <a:prstGeom prst="rect">
            <a:avLst/>
          </a:prstGeom>
          <a:noFill/>
          <a:ln/>
        </p:spPr>
        <p:txBody>
          <a:bodyPr wrap="square" lIns="0" tIns="0" rIns="0" bIns="0" rtlCol="0" anchor="t"/>
          <a:lstStyle/>
          <a:p>
            <a:pPr algn="l" indent="0" marL="0">
              <a:lnSpc>
                <a:spcPts val="1260"/>
              </a:lnSpc>
              <a:buNone/>
            </a:pPr>
            <a:r>
              <a:rPr lang="en-US" sz="1050" b="1" dirty="0">
                <a:solidFill>
                  <a:srgbClr val="5F635E"/>
                </a:solidFill>
                <a:latin typeface="Archivo" pitchFamily="34" charset="0"/>
                <a:ea typeface="Archivo" pitchFamily="34" charset="-122"/>
                <a:cs typeface="Archivo" pitchFamily="34" charset="-120"/>
              </a:rPr>
              <a:t>2</a:t>
            </a:r>
            <a:endParaRPr lang="en-US" sz="1050" dirty="0"/>
          </a:p>
        </p:txBody>
      </p:sp>
      <p:sp>
        <p:nvSpPr>
          <p:cNvPr id="10" name="Text 8"/>
          <p:cNvSpPr txBox="1"/>
          <p:nvPr/>
        </p:nvSpPr>
        <p:spPr>
          <a:xfrm>
            <a:off x="800100" y="4876800"/>
            <a:ext cx="285750" cy="142875"/>
          </a:xfrm>
          <a:prstGeom prst="rect">
            <a:avLst/>
          </a:prstGeom>
          <a:noFill/>
          <a:ln/>
        </p:spPr>
        <p:txBody>
          <a:bodyPr wrap="square" lIns="0" tIns="0" rIns="0" bIns="0" rtlCol="0" anchor="t"/>
          <a:lstStyle/>
          <a:p>
            <a:pPr algn="l" indent="0" marL="0">
              <a:lnSpc>
                <a:spcPts val="1260"/>
              </a:lnSpc>
              <a:buNone/>
            </a:pPr>
            <a:r>
              <a:rPr lang="en-US" sz="1050" b="1" dirty="0">
                <a:solidFill>
                  <a:srgbClr val="5F635E"/>
                </a:solidFill>
                <a:latin typeface="Archivo" pitchFamily="34" charset="0"/>
                <a:ea typeface="Archivo" pitchFamily="34" charset="-122"/>
                <a:cs typeface="Archivo" pitchFamily="34" charset="-120"/>
              </a:rPr>
              <a:t>1</a:t>
            </a:r>
            <a:endParaRPr lang="en-US" sz="1050" dirty="0"/>
          </a:p>
        </p:txBody>
      </p:sp>
      <p:sp>
        <p:nvSpPr>
          <p:cNvPr id="11" name="Shape 9"/>
          <p:cNvSpPr/>
          <p:nvPr/>
        </p:nvSpPr>
        <p:spPr>
          <a:xfrm>
            <a:off x="1123950" y="1962150"/>
            <a:ext cx="819150" cy="666750"/>
          </a:xfrm>
          <a:prstGeom prst="rect">
            <a:avLst/>
          </a:prstGeom>
          <a:solidFill>
            <a:srgbClr val="DCD6CB"/>
          </a:solidFill>
          <a:ln/>
        </p:spPr>
      </p:sp>
      <p:sp>
        <p:nvSpPr>
          <p:cNvPr id="12" name="Shape 10"/>
          <p:cNvSpPr/>
          <p:nvPr/>
        </p:nvSpPr>
        <p:spPr>
          <a:xfrm>
            <a:off x="1962150" y="1962150"/>
            <a:ext cx="819150" cy="666750"/>
          </a:xfrm>
          <a:prstGeom prst="rect">
            <a:avLst/>
          </a:prstGeom>
          <a:solidFill>
            <a:srgbClr val="E6CFA5"/>
          </a:solidFill>
          <a:ln/>
        </p:spPr>
      </p:sp>
      <p:sp>
        <p:nvSpPr>
          <p:cNvPr id="13" name="Shape 11"/>
          <p:cNvSpPr/>
          <p:nvPr/>
        </p:nvSpPr>
        <p:spPr>
          <a:xfrm>
            <a:off x="2800350" y="1962150"/>
            <a:ext cx="819150" cy="666750"/>
          </a:xfrm>
          <a:prstGeom prst="rect">
            <a:avLst/>
          </a:prstGeom>
          <a:solidFill>
            <a:srgbClr val="E3B7A6"/>
          </a:solidFill>
          <a:ln/>
        </p:spPr>
      </p:sp>
      <p:sp>
        <p:nvSpPr>
          <p:cNvPr id="14" name="Shape 12"/>
          <p:cNvSpPr/>
          <p:nvPr/>
        </p:nvSpPr>
        <p:spPr>
          <a:xfrm>
            <a:off x="3638550" y="1962150"/>
            <a:ext cx="819150" cy="666750"/>
          </a:xfrm>
          <a:prstGeom prst="rect">
            <a:avLst/>
          </a:prstGeom>
          <a:solidFill>
            <a:srgbClr val="E3B7A6"/>
          </a:solidFill>
          <a:ln/>
        </p:spPr>
      </p:sp>
      <p:sp>
        <p:nvSpPr>
          <p:cNvPr id="15" name="Shape 13"/>
          <p:cNvSpPr/>
          <p:nvPr/>
        </p:nvSpPr>
        <p:spPr>
          <a:xfrm>
            <a:off x="4476750" y="1962150"/>
            <a:ext cx="819150" cy="666750"/>
          </a:xfrm>
          <a:prstGeom prst="rect">
            <a:avLst/>
          </a:prstGeom>
          <a:solidFill>
            <a:srgbClr val="E3B7A6"/>
          </a:solidFill>
          <a:ln/>
        </p:spPr>
      </p:sp>
      <p:sp>
        <p:nvSpPr>
          <p:cNvPr id="16" name="Shape 14"/>
          <p:cNvSpPr/>
          <p:nvPr/>
        </p:nvSpPr>
        <p:spPr>
          <a:xfrm>
            <a:off x="1123950" y="2647950"/>
            <a:ext cx="819150" cy="666750"/>
          </a:xfrm>
          <a:prstGeom prst="rect">
            <a:avLst/>
          </a:prstGeom>
          <a:solidFill>
            <a:srgbClr val="DCD6CB"/>
          </a:solidFill>
          <a:ln/>
        </p:spPr>
      </p:sp>
      <p:sp>
        <p:nvSpPr>
          <p:cNvPr id="17" name="Shape 15"/>
          <p:cNvSpPr/>
          <p:nvPr/>
        </p:nvSpPr>
        <p:spPr>
          <a:xfrm>
            <a:off x="1962150" y="2647950"/>
            <a:ext cx="819150" cy="666750"/>
          </a:xfrm>
          <a:prstGeom prst="rect">
            <a:avLst/>
          </a:prstGeom>
          <a:solidFill>
            <a:srgbClr val="E6CFA5"/>
          </a:solidFill>
          <a:ln/>
        </p:spPr>
      </p:sp>
      <p:sp>
        <p:nvSpPr>
          <p:cNvPr id="18" name="Shape 16"/>
          <p:cNvSpPr/>
          <p:nvPr/>
        </p:nvSpPr>
        <p:spPr>
          <a:xfrm>
            <a:off x="2800350" y="2647950"/>
            <a:ext cx="819150" cy="666750"/>
          </a:xfrm>
          <a:prstGeom prst="rect">
            <a:avLst/>
          </a:prstGeom>
          <a:solidFill>
            <a:srgbClr val="E6CFA5"/>
          </a:solidFill>
          <a:ln/>
        </p:spPr>
      </p:sp>
      <p:sp>
        <p:nvSpPr>
          <p:cNvPr id="19" name="Shape 17"/>
          <p:cNvSpPr/>
          <p:nvPr/>
        </p:nvSpPr>
        <p:spPr>
          <a:xfrm>
            <a:off x="3638550" y="2647950"/>
            <a:ext cx="819150" cy="666750"/>
          </a:xfrm>
          <a:prstGeom prst="rect">
            <a:avLst/>
          </a:prstGeom>
          <a:solidFill>
            <a:srgbClr val="E3B7A6"/>
          </a:solidFill>
          <a:ln/>
        </p:spPr>
      </p:sp>
      <p:sp>
        <p:nvSpPr>
          <p:cNvPr id="20" name="Shape 18"/>
          <p:cNvSpPr/>
          <p:nvPr/>
        </p:nvSpPr>
        <p:spPr>
          <a:xfrm>
            <a:off x="4476750" y="2647950"/>
            <a:ext cx="819150" cy="666750"/>
          </a:xfrm>
          <a:prstGeom prst="rect">
            <a:avLst/>
          </a:prstGeom>
          <a:solidFill>
            <a:srgbClr val="E3B7A6"/>
          </a:solidFill>
          <a:ln/>
        </p:spPr>
      </p:sp>
      <p:sp>
        <p:nvSpPr>
          <p:cNvPr id="21" name="Shape 19"/>
          <p:cNvSpPr/>
          <p:nvPr/>
        </p:nvSpPr>
        <p:spPr>
          <a:xfrm>
            <a:off x="1123950" y="3333750"/>
            <a:ext cx="819150" cy="666750"/>
          </a:xfrm>
          <a:prstGeom prst="rect">
            <a:avLst/>
          </a:prstGeom>
          <a:solidFill>
            <a:srgbClr val="DCD6CB"/>
          </a:solidFill>
          <a:ln/>
        </p:spPr>
      </p:sp>
      <p:sp>
        <p:nvSpPr>
          <p:cNvPr id="22" name="Shape 20"/>
          <p:cNvSpPr/>
          <p:nvPr/>
        </p:nvSpPr>
        <p:spPr>
          <a:xfrm>
            <a:off x="1962150" y="3333750"/>
            <a:ext cx="819150" cy="666750"/>
          </a:xfrm>
          <a:prstGeom prst="rect">
            <a:avLst/>
          </a:prstGeom>
          <a:solidFill>
            <a:srgbClr val="E6CFA5"/>
          </a:solidFill>
          <a:ln/>
        </p:spPr>
      </p:sp>
      <p:sp>
        <p:nvSpPr>
          <p:cNvPr id="23" name="Shape 21"/>
          <p:cNvSpPr/>
          <p:nvPr/>
        </p:nvSpPr>
        <p:spPr>
          <a:xfrm>
            <a:off x="2800350" y="3333750"/>
            <a:ext cx="819150" cy="666750"/>
          </a:xfrm>
          <a:prstGeom prst="rect">
            <a:avLst/>
          </a:prstGeom>
          <a:solidFill>
            <a:srgbClr val="E6CFA5"/>
          </a:solidFill>
          <a:ln/>
        </p:spPr>
      </p:sp>
      <p:sp>
        <p:nvSpPr>
          <p:cNvPr id="24" name="Shape 22"/>
          <p:cNvSpPr/>
          <p:nvPr/>
        </p:nvSpPr>
        <p:spPr>
          <a:xfrm>
            <a:off x="3638550" y="3333750"/>
            <a:ext cx="819150" cy="666750"/>
          </a:xfrm>
          <a:prstGeom prst="rect">
            <a:avLst/>
          </a:prstGeom>
          <a:solidFill>
            <a:srgbClr val="E6CFA5"/>
          </a:solidFill>
          <a:ln/>
        </p:spPr>
      </p:sp>
      <p:sp>
        <p:nvSpPr>
          <p:cNvPr id="25" name="Shape 23"/>
          <p:cNvSpPr/>
          <p:nvPr/>
        </p:nvSpPr>
        <p:spPr>
          <a:xfrm>
            <a:off x="4476750" y="3333750"/>
            <a:ext cx="819150" cy="666750"/>
          </a:xfrm>
          <a:prstGeom prst="rect">
            <a:avLst/>
          </a:prstGeom>
          <a:solidFill>
            <a:srgbClr val="E3B7A6"/>
          </a:solidFill>
          <a:ln/>
        </p:spPr>
      </p:sp>
      <p:sp>
        <p:nvSpPr>
          <p:cNvPr id="26" name="Shape 24"/>
          <p:cNvSpPr/>
          <p:nvPr/>
        </p:nvSpPr>
        <p:spPr>
          <a:xfrm>
            <a:off x="1123950" y="4019550"/>
            <a:ext cx="819150" cy="666750"/>
          </a:xfrm>
          <a:prstGeom prst="rect">
            <a:avLst/>
          </a:prstGeom>
          <a:solidFill>
            <a:srgbClr val="DCD6CB"/>
          </a:solidFill>
          <a:ln/>
        </p:spPr>
      </p:sp>
      <p:sp>
        <p:nvSpPr>
          <p:cNvPr id="27" name="Shape 25"/>
          <p:cNvSpPr/>
          <p:nvPr/>
        </p:nvSpPr>
        <p:spPr>
          <a:xfrm>
            <a:off x="1962150" y="4019550"/>
            <a:ext cx="819150" cy="666750"/>
          </a:xfrm>
          <a:prstGeom prst="rect">
            <a:avLst/>
          </a:prstGeom>
          <a:solidFill>
            <a:srgbClr val="DCD6CB"/>
          </a:solidFill>
          <a:ln/>
        </p:spPr>
      </p:sp>
      <p:sp>
        <p:nvSpPr>
          <p:cNvPr id="28" name="Shape 26"/>
          <p:cNvSpPr/>
          <p:nvPr/>
        </p:nvSpPr>
        <p:spPr>
          <a:xfrm>
            <a:off x="2800350" y="4019550"/>
            <a:ext cx="819150" cy="666750"/>
          </a:xfrm>
          <a:prstGeom prst="rect">
            <a:avLst/>
          </a:prstGeom>
          <a:solidFill>
            <a:srgbClr val="E6CFA5"/>
          </a:solidFill>
          <a:ln/>
        </p:spPr>
      </p:sp>
      <p:sp>
        <p:nvSpPr>
          <p:cNvPr id="29" name="Shape 27"/>
          <p:cNvSpPr/>
          <p:nvPr/>
        </p:nvSpPr>
        <p:spPr>
          <a:xfrm>
            <a:off x="3638550" y="4019550"/>
            <a:ext cx="819150" cy="666750"/>
          </a:xfrm>
          <a:prstGeom prst="rect">
            <a:avLst/>
          </a:prstGeom>
          <a:solidFill>
            <a:srgbClr val="E6CFA5"/>
          </a:solidFill>
          <a:ln/>
        </p:spPr>
      </p:sp>
      <p:sp>
        <p:nvSpPr>
          <p:cNvPr id="30" name="Shape 28"/>
          <p:cNvSpPr/>
          <p:nvPr/>
        </p:nvSpPr>
        <p:spPr>
          <a:xfrm>
            <a:off x="4476750" y="4019550"/>
            <a:ext cx="819150" cy="666750"/>
          </a:xfrm>
          <a:prstGeom prst="rect">
            <a:avLst/>
          </a:prstGeom>
          <a:solidFill>
            <a:srgbClr val="E6CFA5"/>
          </a:solidFill>
          <a:ln/>
        </p:spPr>
      </p:sp>
      <p:sp>
        <p:nvSpPr>
          <p:cNvPr id="31" name="Shape 29"/>
          <p:cNvSpPr/>
          <p:nvPr/>
        </p:nvSpPr>
        <p:spPr>
          <a:xfrm>
            <a:off x="1123950" y="4705350"/>
            <a:ext cx="819150" cy="666750"/>
          </a:xfrm>
          <a:prstGeom prst="rect">
            <a:avLst/>
          </a:prstGeom>
          <a:solidFill>
            <a:srgbClr val="DCD6CB"/>
          </a:solidFill>
          <a:ln/>
        </p:spPr>
      </p:sp>
      <p:sp>
        <p:nvSpPr>
          <p:cNvPr id="32" name="Shape 30"/>
          <p:cNvSpPr/>
          <p:nvPr/>
        </p:nvSpPr>
        <p:spPr>
          <a:xfrm>
            <a:off x="1962150" y="4705350"/>
            <a:ext cx="819150" cy="666750"/>
          </a:xfrm>
          <a:prstGeom prst="rect">
            <a:avLst/>
          </a:prstGeom>
          <a:solidFill>
            <a:srgbClr val="DCD6CB"/>
          </a:solidFill>
          <a:ln/>
        </p:spPr>
      </p:sp>
      <p:sp>
        <p:nvSpPr>
          <p:cNvPr id="33" name="Shape 31"/>
          <p:cNvSpPr/>
          <p:nvPr/>
        </p:nvSpPr>
        <p:spPr>
          <a:xfrm>
            <a:off x="2800350" y="4705350"/>
            <a:ext cx="819150" cy="666750"/>
          </a:xfrm>
          <a:prstGeom prst="rect">
            <a:avLst/>
          </a:prstGeom>
          <a:solidFill>
            <a:srgbClr val="DCD6CB"/>
          </a:solidFill>
          <a:ln/>
        </p:spPr>
      </p:sp>
      <p:sp>
        <p:nvSpPr>
          <p:cNvPr id="34" name="Shape 32"/>
          <p:cNvSpPr/>
          <p:nvPr/>
        </p:nvSpPr>
        <p:spPr>
          <a:xfrm>
            <a:off x="3638550" y="4705350"/>
            <a:ext cx="819150" cy="666750"/>
          </a:xfrm>
          <a:prstGeom prst="rect">
            <a:avLst/>
          </a:prstGeom>
          <a:solidFill>
            <a:srgbClr val="DCD6CB"/>
          </a:solidFill>
          <a:ln/>
        </p:spPr>
      </p:sp>
      <p:sp>
        <p:nvSpPr>
          <p:cNvPr id="35" name="Shape 33"/>
          <p:cNvSpPr/>
          <p:nvPr/>
        </p:nvSpPr>
        <p:spPr>
          <a:xfrm>
            <a:off x="4476750" y="4705350"/>
            <a:ext cx="819150" cy="666750"/>
          </a:xfrm>
          <a:prstGeom prst="rect">
            <a:avLst/>
          </a:prstGeom>
          <a:solidFill>
            <a:srgbClr val="DCD6CB"/>
          </a:solidFill>
          <a:ln/>
        </p:spPr>
      </p:sp>
      <p:sp>
        <p:nvSpPr>
          <p:cNvPr id="36" name="Text 34"/>
          <p:cNvSpPr txBox="1"/>
          <p:nvPr/>
        </p:nvSpPr>
        <p:spPr>
          <a:xfrm>
            <a:off x="1428750" y="5448300"/>
            <a:ext cx="285750" cy="142875"/>
          </a:xfrm>
          <a:prstGeom prst="rect">
            <a:avLst/>
          </a:prstGeom>
          <a:noFill/>
          <a:ln/>
        </p:spPr>
        <p:txBody>
          <a:bodyPr wrap="square" lIns="0" tIns="0" rIns="0" bIns="0" rtlCol="0" anchor="t"/>
          <a:lstStyle/>
          <a:p>
            <a:pPr algn="l" indent="0" marL="0">
              <a:lnSpc>
                <a:spcPts val="1260"/>
              </a:lnSpc>
              <a:buNone/>
            </a:pPr>
            <a:r>
              <a:rPr lang="en-US" sz="1050" b="1" dirty="0">
                <a:solidFill>
                  <a:srgbClr val="5F635E"/>
                </a:solidFill>
                <a:latin typeface="Archivo" pitchFamily="34" charset="0"/>
                <a:ea typeface="Archivo" pitchFamily="34" charset="-122"/>
                <a:cs typeface="Archivo" pitchFamily="34" charset="-120"/>
              </a:rPr>
              <a:t>1</a:t>
            </a:r>
            <a:endParaRPr lang="en-US" sz="1050" dirty="0"/>
          </a:p>
        </p:txBody>
      </p:sp>
      <p:sp>
        <p:nvSpPr>
          <p:cNvPr id="37" name="Text 35"/>
          <p:cNvSpPr txBox="1"/>
          <p:nvPr/>
        </p:nvSpPr>
        <p:spPr>
          <a:xfrm>
            <a:off x="2266950" y="5448300"/>
            <a:ext cx="285750" cy="142875"/>
          </a:xfrm>
          <a:prstGeom prst="rect">
            <a:avLst/>
          </a:prstGeom>
          <a:noFill/>
          <a:ln/>
        </p:spPr>
        <p:txBody>
          <a:bodyPr wrap="square" lIns="0" tIns="0" rIns="0" bIns="0" rtlCol="0" anchor="t"/>
          <a:lstStyle/>
          <a:p>
            <a:pPr algn="l" indent="0" marL="0">
              <a:lnSpc>
                <a:spcPts val="1260"/>
              </a:lnSpc>
              <a:buNone/>
            </a:pPr>
            <a:r>
              <a:rPr lang="en-US" sz="1050" b="1" dirty="0">
                <a:solidFill>
                  <a:srgbClr val="5F635E"/>
                </a:solidFill>
                <a:latin typeface="Archivo" pitchFamily="34" charset="0"/>
                <a:ea typeface="Archivo" pitchFamily="34" charset="-122"/>
                <a:cs typeface="Archivo" pitchFamily="34" charset="-120"/>
              </a:rPr>
              <a:t>2</a:t>
            </a:r>
            <a:endParaRPr lang="en-US" sz="1050" dirty="0"/>
          </a:p>
        </p:txBody>
      </p:sp>
      <p:sp>
        <p:nvSpPr>
          <p:cNvPr id="38" name="Text 36"/>
          <p:cNvSpPr txBox="1"/>
          <p:nvPr/>
        </p:nvSpPr>
        <p:spPr>
          <a:xfrm>
            <a:off x="3105150" y="5448300"/>
            <a:ext cx="285750" cy="142875"/>
          </a:xfrm>
          <a:prstGeom prst="rect">
            <a:avLst/>
          </a:prstGeom>
          <a:noFill/>
          <a:ln/>
        </p:spPr>
        <p:txBody>
          <a:bodyPr wrap="square" lIns="0" tIns="0" rIns="0" bIns="0" rtlCol="0" anchor="t"/>
          <a:lstStyle/>
          <a:p>
            <a:pPr algn="l" indent="0" marL="0">
              <a:lnSpc>
                <a:spcPts val="1260"/>
              </a:lnSpc>
              <a:buNone/>
            </a:pPr>
            <a:r>
              <a:rPr lang="en-US" sz="1050" b="1" dirty="0">
                <a:solidFill>
                  <a:srgbClr val="5F635E"/>
                </a:solidFill>
                <a:latin typeface="Archivo" pitchFamily="34" charset="0"/>
                <a:ea typeface="Archivo" pitchFamily="34" charset="-122"/>
                <a:cs typeface="Archivo" pitchFamily="34" charset="-120"/>
              </a:rPr>
              <a:t>3</a:t>
            </a:r>
            <a:endParaRPr lang="en-US" sz="1050" dirty="0"/>
          </a:p>
        </p:txBody>
      </p:sp>
      <p:sp>
        <p:nvSpPr>
          <p:cNvPr id="39" name="Text 37"/>
          <p:cNvSpPr txBox="1"/>
          <p:nvPr/>
        </p:nvSpPr>
        <p:spPr>
          <a:xfrm>
            <a:off x="3943350" y="5448300"/>
            <a:ext cx="285750" cy="142875"/>
          </a:xfrm>
          <a:prstGeom prst="rect">
            <a:avLst/>
          </a:prstGeom>
          <a:noFill/>
          <a:ln/>
        </p:spPr>
        <p:txBody>
          <a:bodyPr wrap="square" lIns="0" tIns="0" rIns="0" bIns="0" rtlCol="0" anchor="t"/>
          <a:lstStyle/>
          <a:p>
            <a:pPr algn="l" indent="0" marL="0">
              <a:lnSpc>
                <a:spcPts val="1260"/>
              </a:lnSpc>
              <a:buNone/>
            </a:pPr>
            <a:r>
              <a:rPr lang="en-US" sz="1050" b="1" dirty="0">
                <a:solidFill>
                  <a:srgbClr val="5F635E"/>
                </a:solidFill>
                <a:latin typeface="Archivo" pitchFamily="34" charset="0"/>
                <a:ea typeface="Archivo" pitchFamily="34" charset="-122"/>
                <a:cs typeface="Archivo" pitchFamily="34" charset="-120"/>
              </a:rPr>
              <a:t>4</a:t>
            </a:r>
            <a:endParaRPr lang="en-US" sz="1050" dirty="0"/>
          </a:p>
        </p:txBody>
      </p:sp>
      <p:sp>
        <p:nvSpPr>
          <p:cNvPr id="40" name="Text 38"/>
          <p:cNvSpPr txBox="1"/>
          <p:nvPr/>
        </p:nvSpPr>
        <p:spPr>
          <a:xfrm>
            <a:off x="4781550" y="5448300"/>
            <a:ext cx="285750" cy="142875"/>
          </a:xfrm>
          <a:prstGeom prst="rect">
            <a:avLst/>
          </a:prstGeom>
          <a:noFill/>
          <a:ln/>
        </p:spPr>
        <p:txBody>
          <a:bodyPr wrap="square" lIns="0" tIns="0" rIns="0" bIns="0" rtlCol="0" anchor="t"/>
          <a:lstStyle/>
          <a:p>
            <a:pPr algn="l" indent="0" marL="0">
              <a:lnSpc>
                <a:spcPts val="1260"/>
              </a:lnSpc>
              <a:buNone/>
            </a:pPr>
            <a:r>
              <a:rPr lang="en-US" sz="1050" b="1" dirty="0">
                <a:solidFill>
                  <a:srgbClr val="5F635E"/>
                </a:solidFill>
                <a:latin typeface="Archivo" pitchFamily="34" charset="0"/>
                <a:ea typeface="Archivo" pitchFamily="34" charset="-122"/>
                <a:cs typeface="Archivo" pitchFamily="34" charset="-120"/>
              </a:rPr>
              <a:t>5</a:t>
            </a:r>
            <a:endParaRPr lang="en-US" sz="1050" dirty="0"/>
          </a:p>
        </p:txBody>
      </p:sp>
      <p:sp>
        <p:nvSpPr>
          <p:cNvPr id="41" name="Text 39"/>
          <p:cNvSpPr txBox="1"/>
          <p:nvPr/>
        </p:nvSpPr>
        <p:spPr>
          <a:xfrm>
            <a:off x="1123950" y="5676900"/>
            <a:ext cx="2914650" cy="133350"/>
          </a:xfrm>
          <a:prstGeom prst="rect">
            <a:avLst/>
          </a:prstGeom>
          <a:noFill/>
          <a:ln/>
        </p:spPr>
        <p:txBody>
          <a:bodyPr wrap="square" lIns="0" tIns="0" rIns="0" bIns="0" rtlCol="0" anchor="t"/>
          <a:lstStyle/>
          <a:p>
            <a:pPr algn="l" indent="0" marL="0">
              <a:lnSpc>
                <a:spcPts val="1080"/>
              </a:lnSpc>
              <a:buNone/>
            </a:pPr>
            <a:r>
              <a:rPr lang="en-US" sz="900" b="1" spc="113" kern="0" dirty="0">
                <a:solidFill>
                  <a:srgbClr val="5F635E"/>
                </a:solidFill>
                <a:latin typeface="Archivo" pitchFamily="34" charset="0"/>
                <a:ea typeface="Archivo" pitchFamily="34" charset="-122"/>
                <a:cs typeface="Archivo" pitchFamily="34" charset="-120"/>
              </a:rPr>
              <a:t>IMPACTO</a:t>
            </a:r>
            <a:endParaRPr lang="en-US" sz="900" dirty="0"/>
          </a:p>
        </p:txBody>
      </p:sp>
      <p:sp>
        <p:nvSpPr>
          <p:cNvPr id="42" name="Shape 40"/>
          <p:cNvSpPr/>
          <p:nvPr/>
        </p:nvSpPr>
        <p:spPr>
          <a:xfrm>
            <a:off x="3743325" y="2076450"/>
            <a:ext cx="438150" cy="438150"/>
          </a:xfrm>
          <a:prstGeom prst="roundRect">
            <a:avLst>
              <a:gd name="adj" fmla="val 50000"/>
            </a:avLst>
          </a:prstGeom>
          <a:solidFill>
            <a:srgbClr val="B5482A"/>
          </a:solidFill>
          <a:ln/>
        </p:spPr>
      </p:sp>
      <p:sp>
        <p:nvSpPr>
          <p:cNvPr id="43" name="Text 41"/>
          <p:cNvSpPr txBox="1"/>
          <p:nvPr/>
        </p:nvSpPr>
        <p:spPr>
          <a:xfrm>
            <a:off x="3743325" y="2076450"/>
            <a:ext cx="495300" cy="438150"/>
          </a:xfrm>
          <a:prstGeom prst="rect">
            <a:avLst/>
          </a:prstGeom>
          <a:noFill/>
          <a:ln/>
        </p:spPr>
        <p:txBody>
          <a:bodyPr wrap="square" lIns="0" tIns="0" rIns="0" bIns="0" rtlCol="0" anchor="ctr"/>
          <a:lstStyle/>
          <a:p>
            <a:pPr algn="ctr" indent="0" marL="0">
              <a:lnSpc>
                <a:spcPts val="1170"/>
              </a:lnSpc>
              <a:buNone/>
            </a:pPr>
            <a:r>
              <a:rPr lang="en-US" sz="980" b="1" dirty="0">
                <a:solidFill>
                  <a:srgbClr val="ECE8E1"/>
                </a:solidFill>
                <a:latin typeface="Archivo" pitchFamily="34" charset="0"/>
                <a:ea typeface="Archivo" pitchFamily="34" charset="-122"/>
                <a:cs typeface="Archivo" pitchFamily="34" charset="-120"/>
              </a:rPr>
              <a:t>N1</a:t>
            </a:r>
            <a:endParaRPr lang="en-US" sz="980" dirty="0"/>
          </a:p>
        </p:txBody>
      </p:sp>
      <p:sp>
        <p:nvSpPr>
          <p:cNvPr id="44" name="Shape 42"/>
          <p:cNvSpPr/>
          <p:nvPr/>
        </p:nvSpPr>
        <p:spPr>
          <a:xfrm>
            <a:off x="3676650" y="2762250"/>
            <a:ext cx="381000" cy="381000"/>
          </a:xfrm>
          <a:prstGeom prst="roundRect">
            <a:avLst>
              <a:gd name="adj" fmla="val 50000"/>
            </a:avLst>
          </a:prstGeom>
          <a:solidFill>
            <a:srgbClr val="1E2122"/>
          </a:solidFill>
          <a:ln/>
        </p:spPr>
      </p:sp>
      <p:sp>
        <p:nvSpPr>
          <p:cNvPr id="45" name="Text 43"/>
          <p:cNvSpPr txBox="1"/>
          <p:nvPr/>
        </p:nvSpPr>
        <p:spPr>
          <a:xfrm>
            <a:off x="3676650" y="2762250"/>
            <a:ext cx="438150" cy="381000"/>
          </a:xfrm>
          <a:prstGeom prst="rect">
            <a:avLst/>
          </a:prstGeom>
          <a:noFill/>
          <a:ln/>
        </p:spPr>
        <p:txBody>
          <a:bodyPr wrap="square" lIns="0" tIns="0" rIns="0" bIns="0" rtlCol="0" anchor="ctr"/>
          <a:lstStyle/>
          <a:p>
            <a:pPr algn="ctr" indent="0" marL="0">
              <a:lnSpc>
                <a:spcPts val="1080"/>
              </a:lnSpc>
              <a:buNone/>
            </a:pPr>
            <a:r>
              <a:rPr lang="en-US" sz="900" b="1" dirty="0">
                <a:solidFill>
                  <a:srgbClr val="ECE8E1"/>
                </a:solidFill>
                <a:latin typeface="Archivo" pitchFamily="34" charset="0"/>
                <a:ea typeface="Archivo" pitchFamily="34" charset="-122"/>
                <a:cs typeface="Archivo" pitchFamily="34" charset="-120"/>
              </a:rPr>
              <a:t>EJ-2</a:t>
            </a:r>
            <a:endParaRPr lang="en-US" sz="900" dirty="0"/>
          </a:p>
        </p:txBody>
      </p:sp>
      <p:sp>
        <p:nvSpPr>
          <p:cNvPr id="46" name="Shape 44"/>
          <p:cNvSpPr/>
          <p:nvPr/>
        </p:nvSpPr>
        <p:spPr>
          <a:xfrm>
            <a:off x="4057650" y="2857500"/>
            <a:ext cx="381000" cy="381000"/>
          </a:xfrm>
          <a:prstGeom prst="roundRect">
            <a:avLst>
              <a:gd name="adj" fmla="val 50000"/>
            </a:avLst>
          </a:prstGeom>
          <a:solidFill>
            <a:srgbClr val="B5482A"/>
          </a:solidFill>
          <a:ln/>
        </p:spPr>
      </p:sp>
      <p:sp>
        <p:nvSpPr>
          <p:cNvPr id="47" name="Text 45"/>
          <p:cNvSpPr txBox="1"/>
          <p:nvPr/>
        </p:nvSpPr>
        <p:spPr>
          <a:xfrm>
            <a:off x="4057650" y="2857500"/>
            <a:ext cx="438150" cy="381000"/>
          </a:xfrm>
          <a:prstGeom prst="rect">
            <a:avLst/>
          </a:prstGeom>
          <a:noFill/>
          <a:ln/>
        </p:spPr>
        <p:txBody>
          <a:bodyPr wrap="square" lIns="0" tIns="0" rIns="0" bIns="0" rtlCol="0" anchor="ctr"/>
          <a:lstStyle/>
          <a:p>
            <a:pPr algn="ctr" indent="0" marL="0">
              <a:lnSpc>
                <a:spcPts val="1080"/>
              </a:lnSpc>
              <a:buNone/>
            </a:pPr>
            <a:r>
              <a:rPr lang="en-US" sz="900" b="1" dirty="0">
                <a:solidFill>
                  <a:srgbClr val="ECE8E1"/>
                </a:solidFill>
                <a:latin typeface="Archivo" pitchFamily="34" charset="0"/>
                <a:ea typeface="Archivo" pitchFamily="34" charset="-122"/>
                <a:cs typeface="Archivo" pitchFamily="34" charset="-120"/>
              </a:rPr>
              <a:t>N2</a:t>
            </a:r>
            <a:endParaRPr lang="en-US" sz="900" dirty="0"/>
          </a:p>
        </p:txBody>
      </p:sp>
      <p:sp>
        <p:nvSpPr>
          <p:cNvPr id="48" name="Shape 46"/>
          <p:cNvSpPr/>
          <p:nvPr/>
        </p:nvSpPr>
        <p:spPr>
          <a:xfrm>
            <a:off x="3009900" y="2809875"/>
            <a:ext cx="381000" cy="381000"/>
          </a:xfrm>
          <a:prstGeom prst="roundRect">
            <a:avLst>
              <a:gd name="adj" fmla="val 50000"/>
            </a:avLst>
          </a:prstGeom>
          <a:solidFill>
            <a:srgbClr val="E8A33D"/>
          </a:solidFill>
          <a:ln/>
        </p:spPr>
      </p:sp>
      <p:sp>
        <p:nvSpPr>
          <p:cNvPr id="49" name="Text 47"/>
          <p:cNvSpPr txBox="1"/>
          <p:nvPr/>
        </p:nvSpPr>
        <p:spPr>
          <a:xfrm>
            <a:off x="3009900" y="2809875"/>
            <a:ext cx="438150" cy="381000"/>
          </a:xfrm>
          <a:prstGeom prst="rect">
            <a:avLst/>
          </a:prstGeom>
          <a:noFill/>
          <a:ln/>
        </p:spPr>
        <p:txBody>
          <a:bodyPr wrap="square" lIns="0" tIns="0" rIns="0" bIns="0" rtlCol="0" anchor="ctr"/>
          <a:lstStyle/>
          <a:p>
            <a:pPr algn="ctr" indent="0" marL="0">
              <a:lnSpc>
                <a:spcPts val="1080"/>
              </a:lnSpc>
              <a:buNone/>
            </a:pPr>
            <a:r>
              <a:rPr lang="en-US" sz="900" b="1" dirty="0">
                <a:solidFill>
                  <a:srgbClr val="1E2122"/>
                </a:solidFill>
                <a:latin typeface="Archivo" pitchFamily="34" charset="0"/>
                <a:ea typeface="Archivo" pitchFamily="34" charset="-122"/>
                <a:cs typeface="Archivo" pitchFamily="34" charset="-120"/>
              </a:rPr>
              <a:t>EJ-6</a:t>
            </a:r>
            <a:endParaRPr lang="en-US" sz="900" dirty="0"/>
          </a:p>
        </p:txBody>
      </p:sp>
      <p:sp>
        <p:nvSpPr>
          <p:cNvPr id="50" name="Shape 48"/>
          <p:cNvSpPr/>
          <p:nvPr/>
        </p:nvSpPr>
        <p:spPr>
          <a:xfrm>
            <a:off x="1343025" y="2809875"/>
            <a:ext cx="381000" cy="381000"/>
          </a:xfrm>
          <a:prstGeom prst="roundRect">
            <a:avLst>
              <a:gd name="adj" fmla="val 50000"/>
            </a:avLst>
          </a:prstGeom>
          <a:ln w="19050">
            <a:solidFill>
              <a:srgbClr val="5F635E"/>
            </a:solidFill>
            <a:prstDash val="solid"/>
          </a:ln>
        </p:spPr>
      </p:sp>
      <p:sp>
        <p:nvSpPr>
          <p:cNvPr id="51" name="Text 49"/>
          <p:cNvSpPr txBox="1"/>
          <p:nvPr/>
        </p:nvSpPr>
        <p:spPr>
          <a:xfrm>
            <a:off x="1343025" y="2809875"/>
            <a:ext cx="438150" cy="381000"/>
          </a:xfrm>
          <a:prstGeom prst="rect">
            <a:avLst/>
          </a:prstGeom>
          <a:noFill/>
          <a:ln/>
        </p:spPr>
        <p:txBody>
          <a:bodyPr wrap="square" lIns="0" tIns="0" rIns="0" bIns="0" rtlCol="0" anchor="ctr"/>
          <a:lstStyle/>
          <a:p>
            <a:pPr algn="ctr" indent="0" marL="0">
              <a:lnSpc>
                <a:spcPts val="1080"/>
              </a:lnSpc>
              <a:buNone/>
            </a:pPr>
            <a:r>
              <a:rPr lang="en-US" sz="900" b="1" dirty="0">
                <a:solidFill>
                  <a:srgbClr val="5F635E"/>
                </a:solidFill>
                <a:latin typeface="Archivo" pitchFamily="34" charset="0"/>
                <a:ea typeface="Archivo" pitchFamily="34" charset="-122"/>
                <a:cs typeface="Archivo" pitchFamily="34" charset="-120"/>
              </a:rPr>
              <a:t>EJ-5</a:t>
            </a:r>
            <a:endParaRPr lang="en-US" sz="900" dirty="0"/>
          </a:p>
        </p:txBody>
      </p:sp>
      <p:sp>
        <p:nvSpPr>
          <p:cNvPr id="52" name="Shape 50"/>
          <p:cNvSpPr/>
          <p:nvPr/>
        </p:nvSpPr>
        <p:spPr>
          <a:xfrm>
            <a:off x="4695825" y="3476625"/>
            <a:ext cx="381000" cy="381000"/>
          </a:xfrm>
          <a:prstGeom prst="roundRect">
            <a:avLst>
              <a:gd name="adj" fmla="val 50000"/>
            </a:avLst>
          </a:prstGeom>
          <a:solidFill>
            <a:srgbClr val="1E2122"/>
          </a:solidFill>
          <a:ln/>
        </p:spPr>
      </p:sp>
      <p:sp>
        <p:nvSpPr>
          <p:cNvPr id="53" name="Text 51"/>
          <p:cNvSpPr txBox="1"/>
          <p:nvPr/>
        </p:nvSpPr>
        <p:spPr>
          <a:xfrm>
            <a:off x="4695825" y="3476625"/>
            <a:ext cx="438150" cy="381000"/>
          </a:xfrm>
          <a:prstGeom prst="rect">
            <a:avLst/>
          </a:prstGeom>
          <a:noFill/>
          <a:ln/>
        </p:spPr>
        <p:txBody>
          <a:bodyPr wrap="square" lIns="0" tIns="0" rIns="0" bIns="0" rtlCol="0" anchor="ctr"/>
          <a:lstStyle/>
          <a:p>
            <a:pPr algn="ctr" indent="0" marL="0">
              <a:lnSpc>
                <a:spcPts val="1080"/>
              </a:lnSpc>
              <a:buNone/>
            </a:pPr>
            <a:r>
              <a:rPr lang="en-US" sz="900" b="1" dirty="0">
                <a:solidFill>
                  <a:srgbClr val="ECE8E1"/>
                </a:solidFill>
                <a:latin typeface="Archivo" pitchFamily="34" charset="0"/>
                <a:ea typeface="Archivo" pitchFamily="34" charset="-122"/>
                <a:cs typeface="Archivo" pitchFamily="34" charset="-120"/>
              </a:rPr>
              <a:t>EJ-1</a:t>
            </a:r>
            <a:endParaRPr lang="en-US" sz="900" dirty="0"/>
          </a:p>
        </p:txBody>
      </p:sp>
      <p:sp>
        <p:nvSpPr>
          <p:cNvPr id="54" name="Shape 52"/>
          <p:cNvSpPr/>
          <p:nvPr/>
        </p:nvSpPr>
        <p:spPr>
          <a:xfrm>
            <a:off x="3019425" y="3476625"/>
            <a:ext cx="381000" cy="381000"/>
          </a:xfrm>
          <a:prstGeom prst="roundRect">
            <a:avLst>
              <a:gd name="adj" fmla="val 50000"/>
            </a:avLst>
          </a:prstGeom>
          <a:solidFill>
            <a:srgbClr val="1E2122"/>
          </a:solidFill>
          <a:ln/>
        </p:spPr>
      </p:sp>
      <p:sp>
        <p:nvSpPr>
          <p:cNvPr id="55" name="Text 53"/>
          <p:cNvSpPr txBox="1"/>
          <p:nvPr/>
        </p:nvSpPr>
        <p:spPr>
          <a:xfrm>
            <a:off x="3019425" y="3476625"/>
            <a:ext cx="438150" cy="381000"/>
          </a:xfrm>
          <a:prstGeom prst="rect">
            <a:avLst/>
          </a:prstGeom>
          <a:noFill/>
          <a:ln/>
        </p:spPr>
        <p:txBody>
          <a:bodyPr wrap="square" lIns="0" tIns="0" rIns="0" bIns="0" rtlCol="0" anchor="ctr"/>
          <a:lstStyle/>
          <a:p>
            <a:pPr algn="ctr" indent="0" marL="0">
              <a:lnSpc>
                <a:spcPts val="1080"/>
              </a:lnSpc>
              <a:buNone/>
            </a:pPr>
            <a:r>
              <a:rPr lang="en-US" sz="900" b="1" dirty="0">
                <a:solidFill>
                  <a:srgbClr val="ECE8E1"/>
                </a:solidFill>
                <a:latin typeface="Archivo" pitchFamily="34" charset="0"/>
                <a:ea typeface="Archivo" pitchFamily="34" charset="-122"/>
                <a:cs typeface="Archivo" pitchFamily="34" charset="-120"/>
              </a:rPr>
              <a:t>EJ-4</a:t>
            </a:r>
            <a:endParaRPr lang="en-US" sz="900" dirty="0"/>
          </a:p>
        </p:txBody>
      </p:sp>
      <p:sp>
        <p:nvSpPr>
          <p:cNvPr id="56" name="Shape 54"/>
          <p:cNvSpPr/>
          <p:nvPr/>
        </p:nvSpPr>
        <p:spPr>
          <a:xfrm>
            <a:off x="3857625" y="4162425"/>
            <a:ext cx="381000" cy="381000"/>
          </a:xfrm>
          <a:prstGeom prst="roundRect">
            <a:avLst>
              <a:gd name="adj" fmla="val 50000"/>
            </a:avLst>
          </a:prstGeom>
          <a:solidFill>
            <a:srgbClr val="1E2122"/>
          </a:solidFill>
          <a:ln/>
        </p:spPr>
      </p:sp>
      <p:sp>
        <p:nvSpPr>
          <p:cNvPr id="57" name="Text 55"/>
          <p:cNvSpPr txBox="1"/>
          <p:nvPr/>
        </p:nvSpPr>
        <p:spPr>
          <a:xfrm>
            <a:off x="3857625" y="4162425"/>
            <a:ext cx="438150" cy="381000"/>
          </a:xfrm>
          <a:prstGeom prst="rect">
            <a:avLst/>
          </a:prstGeom>
          <a:noFill/>
          <a:ln/>
        </p:spPr>
        <p:txBody>
          <a:bodyPr wrap="square" lIns="0" tIns="0" rIns="0" bIns="0" rtlCol="0" anchor="ctr"/>
          <a:lstStyle/>
          <a:p>
            <a:pPr algn="ctr" indent="0" marL="0">
              <a:lnSpc>
                <a:spcPts val="1080"/>
              </a:lnSpc>
              <a:buNone/>
            </a:pPr>
            <a:r>
              <a:rPr lang="en-US" sz="900" b="1" dirty="0">
                <a:solidFill>
                  <a:srgbClr val="ECE8E1"/>
                </a:solidFill>
                <a:latin typeface="Archivo" pitchFamily="34" charset="0"/>
                <a:ea typeface="Archivo" pitchFamily="34" charset="-122"/>
                <a:cs typeface="Archivo" pitchFamily="34" charset="-120"/>
              </a:rPr>
              <a:t>EJ-3</a:t>
            </a:r>
            <a:endParaRPr lang="en-US" sz="900" dirty="0"/>
          </a:p>
        </p:txBody>
      </p:sp>
      <p:sp>
        <p:nvSpPr>
          <p:cNvPr id="58" name="Shape 56"/>
          <p:cNvSpPr/>
          <p:nvPr/>
        </p:nvSpPr>
        <p:spPr>
          <a:xfrm>
            <a:off x="5905500" y="1866900"/>
            <a:ext cx="5600700" cy="9525"/>
          </a:xfrm>
          <a:prstGeom prst="rect">
            <a:avLst/>
          </a:prstGeom>
          <a:solidFill>
            <a:srgbClr val="CFC8BC"/>
          </a:solidFill>
          <a:ln/>
        </p:spPr>
      </p:sp>
      <p:sp>
        <p:nvSpPr>
          <p:cNvPr id="59" name="Text 57"/>
          <p:cNvSpPr txBox="1"/>
          <p:nvPr/>
        </p:nvSpPr>
        <p:spPr>
          <a:xfrm>
            <a:off x="5905500" y="1981200"/>
            <a:ext cx="819150" cy="152400"/>
          </a:xfrm>
          <a:prstGeom prst="rect">
            <a:avLst/>
          </a:prstGeom>
          <a:noFill/>
          <a:ln/>
        </p:spPr>
        <p:txBody>
          <a:bodyPr wrap="square" lIns="0" tIns="0" rIns="0" bIns="0" rtlCol="0" anchor="t"/>
          <a:lstStyle/>
          <a:p>
            <a:pPr algn="l" indent="0" marL="0">
              <a:lnSpc>
                <a:spcPts val="1350"/>
              </a:lnSpc>
              <a:buNone/>
            </a:pPr>
            <a:r>
              <a:rPr lang="en-US" sz="1130" b="1" dirty="0">
                <a:solidFill>
                  <a:srgbClr val="B5482A"/>
                </a:solidFill>
                <a:latin typeface="Archivo" pitchFamily="34" charset="0"/>
                <a:ea typeface="Archivo" pitchFamily="34" charset="-122"/>
                <a:cs typeface="Archivo" pitchFamily="34" charset="-120"/>
              </a:rPr>
              <a:t>N1 · 20</a:t>
            </a:r>
            <a:endParaRPr lang="en-US" sz="1130" dirty="0"/>
          </a:p>
        </p:txBody>
      </p:sp>
      <p:sp>
        <p:nvSpPr>
          <p:cNvPr id="60" name="Text 58"/>
          <p:cNvSpPr txBox="1"/>
          <p:nvPr/>
        </p:nvSpPr>
        <p:spPr>
          <a:xfrm>
            <a:off x="6781800" y="1981200"/>
            <a:ext cx="4781550" cy="400050"/>
          </a:xfrm>
          <a:prstGeom prst="rect">
            <a:avLst/>
          </a:prstGeom>
          <a:noFill/>
          <a:ln/>
        </p:spPr>
        <p:txBody>
          <a:bodyPr wrap="square" lIns="0" tIns="0" rIns="0" bIns="0" rtlCol="0" anchor="t"/>
          <a:lstStyle/>
          <a:p>
            <a:pPr algn="l" indent="0" marL="0">
              <a:lnSpc>
                <a:spcPts val="1580"/>
              </a:lnSpc>
              <a:buNone/>
            </a:pPr>
            <a:r>
              <a:rPr lang="en-US" sz="1130" b="1" dirty="0">
                <a:solidFill>
                  <a:srgbClr val="1E2122"/>
                </a:solidFill>
                <a:latin typeface="Archivo" pitchFamily="34" charset="0"/>
                <a:ea typeface="Archivo" pitchFamily="34" charset="-122"/>
                <a:cs typeface="Archivo" pitchFamily="34" charset="-120"/>
              </a:rPr>
              <a:t>Campos sin fuente pública.</a:t>
            </a:r>
            <a:pPr algn="l" indent="0" marL="0">
              <a:lnSpc>
                <a:spcPts val="1580"/>
              </a:lnSpc>
              <a:buNone/>
            </a:pPr>
            <a:r>
              <a:rPr lang="en-US" sz="1130" dirty="0">
                <a:solidFill>
                  <a:srgbClr val="1E2122"/>
                </a:solidFill>
                <a:latin typeface="Archivo" pitchFamily="34" charset="0"/>
                <a:ea typeface="Archivo" pitchFamily="34" charset="-122"/>
                <a:cs typeface="Archivo" pitchFamily="34" charset="-120"/>
              </a:rPr>
              <a:t> Ya ocurrió. Decide el comité quién completa localidad, NIT y fecha.</a:t>
            </a:r>
            <a:endParaRPr lang="en-US" sz="1130" dirty="0"/>
          </a:p>
        </p:txBody>
      </p:sp>
      <p:sp>
        <p:nvSpPr>
          <p:cNvPr id="61" name="Shape 59"/>
          <p:cNvSpPr/>
          <p:nvPr/>
        </p:nvSpPr>
        <p:spPr>
          <a:xfrm>
            <a:off x="5905500" y="2628900"/>
            <a:ext cx="5600700" cy="9525"/>
          </a:xfrm>
          <a:prstGeom prst="rect">
            <a:avLst/>
          </a:prstGeom>
          <a:solidFill>
            <a:srgbClr val="CFC8BC"/>
          </a:solidFill>
          <a:ln/>
        </p:spPr>
      </p:sp>
      <p:sp>
        <p:nvSpPr>
          <p:cNvPr id="62" name="Text 60"/>
          <p:cNvSpPr txBox="1"/>
          <p:nvPr/>
        </p:nvSpPr>
        <p:spPr>
          <a:xfrm>
            <a:off x="5905500" y="2743200"/>
            <a:ext cx="819150" cy="152400"/>
          </a:xfrm>
          <a:prstGeom prst="rect">
            <a:avLst/>
          </a:prstGeom>
          <a:noFill/>
          <a:ln/>
        </p:spPr>
        <p:txBody>
          <a:bodyPr wrap="square" lIns="0" tIns="0" rIns="0" bIns="0" rtlCol="0" anchor="t"/>
          <a:lstStyle/>
          <a:p>
            <a:pPr algn="l" indent="0" marL="0">
              <a:lnSpc>
                <a:spcPts val="1350"/>
              </a:lnSpc>
              <a:buNone/>
            </a:pPr>
            <a:r>
              <a:rPr lang="en-US" sz="1130" b="1" dirty="0">
                <a:solidFill>
                  <a:srgbClr val="B5482A"/>
                </a:solidFill>
                <a:latin typeface="Archivo" pitchFamily="34" charset="0"/>
                <a:ea typeface="Archivo" pitchFamily="34" charset="-122"/>
                <a:cs typeface="Archivo" pitchFamily="34" charset="-120"/>
              </a:rPr>
              <a:t>N2 · 16</a:t>
            </a:r>
            <a:endParaRPr lang="en-US" sz="1130" dirty="0"/>
          </a:p>
        </p:txBody>
      </p:sp>
      <p:sp>
        <p:nvSpPr>
          <p:cNvPr id="63" name="Text 61"/>
          <p:cNvSpPr txBox="1"/>
          <p:nvPr/>
        </p:nvSpPr>
        <p:spPr>
          <a:xfrm>
            <a:off x="6781800" y="2743200"/>
            <a:ext cx="4781550" cy="400050"/>
          </a:xfrm>
          <a:prstGeom prst="rect">
            <a:avLst/>
          </a:prstGeom>
          <a:noFill/>
          <a:ln/>
        </p:spPr>
        <p:txBody>
          <a:bodyPr wrap="square" lIns="0" tIns="0" rIns="0" bIns="0" rtlCol="0" anchor="t"/>
          <a:lstStyle/>
          <a:p>
            <a:pPr algn="l" indent="0" marL="0">
              <a:lnSpc>
                <a:spcPts val="1580"/>
              </a:lnSpc>
              <a:buNone/>
            </a:pPr>
            <a:r>
              <a:rPr lang="en-US" sz="1130" b="1" dirty="0">
                <a:solidFill>
                  <a:srgbClr val="1E2122"/>
                </a:solidFill>
                <a:latin typeface="Archivo" pitchFamily="34" charset="0"/>
                <a:ea typeface="Archivo" pitchFamily="34" charset="-122"/>
                <a:cs typeface="Archivo" pitchFamily="34" charset="-120"/>
              </a:rPr>
              <a:t>Atraso del cronograma.</a:t>
            </a:r>
            <a:pPr algn="l" indent="0" marL="0">
              <a:lnSpc>
                <a:spcPts val="1580"/>
              </a:lnSpc>
              <a:buNone/>
            </a:pPr>
            <a:r>
              <a:rPr lang="en-US" sz="1130" dirty="0">
                <a:solidFill>
                  <a:srgbClr val="1E2122"/>
                </a:solidFill>
                <a:latin typeface="Archivo" pitchFamily="34" charset="0"/>
                <a:ea typeface="Archivo" pitchFamily="34" charset="-122"/>
                <a:cs typeface="Archivo" pitchFamily="34" charset="-120"/>
              </a:rPr>
              <a:t> Sin reajuste de alcance o fecha, el piloto no alcanza.</a:t>
            </a:r>
            <a:endParaRPr lang="en-US" sz="1130" dirty="0"/>
          </a:p>
        </p:txBody>
      </p:sp>
      <p:sp>
        <p:nvSpPr>
          <p:cNvPr id="64" name="Shape 62"/>
          <p:cNvSpPr/>
          <p:nvPr/>
        </p:nvSpPr>
        <p:spPr>
          <a:xfrm>
            <a:off x="5905500" y="3390900"/>
            <a:ext cx="5600700" cy="9525"/>
          </a:xfrm>
          <a:prstGeom prst="rect">
            <a:avLst/>
          </a:prstGeom>
          <a:solidFill>
            <a:srgbClr val="CFC8BC"/>
          </a:solidFill>
          <a:ln/>
        </p:spPr>
      </p:sp>
      <p:sp>
        <p:nvSpPr>
          <p:cNvPr id="65" name="Text 63"/>
          <p:cNvSpPr txBox="1"/>
          <p:nvPr/>
        </p:nvSpPr>
        <p:spPr>
          <a:xfrm>
            <a:off x="5905500" y="3505200"/>
            <a:ext cx="819150" cy="152400"/>
          </a:xfrm>
          <a:prstGeom prst="rect">
            <a:avLst/>
          </a:prstGeom>
          <a:noFill/>
          <a:ln/>
        </p:spPr>
        <p:txBody>
          <a:bodyPr wrap="square" lIns="0" tIns="0" rIns="0" bIns="0" rtlCol="0" anchor="t"/>
          <a:lstStyle/>
          <a:p>
            <a:pPr algn="l" indent="0" marL="0">
              <a:lnSpc>
                <a:spcPts val="1350"/>
              </a:lnSpc>
              <a:buNone/>
            </a:pPr>
            <a:r>
              <a:rPr lang="en-US" sz="1130" b="1" dirty="0">
                <a:solidFill>
                  <a:srgbClr val="1E2122"/>
                </a:solidFill>
                <a:latin typeface="Archivo" pitchFamily="34" charset="0"/>
                <a:ea typeface="Archivo" pitchFamily="34" charset="-122"/>
                <a:cs typeface="Archivo" pitchFamily="34" charset="-120"/>
              </a:rPr>
              <a:t>EJ-2 · 16</a:t>
            </a:r>
            <a:endParaRPr lang="en-US" sz="1130" dirty="0"/>
          </a:p>
        </p:txBody>
      </p:sp>
      <p:sp>
        <p:nvSpPr>
          <p:cNvPr id="66" name="Text 64"/>
          <p:cNvSpPr txBox="1"/>
          <p:nvPr/>
        </p:nvSpPr>
        <p:spPr>
          <a:xfrm>
            <a:off x="6781800" y="3505200"/>
            <a:ext cx="4781550" cy="400050"/>
          </a:xfrm>
          <a:prstGeom prst="rect">
            <a:avLst/>
          </a:prstGeom>
          <a:noFill/>
          <a:ln/>
        </p:spPr>
        <p:txBody>
          <a:bodyPr wrap="square" lIns="0" tIns="0" rIns="0" bIns="0" rtlCol="0" anchor="t"/>
          <a:lstStyle/>
          <a:p>
            <a:pPr algn="l" indent="0" marL="0">
              <a:lnSpc>
                <a:spcPts val="1580"/>
              </a:lnSpc>
              <a:buNone/>
            </a:pPr>
            <a:r>
              <a:rPr lang="en-US" sz="1130" b="1" dirty="0">
                <a:solidFill>
                  <a:srgbClr val="1E2122"/>
                </a:solidFill>
                <a:latin typeface="Archivo" pitchFamily="34" charset="0"/>
                <a:ea typeface="Archivo" pitchFamily="34" charset="-122"/>
                <a:cs typeface="Archivo" pitchFamily="34" charset="-120"/>
              </a:rPr>
              <a:t>Datos con errores en la fuente.</a:t>
            </a:r>
            <a:pPr algn="l" indent="0" marL="0">
              <a:lnSpc>
                <a:spcPts val="1580"/>
              </a:lnSpc>
              <a:buNone/>
            </a:pPr>
            <a:r>
              <a:rPr lang="en-US" sz="1130" dirty="0">
                <a:solidFill>
                  <a:srgbClr val="1E2122"/>
                </a:solidFill>
                <a:latin typeface="Archivo" pitchFamily="34" charset="0"/>
                <a:ea typeface="Archivo" pitchFamily="34" charset="-122"/>
                <a:cs typeface="Archivo" pitchFamily="34" charset="-120"/>
              </a:rPr>
              <a:t> Mitigado: la limpieza está lista y todo dato dudoso queda registrado.</a:t>
            </a:r>
            <a:endParaRPr lang="en-US" sz="1130" dirty="0"/>
          </a:p>
        </p:txBody>
      </p:sp>
      <p:sp>
        <p:nvSpPr>
          <p:cNvPr id="67" name="Shape 65"/>
          <p:cNvSpPr/>
          <p:nvPr/>
        </p:nvSpPr>
        <p:spPr>
          <a:xfrm>
            <a:off x="5905500" y="4152900"/>
            <a:ext cx="5600700" cy="9525"/>
          </a:xfrm>
          <a:prstGeom prst="rect">
            <a:avLst/>
          </a:prstGeom>
          <a:solidFill>
            <a:srgbClr val="CFC8BC"/>
          </a:solidFill>
          <a:ln/>
        </p:spPr>
      </p:sp>
      <p:sp>
        <p:nvSpPr>
          <p:cNvPr id="68" name="Text 66"/>
          <p:cNvSpPr txBox="1"/>
          <p:nvPr/>
        </p:nvSpPr>
        <p:spPr>
          <a:xfrm>
            <a:off x="5905500" y="4267200"/>
            <a:ext cx="819150" cy="152400"/>
          </a:xfrm>
          <a:prstGeom prst="rect">
            <a:avLst/>
          </a:prstGeom>
          <a:noFill/>
          <a:ln/>
        </p:spPr>
        <p:txBody>
          <a:bodyPr wrap="square" lIns="0" tIns="0" rIns="0" bIns="0" rtlCol="0" anchor="t"/>
          <a:lstStyle/>
          <a:p>
            <a:pPr algn="l" indent="0" marL="0">
              <a:lnSpc>
                <a:spcPts val="1350"/>
              </a:lnSpc>
              <a:buNone/>
            </a:pPr>
            <a:r>
              <a:rPr lang="en-US" sz="1130" b="1" dirty="0">
                <a:solidFill>
                  <a:srgbClr val="1E2122"/>
                </a:solidFill>
                <a:latin typeface="Archivo" pitchFamily="34" charset="0"/>
                <a:ea typeface="Archivo" pitchFamily="34" charset="-122"/>
                <a:cs typeface="Archivo" pitchFamily="34" charset="-120"/>
              </a:rPr>
              <a:t>EJ-1 · 15</a:t>
            </a:r>
            <a:endParaRPr lang="en-US" sz="1130" dirty="0"/>
          </a:p>
        </p:txBody>
      </p:sp>
      <p:sp>
        <p:nvSpPr>
          <p:cNvPr id="69" name="Text 67"/>
          <p:cNvSpPr txBox="1"/>
          <p:nvPr/>
        </p:nvSpPr>
        <p:spPr>
          <a:xfrm>
            <a:off x="6781800" y="4267200"/>
            <a:ext cx="4781550" cy="400050"/>
          </a:xfrm>
          <a:prstGeom prst="rect">
            <a:avLst/>
          </a:prstGeom>
          <a:noFill/>
          <a:ln/>
        </p:spPr>
        <p:txBody>
          <a:bodyPr wrap="square" lIns="0" tIns="0" rIns="0" bIns="0" rtlCol="0" anchor="t"/>
          <a:lstStyle/>
          <a:p>
            <a:pPr algn="l" indent="0" marL="0">
              <a:lnSpc>
                <a:spcPts val="1580"/>
              </a:lnSpc>
              <a:buNone/>
            </a:pPr>
            <a:r>
              <a:rPr lang="en-US" sz="1130" b="1" dirty="0">
                <a:solidFill>
                  <a:srgbClr val="1E2122"/>
                </a:solidFill>
                <a:latin typeface="Archivo" pitchFamily="34" charset="0"/>
                <a:ea typeface="Archivo" pitchFamily="34" charset="-122"/>
                <a:cs typeface="Archivo" pitchFamily="34" charset="-120"/>
              </a:rPr>
              <a:t>Caída de la API.</a:t>
            </a:r>
            <a:pPr algn="l" indent="0" marL="0">
              <a:lnSpc>
                <a:spcPts val="1580"/>
              </a:lnSpc>
              <a:buNone/>
            </a:pPr>
            <a:r>
              <a:rPr lang="en-US" sz="1130" dirty="0">
                <a:solidFill>
                  <a:srgbClr val="1E2122"/>
                </a:solidFill>
                <a:latin typeface="Archivo" pitchFamily="34" charset="0"/>
                <a:ea typeface="Archivo" pitchFamily="34" charset="-122"/>
                <a:cs typeface="Archivo" pitchFamily="34" charset="-120"/>
              </a:rPr>
              <a:t> 4 semanas de seguimiento sin un solo incidente (21-09 a 11-10).</a:t>
            </a:r>
            <a:endParaRPr lang="en-US" sz="1130" dirty="0"/>
          </a:p>
        </p:txBody>
      </p:sp>
      <p:sp>
        <p:nvSpPr>
          <p:cNvPr id="70" name="Shape 68"/>
          <p:cNvSpPr/>
          <p:nvPr/>
        </p:nvSpPr>
        <p:spPr>
          <a:xfrm>
            <a:off x="5905500" y="4914900"/>
            <a:ext cx="5600700" cy="9525"/>
          </a:xfrm>
          <a:prstGeom prst="rect">
            <a:avLst/>
          </a:prstGeom>
          <a:solidFill>
            <a:srgbClr val="CFC8BC"/>
          </a:solidFill>
          <a:ln/>
        </p:spPr>
      </p:sp>
      <p:sp>
        <p:nvSpPr>
          <p:cNvPr id="71" name="Text 69"/>
          <p:cNvSpPr txBox="1"/>
          <p:nvPr/>
        </p:nvSpPr>
        <p:spPr>
          <a:xfrm>
            <a:off x="5905500" y="5029200"/>
            <a:ext cx="819150" cy="152400"/>
          </a:xfrm>
          <a:prstGeom prst="rect">
            <a:avLst/>
          </a:prstGeom>
          <a:noFill/>
          <a:ln/>
        </p:spPr>
        <p:txBody>
          <a:bodyPr wrap="square" lIns="0" tIns="0" rIns="0" bIns="0" rtlCol="0" anchor="t"/>
          <a:lstStyle/>
          <a:p>
            <a:pPr algn="l" indent="0" marL="0">
              <a:lnSpc>
                <a:spcPts val="1350"/>
              </a:lnSpc>
              <a:buNone/>
            </a:pPr>
            <a:r>
              <a:rPr lang="en-US" sz="1130" b="1" dirty="0">
                <a:solidFill>
                  <a:srgbClr val="1E2122"/>
                </a:solidFill>
                <a:latin typeface="Archivo" pitchFamily="34" charset="0"/>
                <a:ea typeface="Archivo" pitchFamily="34" charset="-122"/>
                <a:cs typeface="Archivo" pitchFamily="34" charset="-120"/>
              </a:rPr>
              <a:t>EJ-4 · 9</a:t>
            </a:r>
            <a:endParaRPr lang="en-US" sz="1130" dirty="0"/>
          </a:p>
        </p:txBody>
      </p:sp>
      <p:sp>
        <p:nvSpPr>
          <p:cNvPr id="72" name="Text 70"/>
          <p:cNvSpPr txBox="1"/>
          <p:nvPr/>
        </p:nvSpPr>
        <p:spPr>
          <a:xfrm>
            <a:off x="6781800" y="5029200"/>
            <a:ext cx="4781550" cy="400050"/>
          </a:xfrm>
          <a:prstGeom prst="rect">
            <a:avLst/>
          </a:prstGeom>
          <a:noFill/>
          <a:ln/>
        </p:spPr>
        <p:txBody>
          <a:bodyPr wrap="square" lIns="0" tIns="0" rIns="0" bIns="0" rtlCol="0" anchor="t"/>
          <a:lstStyle/>
          <a:p>
            <a:pPr algn="l" indent="0" marL="0">
              <a:lnSpc>
                <a:spcPts val="1580"/>
              </a:lnSpc>
              <a:buNone/>
            </a:pPr>
            <a:r>
              <a:rPr lang="en-US" sz="1130" b="1" dirty="0">
                <a:solidFill>
                  <a:srgbClr val="1E2122"/>
                </a:solidFill>
                <a:latin typeface="Archivo" pitchFamily="34" charset="0"/>
                <a:ea typeface="Archivo" pitchFamily="34" charset="-122"/>
                <a:cs typeface="Archivo" pitchFamily="34" charset="-120"/>
              </a:rPr>
              <a:t>Baja adopción comercial.</a:t>
            </a:r>
            <a:pPr algn="l" indent="0" marL="0">
              <a:lnSpc>
                <a:spcPts val="1580"/>
              </a:lnSpc>
              <a:buNone/>
            </a:pPr>
            <a:r>
              <a:rPr lang="en-US" sz="1130" dirty="0">
                <a:solidFill>
                  <a:srgbClr val="1E2122"/>
                </a:solidFill>
                <a:latin typeface="Archivo" pitchFamily="34" charset="0"/>
                <a:ea typeface="Archivo" pitchFamily="34" charset="-122"/>
                <a:cs typeface="Archivo" pitchFamily="34" charset="-120"/>
              </a:rPr>
              <a:t> Sin cambios: la capacitación todavía no tiene fecha.</a:t>
            </a:r>
            <a:endParaRPr lang="en-US" sz="1130" dirty="0"/>
          </a:p>
        </p:txBody>
      </p:sp>
      <p:sp>
        <p:nvSpPr>
          <p:cNvPr id="73" name="Shape 71"/>
          <p:cNvSpPr/>
          <p:nvPr/>
        </p:nvSpPr>
        <p:spPr>
          <a:xfrm>
            <a:off x="5905500" y="5676900"/>
            <a:ext cx="5600700" cy="9525"/>
          </a:xfrm>
          <a:prstGeom prst="rect">
            <a:avLst/>
          </a:prstGeom>
          <a:solidFill>
            <a:srgbClr val="CFC8BC"/>
          </a:solidFill>
          <a:ln/>
        </p:spPr>
      </p:sp>
      <p:sp>
        <p:nvSpPr>
          <p:cNvPr id="74" name="Text 72"/>
          <p:cNvSpPr txBox="1"/>
          <p:nvPr/>
        </p:nvSpPr>
        <p:spPr>
          <a:xfrm>
            <a:off x="685800" y="6400800"/>
            <a:ext cx="9963150" cy="133350"/>
          </a:xfrm>
          <a:prstGeom prst="rect">
            <a:avLst/>
          </a:prstGeom>
          <a:noFill/>
          <a:ln/>
        </p:spPr>
        <p:txBody>
          <a:bodyPr wrap="square" lIns="0" tIns="0" rIns="0" bIns="0" rtlCol="0" anchor="t"/>
          <a:lstStyle/>
          <a:p>
            <a:pPr algn="l" indent="0" marL="0">
              <a:lnSpc>
                <a:spcPts val="1080"/>
              </a:lnSpc>
              <a:buNone/>
            </a:pPr>
            <a:r>
              <a:rPr lang="en-US" sz="900" spc="22" kern="0" dirty="0">
                <a:solidFill>
                  <a:srgbClr val="5F635E"/>
                </a:solidFill>
                <a:latin typeface="Archivo" pitchFamily="34" charset="0"/>
                <a:ea typeface="Archivo" pitchFamily="34" charset="-122"/>
                <a:cs typeface="Archivo" pitchFamily="34" charset="-120"/>
              </a:rPr>
              <a:t>N1 y N2: propuestos por el equipo, pendientes de registrar. EJ-5 (CRM) cerrado. EJ-6 (Docker) es una oportunidad ya aprovechada. Fuente: registro de riesgos, 13-10.</a:t>
            </a:r>
            <a:endParaRPr lang="en-US" sz="900" dirty="0"/>
          </a:p>
        </p:txBody>
      </p:sp>
      <p:sp>
        <p:nvSpPr>
          <p:cNvPr id="75" name="Text 73"/>
          <p:cNvSpPr txBox="1"/>
          <p:nvPr/>
        </p:nvSpPr>
        <p:spPr>
          <a:xfrm>
            <a:off x="11342489" y="6343650"/>
            <a:ext cx="220861" cy="209550"/>
          </a:xfrm>
          <a:prstGeom prst="rect">
            <a:avLst/>
          </a:prstGeom>
          <a:noFill/>
          <a:ln/>
        </p:spPr>
        <p:txBody>
          <a:bodyPr wrap="square" lIns="0" tIns="0" rIns="0" bIns="0" rtlCol="0" anchor="t"/>
          <a:lstStyle/>
          <a:p>
            <a:pPr algn="l" indent="0" marL="0">
              <a:lnSpc>
                <a:spcPts val="1440"/>
              </a:lnSpc>
              <a:buNone/>
            </a:pPr>
            <a:r>
              <a:rPr lang="en-US" sz="1200" i="1" dirty="0">
                <a:solidFill>
                  <a:srgbClr val="5F635E"/>
                </a:solidFill>
                <a:latin typeface="Source Serif 4" pitchFamily="34" charset="0"/>
                <a:ea typeface="Source Serif 4" pitchFamily="34" charset="-122"/>
                <a:cs typeface="Source Serif 4"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CE8E1"/>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6F3EE"/>
          </a:solidFill>
          <a:ln/>
        </p:spPr>
      </p:sp>
      <p:sp>
        <p:nvSpPr>
          <p:cNvPr id="3" name="Text 1"/>
          <p:cNvSpPr txBox="1"/>
          <p:nvPr/>
        </p:nvSpPr>
        <p:spPr>
          <a:xfrm>
            <a:off x="685800" y="381000"/>
            <a:ext cx="4027140" cy="133350"/>
          </a:xfrm>
          <a:prstGeom prst="rect">
            <a:avLst/>
          </a:prstGeom>
          <a:noFill/>
          <a:ln/>
        </p:spPr>
        <p:txBody>
          <a:bodyPr wrap="square" lIns="0" tIns="0" rIns="0" bIns="0" rtlCol="0" anchor="t"/>
          <a:lstStyle/>
          <a:p>
            <a:pPr algn="l" indent="0" marL="0">
              <a:lnSpc>
                <a:spcPts val="1080"/>
              </a:lnSpc>
              <a:buNone/>
            </a:pPr>
            <a:r>
              <a:rPr lang="en-US" sz="900" b="1" spc="188" kern="0" dirty="0">
                <a:solidFill>
                  <a:srgbClr val="5F635E"/>
                </a:solidFill>
                <a:latin typeface="Archivo" pitchFamily="34" charset="0"/>
                <a:ea typeface="Archivo" pitchFamily="34" charset="-122"/>
                <a:cs typeface="Archivo" pitchFamily="34" charset="-120"/>
              </a:rPr>
              <a:t>SAML · COMITÉ SPONSOR — DECISIONES TOMADAS</a:t>
            </a:r>
            <a:endParaRPr lang="en-US" sz="900" dirty="0"/>
          </a:p>
        </p:txBody>
      </p:sp>
      <p:sp>
        <p:nvSpPr>
          <p:cNvPr id="4" name="Text 2"/>
          <p:cNvSpPr txBox="1"/>
          <p:nvPr/>
        </p:nvSpPr>
        <p:spPr>
          <a:xfrm>
            <a:off x="685800" y="666750"/>
            <a:ext cx="10877550" cy="383977"/>
          </a:xfrm>
          <a:prstGeom prst="rect">
            <a:avLst/>
          </a:prstGeom>
          <a:noFill/>
          <a:ln/>
        </p:spPr>
        <p:txBody>
          <a:bodyPr wrap="square" lIns="0" tIns="0" rIns="0" bIns="0" rtlCol="0" anchor="t"/>
          <a:lstStyle/>
          <a:p>
            <a:pPr algn="l" indent="0" marL="0">
              <a:lnSpc>
                <a:spcPts val="3020"/>
              </a:lnSpc>
              <a:buNone/>
            </a:pPr>
            <a:r>
              <a:rPr lang="en-US" sz="2700" b="1" spc="-38" kern="0" dirty="0">
                <a:solidFill>
                  <a:srgbClr val="1E2122"/>
                </a:solidFill>
                <a:latin typeface="Archivo" pitchFamily="34" charset="0"/>
                <a:ea typeface="Archivo" pitchFamily="34" charset="-122"/>
                <a:cs typeface="Archivo" pitchFamily="34" charset="-120"/>
              </a:rPr>
              <a:t>Cuatro decisiones de alcance ya simplificaron el sistema</a:t>
            </a:r>
            <a:endParaRPr lang="en-US" sz="2700" dirty="0"/>
          </a:p>
        </p:txBody>
      </p:sp>
      <p:sp>
        <p:nvSpPr>
          <p:cNvPr id="5" name="Shape 3"/>
          <p:cNvSpPr/>
          <p:nvPr/>
        </p:nvSpPr>
        <p:spPr>
          <a:xfrm>
            <a:off x="685800" y="3143250"/>
            <a:ext cx="10820400" cy="19050"/>
          </a:xfrm>
          <a:prstGeom prst="rect">
            <a:avLst/>
          </a:prstGeom>
          <a:solidFill>
            <a:srgbClr val="1E2122"/>
          </a:solidFill>
          <a:ln/>
        </p:spPr>
      </p:sp>
      <p:sp>
        <p:nvSpPr>
          <p:cNvPr id="6" name="Text 4"/>
          <p:cNvSpPr txBox="1"/>
          <p:nvPr/>
        </p:nvSpPr>
        <p:spPr>
          <a:xfrm>
            <a:off x="685800" y="2247900"/>
            <a:ext cx="2533650" cy="381000"/>
          </a:xfrm>
          <a:prstGeom prst="rect">
            <a:avLst/>
          </a:prstGeom>
          <a:noFill/>
          <a:ln/>
        </p:spPr>
        <p:txBody>
          <a:bodyPr wrap="square" lIns="0" tIns="0" rIns="0" bIns="0" rtlCol="0" anchor="t"/>
          <a:lstStyle/>
          <a:p>
            <a:pPr algn="l" indent="0" marL="0">
              <a:lnSpc>
                <a:spcPts val="3000"/>
              </a:lnSpc>
              <a:buNone/>
            </a:pPr>
            <a:r>
              <a:rPr lang="en-US" sz="3000" i="1" dirty="0">
                <a:solidFill>
                  <a:srgbClr val="1E2122"/>
                </a:solidFill>
                <a:latin typeface="Source Serif 4" pitchFamily="34" charset="0"/>
                <a:ea typeface="Source Serif 4" pitchFamily="34" charset="-122"/>
                <a:cs typeface="Source Serif 4" pitchFamily="34" charset="-120"/>
              </a:rPr>
              <a:t>28 ago</a:t>
            </a:r>
            <a:endParaRPr lang="en-US" sz="3000" dirty="0"/>
          </a:p>
        </p:txBody>
      </p:sp>
      <p:sp>
        <p:nvSpPr>
          <p:cNvPr id="7" name="Shape 5"/>
          <p:cNvSpPr/>
          <p:nvPr/>
        </p:nvSpPr>
        <p:spPr>
          <a:xfrm>
            <a:off x="685800" y="3057525"/>
            <a:ext cx="190500" cy="190500"/>
          </a:xfrm>
          <a:prstGeom prst="roundRect">
            <a:avLst>
              <a:gd name="adj" fmla="val 50000"/>
            </a:avLst>
          </a:prstGeom>
          <a:solidFill>
            <a:srgbClr val="E8A33D"/>
          </a:solidFill>
          <a:ln/>
        </p:spPr>
      </p:sp>
      <p:sp>
        <p:nvSpPr>
          <p:cNvPr id="8" name="Text 6"/>
          <p:cNvSpPr txBox="1"/>
          <p:nvPr/>
        </p:nvSpPr>
        <p:spPr>
          <a:xfrm>
            <a:off x="685800" y="3543300"/>
            <a:ext cx="2438400" cy="500063"/>
          </a:xfrm>
          <a:prstGeom prst="rect">
            <a:avLst/>
          </a:prstGeom>
          <a:noFill/>
          <a:ln/>
        </p:spPr>
        <p:txBody>
          <a:bodyPr wrap="square" lIns="0" tIns="0" rIns="0" bIns="0" rtlCol="0" anchor="t"/>
          <a:lstStyle/>
          <a:p>
            <a:pPr algn="l" indent="0" marL="0">
              <a:lnSpc>
                <a:spcPts val="1970"/>
              </a:lnSpc>
              <a:buNone/>
            </a:pPr>
            <a:r>
              <a:rPr lang="en-US" sz="1580" b="1" dirty="0">
                <a:solidFill>
                  <a:srgbClr val="1E2122"/>
                </a:solidFill>
                <a:latin typeface="Archivo" pitchFamily="34" charset="0"/>
                <a:ea typeface="Archivo" pitchFamily="34" charset="-122"/>
                <a:cs typeface="Archivo" pitchFamily="34" charset="-120"/>
              </a:rPr>
              <a:t>De revisar 4 portales a una sola API</a:t>
            </a:r>
            <a:endParaRPr lang="en-US" sz="1580" dirty="0"/>
          </a:p>
        </p:txBody>
      </p:sp>
      <p:sp>
        <p:nvSpPr>
          <p:cNvPr id="9" name="Text 7"/>
          <p:cNvSpPr txBox="1"/>
          <p:nvPr/>
        </p:nvSpPr>
        <p:spPr>
          <a:xfrm>
            <a:off x="685800" y="4248150"/>
            <a:ext cx="2438400" cy="662583"/>
          </a:xfrm>
          <a:prstGeom prst="rect">
            <a:avLst/>
          </a:prstGeom>
          <a:noFill/>
          <a:ln/>
        </p:spPr>
        <p:txBody>
          <a:bodyPr wrap="square" lIns="0" tIns="0" rIns="0" bIns="0" rtlCol="0" anchor="t"/>
          <a:lstStyle/>
          <a:p>
            <a:pPr algn="l" indent="0" marL="0">
              <a:lnSpc>
                <a:spcPts val="1740"/>
              </a:lnSpc>
              <a:buNone/>
            </a:pPr>
            <a:r>
              <a:rPr lang="en-US" sz="1200" dirty="0">
                <a:solidFill>
                  <a:srgbClr val="4A4E4B"/>
                </a:solidFill>
                <a:latin typeface="Archivo" pitchFamily="34" charset="0"/>
                <a:ea typeface="Archivo" pitchFamily="34" charset="-122"/>
                <a:cs typeface="Archivo" pitchFamily="34" charset="-120"/>
              </a:rPr>
              <a:t>Datos ordenados que no se rompen cuando una página web cambia.</a:t>
            </a:r>
            <a:endParaRPr lang="en-US" sz="1200" dirty="0"/>
          </a:p>
        </p:txBody>
      </p:sp>
      <p:sp>
        <p:nvSpPr>
          <p:cNvPr id="10" name="Text 8"/>
          <p:cNvSpPr txBox="1"/>
          <p:nvPr/>
        </p:nvSpPr>
        <p:spPr>
          <a:xfrm>
            <a:off x="3448050" y="2247900"/>
            <a:ext cx="2533650" cy="381000"/>
          </a:xfrm>
          <a:prstGeom prst="rect">
            <a:avLst/>
          </a:prstGeom>
          <a:noFill/>
          <a:ln/>
        </p:spPr>
        <p:txBody>
          <a:bodyPr wrap="square" lIns="0" tIns="0" rIns="0" bIns="0" rtlCol="0" anchor="t"/>
          <a:lstStyle/>
          <a:p>
            <a:pPr algn="l" indent="0" marL="0">
              <a:lnSpc>
                <a:spcPts val="3000"/>
              </a:lnSpc>
              <a:buNone/>
            </a:pPr>
            <a:r>
              <a:rPr lang="en-US" sz="3000" i="1" dirty="0">
                <a:solidFill>
                  <a:srgbClr val="1E2122"/>
                </a:solidFill>
                <a:latin typeface="Source Serif 4" pitchFamily="34" charset="0"/>
                <a:ea typeface="Source Serif 4" pitchFamily="34" charset="-122"/>
                <a:cs typeface="Source Serif 4" pitchFamily="34" charset="-120"/>
              </a:rPr>
              <a:t>27 sep</a:t>
            </a:r>
            <a:endParaRPr lang="en-US" sz="3000" dirty="0"/>
          </a:p>
        </p:txBody>
      </p:sp>
      <p:sp>
        <p:nvSpPr>
          <p:cNvPr id="11" name="Shape 9"/>
          <p:cNvSpPr/>
          <p:nvPr/>
        </p:nvSpPr>
        <p:spPr>
          <a:xfrm>
            <a:off x="3448050" y="3057525"/>
            <a:ext cx="190500" cy="190500"/>
          </a:xfrm>
          <a:prstGeom prst="roundRect">
            <a:avLst>
              <a:gd name="adj" fmla="val 50000"/>
            </a:avLst>
          </a:prstGeom>
          <a:solidFill>
            <a:srgbClr val="E8A33D"/>
          </a:solidFill>
          <a:ln/>
        </p:spPr>
      </p:sp>
      <p:sp>
        <p:nvSpPr>
          <p:cNvPr id="12" name="Text 10"/>
          <p:cNvSpPr txBox="1"/>
          <p:nvPr/>
        </p:nvSpPr>
        <p:spPr>
          <a:xfrm>
            <a:off x="3448050" y="3543300"/>
            <a:ext cx="2438400" cy="500063"/>
          </a:xfrm>
          <a:prstGeom prst="rect">
            <a:avLst/>
          </a:prstGeom>
          <a:noFill/>
          <a:ln/>
        </p:spPr>
        <p:txBody>
          <a:bodyPr wrap="square" lIns="0" tIns="0" rIns="0" bIns="0" rtlCol="0" anchor="t"/>
          <a:lstStyle/>
          <a:p>
            <a:pPr algn="l" indent="0" marL="0">
              <a:lnSpc>
                <a:spcPts val="1970"/>
              </a:lnSpc>
              <a:buNone/>
            </a:pPr>
            <a:r>
              <a:rPr lang="en-US" sz="1580" b="1" dirty="0">
                <a:solidFill>
                  <a:srgbClr val="1E2122"/>
                </a:solidFill>
                <a:latin typeface="Archivo" pitchFamily="34" charset="0"/>
                <a:ea typeface="Archivo" pitchFamily="34" charset="-122"/>
                <a:cs typeface="Archivo" pitchFamily="34" charset="-120"/>
              </a:rPr>
              <a:t>Criterios de interés acordados con el PO</a:t>
            </a:r>
            <a:endParaRPr lang="en-US" sz="1580" dirty="0"/>
          </a:p>
        </p:txBody>
      </p:sp>
      <p:sp>
        <p:nvSpPr>
          <p:cNvPr id="13" name="Text 11"/>
          <p:cNvSpPr txBox="1"/>
          <p:nvPr/>
        </p:nvSpPr>
        <p:spPr>
          <a:xfrm>
            <a:off x="3448050" y="4248150"/>
            <a:ext cx="2438400" cy="441722"/>
          </a:xfrm>
          <a:prstGeom prst="rect">
            <a:avLst/>
          </a:prstGeom>
          <a:noFill/>
          <a:ln/>
        </p:spPr>
        <p:txBody>
          <a:bodyPr wrap="square" lIns="0" tIns="0" rIns="0" bIns="0" rtlCol="0" anchor="t"/>
          <a:lstStyle/>
          <a:p>
            <a:pPr algn="l" indent="0" marL="0">
              <a:lnSpc>
                <a:spcPts val="1740"/>
              </a:lnSpc>
              <a:buNone/>
            </a:pPr>
            <a:r>
              <a:rPr lang="en-US" sz="1200" dirty="0">
                <a:solidFill>
                  <a:srgbClr val="4A4E4B"/>
                </a:solidFill>
                <a:latin typeface="Archivo" pitchFamily="34" charset="0"/>
                <a:ea typeface="Archivo" pitchFamily="34" charset="-122"/>
                <a:cs typeface="Archivo" pitchFamily="34" charset="-120"/>
              </a:rPr>
              <a:t>Solo llegan procesos adjudicados que le sirven a GRECO.</a:t>
            </a:r>
            <a:endParaRPr lang="en-US" sz="1200" dirty="0"/>
          </a:p>
        </p:txBody>
      </p:sp>
      <p:sp>
        <p:nvSpPr>
          <p:cNvPr id="14" name="Text 12"/>
          <p:cNvSpPr txBox="1"/>
          <p:nvPr/>
        </p:nvSpPr>
        <p:spPr>
          <a:xfrm>
            <a:off x="6210300" y="2247900"/>
            <a:ext cx="2533650" cy="381000"/>
          </a:xfrm>
          <a:prstGeom prst="rect">
            <a:avLst/>
          </a:prstGeom>
          <a:noFill/>
          <a:ln/>
        </p:spPr>
        <p:txBody>
          <a:bodyPr wrap="square" lIns="0" tIns="0" rIns="0" bIns="0" rtlCol="0" anchor="t"/>
          <a:lstStyle/>
          <a:p>
            <a:pPr algn="l" indent="0" marL="0">
              <a:lnSpc>
                <a:spcPts val="3000"/>
              </a:lnSpc>
              <a:buNone/>
            </a:pPr>
            <a:r>
              <a:rPr lang="en-US" sz="3000" i="1" dirty="0">
                <a:solidFill>
                  <a:srgbClr val="1E2122"/>
                </a:solidFill>
                <a:latin typeface="Source Serif 4" pitchFamily="34" charset="0"/>
                <a:ea typeface="Source Serif 4" pitchFamily="34" charset="-122"/>
                <a:cs typeface="Source Serif 4" pitchFamily="34" charset="-120"/>
              </a:rPr>
              <a:t>30 sep</a:t>
            </a:r>
            <a:endParaRPr lang="en-US" sz="3000" dirty="0"/>
          </a:p>
        </p:txBody>
      </p:sp>
      <p:sp>
        <p:nvSpPr>
          <p:cNvPr id="15" name="Shape 13"/>
          <p:cNvSpPr/>
          <p:nvPr/>
        </p:nvSpPr>
        <p:spPr>
          <a:xfrm>
            <a:off x="6210300" y="3057525"/>
            <a:ext cx="190500" cy="190500"/>
          </a:xfrm>
          <a:prstGeom prst="roundRect">
            <a:avLst>
              <a:gd name="adj" fmla="val 50000"/>
            </a:avLst>
          </a:prstGeom>
          <a:solidFill>
            <a:srgbClr val="E8A33D"/>
          </a:solidFill>
          <a:ln/>
        </p:spPr>
      </p:sp>
      <p:sp>
        <p:nvSpPr>
          <p:cNvPr id="16" name="Text 14"/>
          <p:cNvSpPr txBox="1"/>
          <p:nvPr/>
        </p:nvSpPr>
        <p:spPr>
          <a:xfrm>
            <a:off x="6210300" y="3543300"/>
            <a:ext cx="2438400" cy="500063"/>
          </a:xfrm>
          <a:prstGeom prst="rect">
            <a:avLst/>
          </a:prstGeom>
          <a:noFill/>
          <a:ln/>
        </p:spPr>
        <p:txBody>
          <a:bodyPr wrap="square" lIns="0" tIns="0" rIns="0" bIns="0" rtlCol="0" anchor="t"/>
          <a:lstStyle/>
          <a:p>
            <a:pPr algn="l" indent="0" marL="0">
              <a:lnSpc>
                <a:spcPts val="1970"/>
              </a:lnSpc>
              <a:buNone/>
            </a:pPr>
            <a:r>
              <a:rPr lang="en-US" sz="1580" b="1" dirty="0">
                <a:solidFill>
                  <a:srgbClr val="1E2122"/>
                </a:solidFill>
                <a:latin typeface="Archivo" pitchFamily="34" charset="0"/>
                <a:ea typeface="Archivo" pitchFamily="34" charset="-122"/>
                <a:cs typeface="Archivo" pitchFamily="34" charset="-120"/>
              </a:rPr>
              <a:t>Se descarta la integración con el CRM</a:t>
            </a:r>
            <a:endParaRPr lang="en-US" sz="1580" dirty="0"/>
          </a:p>
        </p:txBody>
      </p:sp>
      <p:sp>
        <p:nvSpPr>
          <p:cNvPr id="17" name="Text 15"/>
          <p:cNvSpPr txBox="1"/>
          <p:nvPr/>
        </p:nvSpPr>
        <p:spPr>
          <a:xfrm>
            <a:off x="6210300" y="4248150"/>
            <a:ext cx="2438400" cy="441722"/>
          </a:xfrm>
          <a:prstGeom prst="rect">
            <a:avLst/>
          </a:prstGeom>
          <a:noFill/>
          <a:ln/>
        </p:spPr>
        <p:txBody>
          <a:bodyPr wrap="square" lIns="0" tIns="0" rIns="0" bIns="0" rtlCol="0" anchor="t"/>
          <a:lstStyle/>
          <a:p>
            <a:pPr algn="l" indent="0" marL="0">
              <a:lnSpc>
                <a:spcPts val="1740"/>
              </a:lnSpc>
              <a:buNone/>
            </a:pPr>
            <a:r>
              <a:rPr lang="en-US" sz="1200" dirty="0">
                <a:solidFill>
                  <a:srgbClr val="4A4E4B"/>
                </a:solidFill>
                <a:latin typeface="Archivo" pitchFamily="34" charset="0"/>
                <a:ea typeface="Archivo" pitchFamily="34" charset="-122"/>
                <a:cs typeface="Archivo" pitchFamily="34" charset="-120"/>
              </a:rPr>
              <a:t>No hubo acceso a su API a tiempo. La información llega en Excel.</a:t>
            </a:r>
            <a:endParaRPr lang="en-US" sz="1200" dirty="0"/>
          </a:p>
        </p:txBody>
      </p:sp>
      <p:sp>
        <p:nvSpPr>
          <p:cNvPr id="18" name="Text 16"/>
          <p:cNvSpPr txBox="1"/>
          <p:nvPr/>
        </p:nvSpPr>
        <p:spPr>
          <a:xfrm>
            <a:off x="8972550" y="2247900"/>
            <a:ext cx="2533650" cy="381000"/>
          </a:xfrm>
          <a:prstGeom prst="rect">
            <a:avLst/>
          </a:prstGeom>
          <a:noFill/>
          <a:ln/>
        </p:spPr>
        <p:txBody>
          <a:bodyPr wrap="square" lIns="0" tIns="0" rIns="0" bIns="0" rtlCol="0" anchor="t"/>
          <a:lstStyle/>
          <a:p>
            <a:pPr algn="l" indent="0" marL="0">
              <a:lnSpc>
                <a:spcPts val="3000"/>
              </a:lnSpc>
              <a:buNone/>
            </a:pPr>
            <a:r>
              <a:rPr lang="en-US" sz="3000" i="1" dirty="0">
                <a:solidFill>
                  <a:srgbClr val="1E2122"/>
                </a:solidFill>
                <a:latin typeface="Source Serif 4" pitchFamily="34" charset="0"/>
                <a:ea typeface="Source Serif 4" pitchFamily="34" charset="-122"/>
                <a:cs typeface="Source Serif 4" pitchFamily="34" charset="-120"/>
              </a:rPr>
              <a:t>12 oct</a:t>
            </a:r>
            <a:endParaRPr lang="en-US" sz="3000" dirty="0"/>
          </a:p>
        </p:txBody>
      </p:sp>
      <p:sp>
        <p:nvSpPr>
          <p:cNvPr id="19" name="Shape 17"/>
          <p:cNvSpPr/>
          <p:nvPr/>
        </p:nvSpPr>
        <p:spPr>
          <a:xfrm>
            <a:off x="8972550" y="3057525"/>
            <a:ext cx="190500" cy="190500"/>
          </a:xfrm>
          <a:prstGeom prst="roundRect">
            <a:avLst>
              <a:gd name="adj" fmla="val 50000"/>
            </a:avLst>
          </a:prstGeom>
          <a:solidFill>
            <a:srgbClr val="E8A33D"/>
          </a:solidFill>
          <a:ln/>
        </p:spPr>
      </p:sp>
      <p:sp>
        <p:nvSpPr>
          <p:cNvPr id="20" name="Text 18"/>
          <p:cNvSpPr txBox="1"/>
          <p:nvPr/>
        </p:nvSpPr>
        <p:spPr>
          <a:xfrm>
            <a:off x="8972550" y="3543300"/>
            <a:ext cx="2438400" cy="500063"/>
          </a:xfrm>
          <a:prstGeom prst="rect">
            <a:avLst/>
          </a:prstGeom>
          <a:noFill/>
          <a:ln/>
        </p:spPr>
        <p:txBody>
          <a:bodyPr wrap="square" lIns="0" tIns="0" rIns="0" bIns="0" rtlCol="0" anchor="t"/>
          <a:lstStyle/>
          <a:p>
            <a:pPr algn="l" indent="0" marL="0">
              <a:lnSpc>
                <a:spcPts val="1970"/>
              </a:lnSpc>
              <a:buNone/>
            </a:pPr>
            <a:r>
              <a:rPr lang="en-US" sz="1580" b="1" dirty="0">
                <a:solidFill>
                  <a:srgbClr val="1E2122"/>
                </a:solidFill>
                <a:latin typeface="Archivo" pitchFamily="34" charset="0"/>
                <a:ea typeface="Archivo" pitchFamily="34" charset="-122"/>
                <a:cs typeface="Archivo" pitchFamily="34" charset="-120"/>
              </a:rPr>
              <a:t>Un Excel aparte, no sobre Obras V6</a:t>
            </a:r>
            <a:endParaRPr lang="en-US" sz="1580" dirty="0"/>
          </a:p>
        </p:txBody>
      </p:sp>
      <p:sp>
        <p:nvSpPr>
          <p:cNvPr id="21" name="Text 19"/>
          <p:cNvSpPr txBox="1"/>
          <p:nvPr/>
        </p:nvSpPr>
        <p:spPr>
          <a:xfrm>
            <a:off x="8972550" y="4248150"/>
            <a:ext cx="2438400" cy="441722"/>
          </a:xfrm>
          <a:prstGeom prst="rect">
            <a:avLst/>
          </a:prstGeom>
          <a:noFill/>
          <a:ln/>
        </p:spPr>
        <p:txBody>
          <a:bodyPr wrap="square" lIns="0" tIns="0" rIns="0" bIns="0" rtlCol="0" anchor="t"/>
          <a:lstStyle/>
          <a:p>
            <a:pPr algn="l" indent="0" marL="0">
              <a:lnSpc>
                <a:spcPts val="1740"/>
              </a:lnSpc>
              <a:buNone/>
            </a:pPr>
            <a:r>
              <a:rPr lang="en-US" sz="1200" dirty="0">
                <a:solidFill>
                  <a:srgbClr val="4A4E4B"/>
                </a:solidFill>
                <a:latin typeface="Archivo" pitchFamily="34" charset="0"/>
                <a:ea typeface="Archivo" pitchFamily="34" charset="-122"/>
                <a:cs typeface="Archivo" pitchFamily="34" charset="-120"/>
              </a:rPr>
              <a:t>Protege su archivo de control hasta validar las columnas con el original.</a:t>
            </a:r>
            <a:endParaRPr lang="en-US" sz="1200" dirty="0"/>
          </a:p>
        </p:txBody>
      </p:sp>
      <p:sp>
        <p:nvSpPr>
          <p:cNvPr id="22" name="Text 20"/>
          <p:cNvSpPr txBox="1"/>
          <p:nvPr/>
        </p:nvSpPr>
        <p:spPr>
          <a:xfrm>
            <a:off x="685800" y="5391150"/>
            <a:ext cx="8629650" cy="293340"/>
          </a:xfrm>
          <a:prstGeom prst="rect">
            <a:avLst/>
          </a:prstGeom>
          <a:noFill/>
          <a:ln/>
        </p:spPr>
        <p:txBody>
          <a:bodyPr wrap="square" lIns="0" tIns="0" rIns="0" bIns="0" rtlCol="0" anchor="t"/>
          <a:lstStyle/>
          <a:p>
            <a:pPr algn="l" indent="0" marL="0">
              <a:lnSpc>
                <a:spcPts val="2310"/>
              </a:lnSpc>
              <a:buNone/>
            </a:pPr>
            <a:r>
              <a:rPr lang="en-US" sz="1650" i="1" dirty="0">
                <a:solidFill>
                  <a:srgbClr val="5F635E"/>
                </a:solidFill>
                <a:latin typeface="Source Serif 4" pitchFamily="34" charset="0"/>
                <a:ea typeface="Source Serif 4" pitchFamily="34" charset="-122"/>
                <a:cs typeface="Source Serif 4" pitchFamily="34" charset="-120"/>
              </a:rPr>
              <a:t>Ninguna de las cuatro ha movido todavía la fecha de cierre. La siguiente sí puede hacerlo.</a:t>
            </a:r>
            <a:endParaRPr lang="en-US" sz="1650" dirty="0"/>
          </a:p>
        </p:txBody>
      </p:sp>
      <p:sp>
        <p:nvSpPr>
          <p:cNvPr id="23" name="Text 21"/>
          <p:cNvSpPr txBox="1"/>
          <p:nvPr/>
        </p:nvSpPr>
        <p:spPr>
          <a:xfrm>
            <a:off x="685800" y="6400800"/>
            <a:ext cx="5044678" cy="133350"/>
          </a:xfrm>
          <a:prstGeom prst="rect">
            <a:avLst/>
          </a:prstGeom>
          <a:noFill/>
          <a:ln/>
        </p:spPr>
        <p:txBody>
          <a:bodyPr wrap="square" lIns="0" tIns="0" rIns="0" bIns="0" rtlCol="0" anchor="t"/>
          <a:lstStyle/>
          <a:p>
            <a:pPr algn="l" indent="0" marL="0">
              <a:lnSpc>
                <a:spcPts val="1080"/>
              </a:lnSpc>
              <a:buNone/>
            </a:pPr>
            <a:r>
              <a:rPr lang="en-US" sz="900" spc="22" kern="0" dirty="0">
                <a:solidFill>
                  <a:srgbClr val="5F635E"/>
                </a:solidFill>
                <a:latin typeface="Archivo" pitchFamily="34" charset="0"/>
                <a:ea typeface="Archivo" pitchFamily="34" charset="-122"/>
                <a:cs typeface="Archivo" pitchFamily="34" charset="-120"/>
              </a:rPr>
              <a:t>Fuente: formulación (versiones 3.0 y 3.1), registro de riesgos (EJ-3, EJ-5) y repositorio SAML.</a:t>
            </a:r>
            <a:endParaRPr lang="en-US" sz="900" dirty="0"/>
          </a:p>
        </p:txBody>
      </p:sp>
      <p:sp>
        <p:nvSpPr>
          <p:cNvPr id="24" name="Text 22"/>
          <p:cNvSpPr txBox="1"/>
          <p:nvPr/>
        </p:nvSpPr>
        <p:spPr>
          <a:xfrm>
            <a:off x="11342489" y="6343650"/>
            <a:ext cx="220861" cy="209550"/>
          </a:xfrm>
          <a:prstGeom prst="rect">
            <a:avLst/>
          </a:prstGeom>
          <a:noFill/>
          <a:ln/>
        </p:spPr>
        <p:txBody>
          <a:bodyPr wrap="square" lIns="0" tIns="0" rIns="0" bIns="0" rtlCol="0" anchor="t"/>
          <a:lstStyle/>
          <a:p>
            <a:pPr algn="l" indent="0" marL="0">
              <a:lnSpc>
                <a:spcPts val="1440"/>
              </a:lnSpc>
              <a:buNone/>
            </a:pPr>
            <a:r>
              <a:rPr lang="en-US" sz="1200" i="1" dirty="0">
                <a:solidFill>
                  <a:srgbClr val="5F635E"/>
                </a:solidFill>
                <a:latin typeface="Source Serif 4" pitchFamily="34" charset="0"/>
                <a:ea typeface="Source Serif 4" pitchFamily="34" charset="-122"/>
                <a:cs typeface="Source Serif 4"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CE8E1"/>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E2122"/>
          </a:solidFill>
          <a:ln/>
        </p:spPr>
      </p:sp>
      <p:sp>
        <p:nvSpPr>
          <p:cNvPr id="3" name="Text 1"/>
          <p:cNvSpPr txBox="1"/>
          <p:nvPr/>
        </p:nvSpPr>
        <p:spPr>
          <a:xfrm>
            <a:off x="685800" y="381000"/>
            <a:ext cx="3594348" cy="133350"/>
          </a:xfrm>
          <a:prstGeom prst="rect">
            <a:avLst/>
          </a:prstGeom>
          <a:noFill/>
          <a:ln/>
        </p:spPr>
        <p:txBody>
          <a:bodyPr wrap="square" lIns="0" tIns="0" rIns="0" bIns="0" rtlCol="0" anchor="t"/>
          <a:lstStyle/>
          <a:p>
            <a:pPr algn="l" indent="0" marL="0">
              <a:lnSpc>
                <a:spcPts val="1080"/>
              </a:lnSpc>
              <a:buNone/>
            </a:pPr>
            <a:r>
              <a:rPr lang="en-US" sz="900" b="1" spc="188" kern="0" dirty="0">
                <a:solidFill>
                  <a:srgbClr val="A9ACA6"/>
                </a:solidFill>
                <a:latin typeface="Archivo" pitchFamily="34" charset="0"/>
                <a:ea typeface="Archivo" pitchFamily="34" charset="-122"/>
                <a:cs typeface="Archivo" pitchFamily="34" charset="-120"/>
              </a:rPr>
              <a:t>SAML · COMITÉ SPONSOR — LO QUE PEDIMOS</a:t>
            </a:r>
            <a:endParaRPr lang="en-US" sz="900" dirty="0"/>
          </a:p>
        </p:txBody>
      </p:sp>
      <p:sp>
        <p:nvSpPr>
          <p:cNvPr id="4" name="Text 2"/>
          <p:cNvSpPr txBox="1"/>
          <p:nvPr/>
        </p:nvSpPr>
        <p:spPr>
          <a:xfrm>
            <a:off x="685800" y="1428750"/>
            <a:ext cx="3105150" cy="133350"/>
          </a:xfrm>
          <a:prstGeom prst="rect">
            <a:avLst/>
          </a:prstGeom>
          <a:noFill/>
          <a:ln/>
        </p:spPr>
        <p:txBody>
          <a:bodyPr wrap="square" lIns="0" tIns="0" rIns="0" bIns="0" rtlCol="0" anchor="t"/>
          <a:lstStyle/>
          <a:p>
            <a:pPr algn="l" indent="0" marL="0">
              <a:lnSpc>
                <a:spcPts val="1170"/>
              </a:lnSpc>
              <a:buNone/>
            </a:pPr>
            <a:r>
              <a:rPr lang="en-US" sz="980" b="1" spc="188" kern="0" dirty="0">
                <a:solidFill>
                  <a:srgbClr val="E8A33D"/>
                </a:solidFill>
                <a:latin typeface="Archivo" pitchFamily="34" charset="0"/>
                <a:ea typeface="Archivo" pitchFamily="34" charset="-122"/>
                <a:cs typeface="Archivo" pitchFamily="34" charset="-120"/>
              </a:rPr>
              <a:t>ESTA SEMANA</a:t>
            </a:r>
            <a:endParaRPr lang="en-US" sz="980" dirty="0"/>
          </a:p>
        </p:txBody>
      </p:sp>
      <p:sp>
        <p:nvSpPr>
          <p:cNvPr id="5" name="Text 3"/>
          <p:cNvSpPr txBox="1"/>
          <p:nvPr/>
        </p:nvSpPr>
        <p:spPr>
          <a:xfrm>
            <a:off x="685800" y="1733550"/>
            <a:ext cx="3390900" cy="1759744"/>
          </a:xfrm>
          <a:prstGeom prst="rect">
            <a:avLst/>
          </a:prstGeom>
          <a:noFill/>
          <a:ln/>
        </p:spPr>
        <p:txBody>
          <a:bodyPr wrap="square" lIns="0" tIns="0" rIns="0" bIns="0" rtlCol="0" anchor="t"/>
          <a:lstStyle/>
          <a:p>
            <a:pPr algn="l" indent="0" marL="0">
              <a:lnSpc>
                <a:spcPts val="3470"/>
              </a:lnSpc>
              <a:buNone/>
            </a:pPr>
            <a:r>
              <a:rPr lang="en-US" sz="3150" b="1" spc="-90" kern="0" dirty="0">
                <a:solidFill>
                  <a:srgbClr val="ECE8E1"/>
                </a:solidFill>
                <a:latin typeface="Archivo" pitchFamily="34" charset="0"/>
                <a:ea typeface="Archivo" pitchFamily="34" charset="-122"/>
                <a:cs typeface="Archivo" pitchFamily="34" charset="-120"/>
              </a:rPr>
              <a:t>Para cerrar el 3 de noviembre necesitamos cuatro decisiones</a:t>
            </a:r>
            <a:endParaRPr lang="en-US" sz="3150" dirty="0"/>
          </a:p>
        </p:txBody>
      </p:sp>
      <p:sp>
        <p:nvSpPr>
          <p:cNvPr id="6" name="Text 4"/>
          <p:cNvSpPr txBox="1"/>
          <p:nvPr/>
        </p:nvSpPr>
        <p:spPr>
          <a:xfrm>
            <a:off x="685800" y="4476750"/>
            <a:ext cx="3105150" cy="559891"/>
          </a:xfrm>
          <a:prstGeom prst="rect">
            <a:avLst/>
          </a:prstGeom>
          <a:noFill/>
          <a:ln/>
        </p:spPr>
        <p:txBody>
          <a:bodyPr wrap="square" lIns="0" tIns="0" rIns="0" bIns="0" rtlCol="0" anchor="t"/>
          <a:lstStyle/>
          <a:p>
            <a:pPr algn="l" indent="0" marL="0">
              <a:lnSpc>
                <a:spcPts val="2200"/>
              </a:lnSpc>
              <a:buNone/>
            </a:pPr>
            <a:r>
              <a:rPr lang="en-US" sz="1580" i="1" dirty="0">
                <a:solidFill>
                  <a:srgbClr val="B9B5AD"/>
                </a:solidFill>
                <a:latin typeface="Source Serif 4" pitchFamily="34" charset="0"/>
                <a:ea typeface="Source Serif 4" pitchFamily="34" charset="-122"/>
                <a:cs typeface="Source Serif 4" pitchFamily="34" charset="-120"/>
              </a:rPr>
              <a:t>Cada una tiene una fecha límite y un costo si no se toma.</a:t>
            </a:r>
            <a:endParaRPr lang="en-US" sz="1580" dirty="0"/>
          </a:p>
        </p:txBody>
      </p:sp>
      <p:sp>
        <p:nvSpPr>
          <p:cNvPr id="7" name="Shape 5"/>
          <p:cNvSpPr/>
          <p:nvPr/>
        </p:nvSpPr>
        <p:spPr>
          <a:xfrm>
            <a:off x="4305300" y="1143000"/>
            <a:ext cx="9525" cy="4762500"/>
          </a:xfrm>
          <a:prstGeom prst="rect">
            <a:avLst/>
          </a:prstGeom>
          <a:solidFill>
            <a:srgbClr val="3D4243"/>
          </a:solidFill>
          <a:ln/>
        </p:spPr>
      </p:sp>
      <p:sp>
        <p:nvSpPr>
          <p:cNvPr id="8" name="Text 6"/>
          <p:cNvSpPr txBox="1"/>
          <p:nvPr/>
        </p:nvSpPr>
        <p:spPr>
          <a:xfrm>
            <a:off x="4686300" y="1200150"/>
            <a:ext cx="533400" cy="495300"/>
          </a:xfrm>
          <a:prstGeom prst="rect">
            <a:avLst/>
          </a:prstGeom>
          <a:noFill/>
          <a:ln/>
        </p:spPr>
        <p:txBody>
          <a:bodyPr wrap="square" lIns="0" tIns="0" rIns="0" bIns="0" rtlCol="0" anchor="t"/>
          <a:lstStyle/>
          <a:p>
            <a:pPr algn="l" indent="0" marL="0">
              <a:lnSpc>
                <a:spcPts val="3900"/>
              </a:lnSpc>
              <a:buNone/>
            </a:pPr>
            <a:r>
              <a:rPr lang="en-US" sz="3900" i="1" dirty="0">
                <a:solidFill>
                  <a:srgbClr val="E8A33D"/>
                </a:solidFill>
                <a:latin typeface="Source Serif 4" pitchFamily="34" charset="0"/>
                <a:ea typeface="Source Serif 4" pitchFamily="34" charset="-122"/>
                <a:cs typeface="Source Serif 4" pitchFamily="34" charset="-120"/>
              </a:rPr>
              <a:t>1</a:t>
            </a:r>
            <a:endParaRPr lang="en-US" sz="3900" dirty="0"/>
          </a:p>
        </p:txBody>
      </p:sp>
      <p:sp>
        <p:nvSpPr>
          <p:cNvPr id="9" name="Text 7"/>
          <p:cNvSpPr txBox="1"/>
          <p:nvPr/>
        </p:nvSpPr>
        <p:spPr>
          <a:xfrm>
            <a:off x="5295900" y="1257300"/>
            <a:ext cx="4533900" cy="250031"/>
          </a:xfrm>
          <a:prstGeom prst="rect">
            <a:avLst/>
          </a:prstGeom>
          <a:noFill/>
          <a:ln/>
        </p:spPr>
        <p:txBody>
          <a:bodyPr wrap="square" lIns="0" tIns="0" rIns="0" bIns="0" rtlCol="0" anchor="t"/>
          <a:lstStyle/>
          <a:p>
            <a:pPr algn="l" indent="0" marL="0">
              <a:lnSpc>
                <a:spcPts val="1970"/>
              </a:lnSpc>
              <a:buNone/>
            </a:pPr>
            <a:r>
              <a:rPr lang="en-US" sz="1580" b="1" dirty="0">
                <a:solidFill>
                  <a:srgbClr val="ECE8E1"/>
                </a:solidFill>
                <a:latin typeface="Archivo" pitchFamily="34" charset="0"/>
                <a:ea typeface="Archivo" pitchFamily="34" charset="-122"/>
                <a:cs typeface="Archivo" pitchFamily="34" charset="-120"/>
              </a:rPr>
              <a:t>Compartir el archivo Obras V6 original</a:t>
            </a:r>
            <a:endParaRPr lang="en-US" sz="1580" dirty="0"/>
          </a:p>
        </p:txBody>
      </p:sp>
      <p:sp>
        <p:nvSpPr>
          <p:cNvPr id="10" name="Text 8"/>
          <p:cNvSpPr txBox="1"/>
          <p:nvPr/>
        </p:nvSpPr>
        <p:spPr>
          <a:xfrm>
            <a:off x="5295900" y="1581150"/>
            <a:ext cx="4533900" cy="414338"/>
          </a:xfrm>
          <a:prstGeom prst="rect">
            <a:avLst/>
          </a:prstGeom>
          <a:noFill/>
          <a:ln/>
        </p:spPr>
        <p:txBody>
          <a:bodyPr wrap="square" lIns="0" tIns="0" rIns="0" bIns="0" rtlCol="0" anchor="t"/>
          <a:lstStyle/>
          <a:p>
            <a:pPr algn="l" indent="0" marL="0">
              <a:lnSpc>
                <a:spcPts val="1630"/>
              </a:lnSpc>
              <a:buNone/>
            </a:pPr>
            <a:r>
              <a:rPr lang="en-US" sz="1130" dirty="0">
                <a:solidFill>
                  <a:srgbClr val="A9ACA6"/>
                </a:solidFill>
                <a:latin typeface="Archivo" pitchFamily="34" charset="0"/>
                <a:ea typeface="Archivo" pitchFamily="34" charset="-122"/>
                <a:cs typeface="Archivo" pitchFamily="34" charset="-120"/>
              </a:rPr>
              <a:t>Si no: seguimos con columnas tomadas de una captura y no podemos anexar filas a su archivo.</a:t>
            </a:r>
            <a:endParaRPr lang="en-US" sz="1130" dirty="0"/>
          </a:p>
        </p:txBody>
      </p:sp>
      <p:sp>
        <p:nvSpPr>
          <p:cNvPr id="11" name="Shape 9"/>
          <p:cNvSpPr/>
          <p:nvPr/>
        </p:nvSpPr>
        <p:spPr>
          <a:xfrm>
            <a:off x="10153650" y="1295400"/>
            <a:ext cx="1352550" cy="266700"/>
          </a:xfrm>
          <a:prstGeom prst="roundRect">
            <a:avLst>
              <a:gd name="adj" fmla="val 50000"/>
            </a:avLst>
          </a:prstGeom>
          <a:ln w="9525">
            <a:solidFill>
              <a:srgbClr val="E8A33D"/>
            </a:solidFill>
            <a:prstDash val="solid"/>
          </a:ln>
        </p:spPr>
      </p:sp>
      <p:sp>
        <p:nvSpPr>
          <p:cNvPr id="12" name="Text 10"/>
          <p:cNvSpPr txBox="1"/>
          <p:nvPr/>
        </p:nvSpPr>
        <p:spPr>
          <a:xfrm>
            <a:off x="10153650" y="1295400"/>
            <a:ext cx="1409700" cy="266700"/>
          </a:xfrm>
          <a:prstGeom prst="rect">
            <a:avLst/>
          </a:prstGeom>
          <a:noFill/>
          <a:ln/>
        </p:spPr>
        <p:txBody>
          <a:bodyPr wrap="square" lIns="95250" tIns="57150" rIns="95250" bIns="57150" rtlCol="0" anchor="t"/>
          <a:lstStyle/>
          <a:p>
            <a:pPr algn="ctr" indent="0" marL="0">
              <a:lnSpc>
                <a:spcPts val="1170"/>
              </a:lnSpc>
              <a:buNone/>
            </a:pPr>
            <a:r>
              <a:rPr lang="en-US" sz="980" b="1" dirty="0">
                <a:solidFill>
                  <a:srgbClr val="E8A33D"/>
                </a:solidFill>
                <a:latin typeface="Archivo" pitchFamily="34" charset="0"/>
                <a:ea typeface="Archivo" pitchFamily="34" charset="-122"/>
                <a:cs typeface="Archivo" pitchFamily="34" charset="-120"/>
              </a:rPr>
              <a:t>Antes del 15-10</a:t>
            </a:r>
            <a:endParaRPr lang="en-US" sz="980" dirty="0"/>
          </a:p>
        </p:txBody>
      </p:sp>
      <p:sp>
        <p:nvSpPr>
          <p:cNvPr id="13" name="Shape 11"/>
          <p:cNvSpPr/>
          <p:nvPr/>
        </p:nvSpPr>
        <p:spPr>
          <a:xfrm>
            <a:off x="4686300" y="2228850"/>
            <a:ext cx="6819900" cy="9525"/>
          </a:xfrm>
          <a:prstGeom prst="rect">
            <a:avLst/>
          </a:prstGeom>
          <a:solidFill>
            <a:srgbClr val="3D4243"/>
          </a:solidFill>
          <a:ln/>
        </p:spPr>
      </p:sp>
      <p:sp>
        <p:nvSpPr>
          <p:cNvPr id="14" name="Text 12"/>
          <p:cNvSpPr txBox="1"/>
          <p:nvPr/>
        </p:nvSpPr>
        <p:spPr>
          <a:xfrm>
            <a:off x="4686300" y="2400300"/>
            <a:ext cx="533400" cy="495300"/>
          </a:xfrm>
          <a:prstGeom prst="rect">
            <a:avLst/>
          </a:prstGeom>
          <a:noFill/>
          <a:ln/>
        </p:spPr>
        <p:txBody>
          <a:bodyPr wrap="square" lIns="0" tIns="0" rIns="0" bIns="0" rtlCol="0" anchor="t"/>
          <a:lstStyle/>
          <a:p>
            <a:pPr algn="l" indent="0" marL="0">
              <a:lnSpc>
                <a:spcPts val="3900"/>
              </a:lnSpc>
              <a:buNone/>
            </a:pPr>
            <a:r>
              <a:rPr lang="en-US" sz="3900" i="1" dirty="0">
                <a:solidFill>
                  <a:srgbClr val="E8A33D"/>
                </a:solidFill>
                <a:latin typeface="Source Serif 4" pitchFamily="34" charset="0"/>
                <a:ea typeface="Source Serif 4" pitchFamily="34" charset="-122"/>
                <a:cs typeface="Source Serif 4" pitchFamily="34" charset="-120"/>
              </a:rPr>
              <a:t>2</a:t>
            </a:r>
            <a:endParaRPr lang="en-US" sz="3900" dirty="0"/>
          </a:p>
        </p:txBody>
      </p:sp>
      <p:sp>
        <p:nvSpPr>
          <p:cNvPr id="15" name="Text 13"/>
          <p:cNvSpPr txBox="1"/>
          <p:nvPr/>
        </p:nvSpPr>
        <p:spPr>
          <a:xfrm>
            <a:off x="5295900" y="2457450"/>
            <a:ext cx="4533900" cy="250031"/>
          </a:xfrm>
          <a:prstGeom prst="rect">
            <a:avLst/>
          </a:prstGeom>
          <a:noFill/>
          <a:ln/>
        </p:spPr>
        <p:txBody>
          <a:bodyPr wrap="square" lIns="0" tIns="0" rIns="0" bIns="0" rtlCol="0" anchor="t"/>
          <a:lstStyle/>
          <a:p>
            <a:pPr algn="l" indent="0" marL="0">
              <a:lnSpc>
                <a:spcPts val="1970"/>
              </a:lnSpc>
              <a:buNone/>
            </a:pPr>
            <a:r>
              <a:rPr lang="en-US" sz="1580" b="1" dirty="0">
                <a:solidFill>
                  <a:srgbClr val="ECE8E1"/>
                </a:solidFill>
                <a:latin typeface="Archivo" pitchFamily="34" charset="0"/>
                <a:ea typeface="Archivo" pitchFamily="34" charset="-122"/>
                <a:cs typeface="Archivo" pitchFamily="34" charset="-120"/>
              </a:rPr>
              <a:t>Definir quién completa localidad, NIT y fecha</a:t>
            </a:r>
            <a:endParaRPr lang="en-US" sz="1580" dirty="0"/>
          </a:p>
        </p:txBody>
      </p:sp>
      <p:sp>
        <p:nvSpPr>
          <p:cNvPr id="16" name="Text 14"/>
          <p:cNvSpPr txBox="1"/>
          <p:nvPr/>
        </p:nvSpPr>
        <p:spPr>
          <a:xfrm>
            <a:off x="5295900" y="2781300"/>
            <a:ext cx="4533900" cy="414338"/>
          </a:xfrm>
          <a:prstGeom prst="rect">
            <a:avLst/>
          </a:prstGeom>
          <a:noFill/>
          <a:ln/>
        </p:spPr>
        <p:txBody>
          <a:bodyPr wrap="square" lIns="0" tIns="0" rIns="0" bIns="0" rtlCol="0" anchor="t"/>
          <a:lstStyle/>
          <a:p>
            <a:pPr algn="l" indent="0" marL="0">
              <a:lnSpc>
                <a:spcPts val="1630"/>
              </a:lnSpc>
              <a:buNone/>
            </a:pPr>
            <a:r>
              <a:rPr lang="en-US" sz="1130" dirty="0">
                <a:solidFill>
                  <a:srgbClr val="A9ACA6"/>
                </a:solidFill>
                <a:latin typeface="Archivo" pitchFamily="34" charset="0"/>
                <a:ea typeface="Archivo" pitchFamily="34" charset="-122"/>
                <a:cs typeface="Archivo" pitchFamily="34" charset="-120"/>
              </a:rPr>
              <a:t>Recomendamos que el asesor las complete durante el piloto. Si no: la asignación por zona sigue manual.</a:t>
            </a:r>
            <a:endParaRPr lang="en-US" sz="1130" dirty="0"/>
          </a:p>
        </p:txBody>
      </p:sp>
      <p:sp>
        <p:nvSpPr>
          <p:cNvPr id="17" name="Shape 15"/>
          <p:cNvSpPr/>
          <p:nvPr/>
        </p:nvSpPr>
        <p:spPr>
          <a:xfrm>
            <a:off x="10153650" y="2495550"/>
            <a:ext cx="1352550" cy="266700"/>
          </a:xfrm>
          <a:prstGeom prst="roundRect">
            <a:avLst>
              <a:gd name="adj" fmla="val 50000"/>
            </a:avLst>
          </a:prstGeom>
          <a:ln w="9525">
            <a:solidFill>
              <a:srgbClr val="E8A33D"/>
            </a:solidFill>
            <a:prstDash val="solid"/>
          </a:ln>
        </p:spPr>
      </p:sp>
      <p:sp>
        <p:nvSpPr>
          <p:cNvPr id="18" name="Text 16"/>
          <p:cNvSpPr txBox="1"/>
          <p:nvPr/>
        </p:nvSpPr>
        <p:spPr>
          <a:xfrm>
            <a:off x="10153650" y="2495550"/>
            <a:ext cx="1409700" cy="266700"/>
          </a:xfrm>
          <a:prstGeom prst="rect">
            <a:avLst/>
          </a:prstGeom>
          <a:noFill/>
          <a:ln/>
        </p:spPr>
        <p:txBody>
          <a:bodyPr wrap="square" lIns="95250" tIns="57150" rIns="95250" bIns="57150" rtlCol="0" anchor="t"/>
          <a:lstStyle/>
          <a:p>
            <a:pPr algn="ctr" indent="0" marL="0">
              <a:lnSpc>
                <a:spcPts val="1170"/>
              </a:lnSpc>
              <a:buNone/>
            </a:pPr>
            <a:r>
              <a:rPr lang="en-US" sz="980" b="1" dirty="0">
                <a:solidFill>
                  <a:srgbClr val="E8A33D"/>
                </a:solidFill>
                <a:latin typeface="Archivo" pitchFamily="34" charset="0"/>
                <a:ea typeface="Archivo" pitchFamily="34" charset="-122"/>
                <a:cs typeface="Archivo" pitchFamily="34" charset="-120"/>
              </a:rPr>
              <a:t>Antes del 15-10</a:t>
            </a:r>
            <a:endParaRPr lang="en-US" sz="980" dirty="0"/>
          </a:p>
        </p:txBody>
      </p:sp>
      <p:sp>
        <p:nvSpPr>
          <p:cNvPr id="19" name="Shape 17"/>
          <p:cNvSpPr/>
          <p:nvPr/>
        </p:nvSpPr>
        <p:spPr>
          <a:xfrm>
            <a:off x="4686300" y="3429000"/>
            <a:ext cx="6819900" cy="9525"/>
          </a:xfrm>
          <a:prstGeom prst="rect">
            <a:avLst/>
          </a:prstGeom>
          <a:solidFill>
            <a:srgbClr val="3D4243"/>
          </a:solidFill>
          <a:ln/>
        </p:spPr>
      </p:sp>
      <p:sp>
        <p:nvSpPr>
          <p:cNvPr id="20" name="Text 18"/>
          <p:cNvSpPr txBox="1"/>
          <p:nvPr/>
        </p:nvSpPr>
        <p:spPr>
          <a:xfrm>
            <a:off x="4686300" y="3600450"/>
            <a:ext cx="533400" cy="495300"/>
          </a:xfrm>
          <a:prstGeom prst="rect">
            <a:avLst/>
          </a:prstGeom>
          <a:noFill/>
          <a:ln/>
        </p:spPr>
        <p:txBody>
          <a:bodyPr wrap="square" lIns="0" tIns="0" rIns="0" bIns="0" rtlCol="0" anchor="t"/>
          <a:lstStyle/>
          <a:p>
            <a:pPr algn="l" indent="0" marL="0">
              <a:lnSpc>
                <a:spcPts val="3900"/>
              </a:lnSpc>
              <a:buNone/>
            </a:pPr>
            <a:r>
              <a:rPr lang="en-US" sz="3900" i="1" dirty="0">
                <a:solidFill>
                  <a:srgbClr val="E8A33D"/>
                </a:solidFill>
                <a:latin typeface="Source Serif 4" pitchFamily="34" charset="0"/>
                <a:ea typeface="Source Serif 4" pitchFamily="34" charset="-122"/>
                <a:cs typeface="Source Serif 4" pitchFamily="34" charset="-120"/>
              </a:rPr>
              <a:t>3</a:t>
            </a:r>
            <a:endParaRPr lang="en-US" sz="3900" dirty="0"/>
          </a:p>
        </p:txBody>
      </p:sp>
      <p:sp>
        <p:nvSpPr>
          <p:cNvPr id="21" name="Text 19"/>
          <p:cNvSpPr txBox="1"/>
          <p:nvPr/>
        </p:nvSpPr>
        <p:spPr>
          <a:xfrm>
            <a:off x="5295900" y="3657600"/>
            <a:ext cx="4533900" cy="500063"/>
          </a:xfrm>
          <a:prstGeom prst="rect">
            <a:avLst/>
          </a:prstGeom>
          <a:noFill/>
          <a:ln/>
        </p:spPr>
        <p:txBody>
          <a:bodyPr wrap="square" lIns="0" tIns="0" rIns="0" bIns="0" rtlCol="0" anchor="t"/>
          <a:lstStyle/>
          <a:p>
            <a:pPr algn="l" indent="0" marL="0">
              <a:lnSpc>
                <a:spcPts val="1970"/>
              </a:lnSpc>
              <a:buNone/>
            </a:pPr>
            <a:r>
              <a:rPr lang="en-US" sz="1580" b="1" dirty="0">
                <a:solidFill>
                  <a:srgbClr val="ECE8E1"/>
                </a:solidFill>
                <a:latin typeface="Archivo" pitchFamily="34" charset="0"/>
                <a:ea typeface="Archivo" pitchFamily="34" charset="-122"/>
                <a:cs typeface="Archivo" pitchFamily="34" charset="-120"/>
              </a:rPr>
              <a:t>Aprobar el reajuste: alertas y ejecución diaria primero, Power BI después</a:t>
            </a:r>
            <a:endParaRPr lang="en-US" sz="1580" dirty="0"/>
          </a:p>
        </p:txBody>
      </p:sp>
      <p:sp>
        <p:nvSpPr>
          <p:cNvPr id="22" name="Text 20"/>
          <p:cNvSpPr txBox="1"/>
          <p:nvPr/>
        </p:nvSpPr>
        <p:spPr>
          <a:xfrm>
            <a:off x="5295900" y="4229100"/>
            <a:ext cx="4533900" cy="414338"/>
          </a:xfrm>
          <a:prstGeom prst="rect">
            <a:avLst/>
          </a:prstGeom>
          <a:noFill/>
          <a:ln/>
        </p:spPr>
        <p:txBody>
          <a:bodyPr wrap="square" lIns="0" tIns="0" rIns="0" bIns="0" rtlCol="0" anchor="t"/>
          <a:lstStyle/>
          <a:p>
            <a:pPr algn="l" indent="0" marL="0">
              <a:lnSpc>
                <a:spcPts val="1630"/>
              </a:lnSpc>
              <a:buNone/>
            </a:pPr>
            <a:r>
              <a:rPr lang="en-US" sz="1130" dirty="0">
                <a:solidFill>
                  <a:srgbClr val="A9ACA6"/>
                </a:solidFill>
                <a:latin typeface="Archivo" pitchFamily="34" charset="0"/>
                <a:ea typeface="Archivo" pitchFamily="34" charset="-122"/>
                <a:cs typeface="Archivo" pitchFamily="34" charset="-120"/>
              </a:rPr>
              <a:t>Piloto del 20 al 27-10 y cierre el 03-11, dentro de la reserva. Si no: el piloto no alcanza.</a:t>
            </a:r>
            <a:endParaRPr lang="en-US" sz="1130" dirty="0"/>
          </a:p>
        </p:txBody>
      </p:sp>
      <p:sp>
        <p:nvSpPr>
          <p:cNvPr id="23" name="Shape 21"/>
          <p:cNvSpPr/>
          <p:nvPr/>
        </p:nvSpPr>
        <p:spPr>
          <a:xfrm>
            <a:off x="10153650" y="3695700"/>
            <a:ext cx="1352550" cy="247650"/>
          </a:xfrm>
          <a:prstGeom prst="roundRect">
            <a:avLst>
              <a:gd name="adj" fmla="val 50000"/>
            </a:avLst>
          </a:prstGeom>
          <a:solidFill>
            <a:srgbClr val="E8A33D"/>
          </a:solidFill>
          <a:ln/>
        </p:spPr>
      </p:sp>
      <p:sp>
        <p:nvSpPr>
          <p:cNvPr id="24" name="Text 22"/>
          <p:cNvSpPr txBox="1"/>
          <p:nvPr/>
        </p:nvSpPr>
        <p:spPr>
          <a:xfrm>
            <a:off x="10153650" y="3695700"/>
            <a:ext cx="1409700" cy="247650"/>
          </a:xfrm>
          <a:prstGeom prst="rect">
            <a:avLst/>
          </a:prstGeom>
          <a:noFill/>
          <a:ln/>
        </p:spPr>
        <p:txBody>
          <a:bodyPr wrap="square" lIns="95250" tIns="57150" rIns="95250" bIns="57150" rtlCol="0" anchor="t"/>
          <a:lstStyle/>
          <a:p>
            <a:pPr algn="ctr" indent="0" marL="0">
              <a:lnSpc>
                <a:spcPts val="1170"/>
              </a:lnSpc>
              <a:buNone/>
            </a:pPr>
            <a:r>
              <a:rPr lang="en-US" sz="980" b="1" dirty="0">
                <a:solidFill>
                  <a:srgbClr val="1E2122"/>
                </a:solidFill>
                <a:latin typeface="Archivo" pitchFamily="34" charset="0"/>
                <a:ea typeface="Archivo" pitchFamily="34" charset="-122"/>
                <a:cs typeface="Archivo" pitchFamily="34" charset="-120"/>
              </a:rPr>
              <a:t>Hoy</a:t>
            </a:r>
            <a:endParaRPr lang="en-US" sz="980" dirty="0"/>
          </a:p>
        </p:txBody>
      </p:sp>
      <p:sp>
        <p:nvSpPr>
          <p:cNvPr id="25" name="Shape 23"/>
          <p:cNvSpPr/>
          <p:nvPr/>
        </p:nvSpPr>
        <p:spPr>
          <a:xfrm>
            <a:off x="4686300" y="4838700"/>
            <a:ext cx="6819900" cy="9525"/>
          </a:xfrm>
          <a:prstGeom prst="rect">
            <a:avLst/>
          </a:prstGeom>
          <a:solidFill>
            <a:srgbClr val="3D4243"/>
          </a:solidFill>
          <a:ln/>
        </p:spPr>
      </p:sp>
      <p:sp>
        <p:nvSpPr>
          <p:cNvPr id="26" name="Text 24"/>
          <p:cNvSpPr txBox="1"/>
          <p:nvPr/>
        </p:nvSpPr>
        <p:spPr>
          <a:xfrm>
            <a:off x="4686300" y="5010150"/>
            <a:ext cx="533400" cy="495300"/>
          </a:xfrm>
          <a:prstGeom prst="rect">
            <a:avLst/>
          </a:prstGeom>
          <a:noFill/>
          <a:ln/>
        </p:spPr>
        <p:txBody>
          <a:bodyPr wrap="square" lIns="0" tIns="0" rIns="0" bIns="0" rtlCol="0" anchor="t"/>
          <a:lstStyle/>
          <a:p>
            <a:pPr algn="l" indent="0" marL="0">
              <a:lnSpc>
                <a:spcPts val="3900"/>
              </a:lnSpc>
              <a:buNone/>
            </a:pPr>
            <a:r>
              <a:rPr lang="en-US" sz="3900" i="1" dirty="0">
                <a:solidFill>
                  <a:srgbClr val="E8A33D"/>
                </a:solidFill>
                <a:latin typeface="Source Serif 4" pitchFamily="34" charset="0"/>
                <a:ea typeface="Source Serif 4" pitchFamily="34" charset="-122"/>
                <a:cs typeface="Source Serif 4" pitchFamily="34" charset="-120"/>
              </a:rPr>
              <a:t>4</a:t>
            </a:r>
            <a:endParaRPr lang="en-US" sz="3900" dirty="0"/>
          </a:p>
        </p:txBody>
      </p:sp>
      <p:sp>
        <p:nvSpPr>
          <p:cNvPr id="27" name="Text 25"/>
          <p:cNvSpPr txBox="1"/>
          <p:nvPr/>
        </p:nvSpPr>
        <p:spPr>
          <a:xfrm>
            <a:off x="5295900" y="5067300"/>
            <a:ext cx="4533900" cy="500063"/>
          </a:xfrm>
          <a:prstGeom prst="rect">
            <a:avLst/>
          </a:prstGeom>
          <a:noFill/>
          <a:ln/>
        </p:spPr>
        <p:txBody>
          <a:bodyPr wrap="square" lIns="0" tIns="0" rIns="0" bIns="0" rtlCol="0" anchor="t"/>
          <a:lstStyle/>
          <a:p>
            <a:pPr algn="l" indent="0" marL="0">
              <a:lnSpc>
                <a:spcPts val="1970"/>
              </a:lnSpc>
              <a:buNone/>
            </a:pPr>
            <a:r>
              <a:rPr lang="en-US" sz="1580" b="1" dirty="0">
                <a:solidFill>
                  <a:srgbClr val="ECE8E1"/>
                </a:solidFill>
                <a:latin typeface="Archivo" pitchFamily="34" charset="0"/>
                <a:ea typeface="Archivo" pitchFamily="34" charset="-122"/>
                <a:cs typeface="Archivo" pitchFamily="34" charset="-120"/>
              </a:rPr>
              <a:t>Designar responsable de operación y fecha de capacitación</a:t>
            </a:r>
            <a:endParaRPr lang="en-US" sz="1580" dirty="0"/>
          </a:p>
        </p:txBody>
      </p:sp>
      <p:sp>
        <p:nvSpPr>
          <p:cNvPr id="28" name="Text 26"/>
          <p:cNvSpPr txBox="1"/>
          <p:nvPr/>
        </p:nvSpPr>
        <p:spPr>
          <a:xfrm>
            <a:off x="5295900" y="5638800"/>
            <a:ext cx="4533900" cy="207169"/>
          </a:xfrm>
          <a:prstGeom prst="rect">
            <a:avLst/>
          </a:prstGeom>
          <a:noFill/>
          <a:ln/>
        </p:spPr>
        <p:txBody>
          <a:bodyPr wrap="square" lIns="0" tIns="0" rIns="0" bIns="0" rtlCol="0" anchor="t"/>
          <a:lstStyle/>
          <a:p>
            <a:pPr algn="l" indent="0" marL="0">
              <a:lnSpc>
                <a:spcPts val="1630"/>
              </a:lnSpc>
              <a:buNone/>
            </a:pPr>
            <a:r>
              <a:rPr lang="en-US" sz="1130" dirty="0">
                <a:solidFill>
                  <a:srgbClr val="A9ACA6"/>
                </a:solidFill>
                <a:latin typeface="Archivo" pitchFamily="34" charset="0"/>
                <a:ea typeface="Archivo" pitchFamily="34" charset="-122"/>
                <a:cs typeface="Archivo" pitchFamily="34" charset="-120"/>
              </a:rPr>
              <a:t>Si no: no hay a quién transferir la solución al cierre.</a:t>
            </a:r>
            <a:endParaRPr lang="en-US" sz="1130" dirty="0"/>
          </a:p>
        </p:txBody>
      </p:sp>
      <p:sp>
        <p:nvSpPr>
          <p:cNvPr id="29" name="Shape 27"/>
          <p:cNvSpPr/>
          <p:nvPr/>
        </p:nvSpPr>
        <p:spPr>
          <a:xfrm>
            <a:off x="10153650" y="5105400"/>
            <a:ext cx="1352550" cy="266700"/>
          </a:xfrm>
          <a:prstGeom prst="roundRect">
            <a:avLst>
              <a:gd name="adj" fmla="val 50000"/>
            </a:avLst>
          </a:prstGeom>
          <a:ln w="9525">
            <a:solidFill>
              <a:srgbClr val="E8A33D"/>
            </a:solidFill>
            <a:prstDash val="solid"/>
          </a:ln>
        </p:spPr>
      </p:sp>
      <p:sp>
        <p:nvSpPr>
          <p:cNvPr id="30" name="Text 28"/>
          <p:cNvSpPr txBox="1"/>
          <p:nvPr/>
        </p:nvSpPr>
        <p:spPr>
          <a:xfrm>
            <a:off x="10153650" y="5105400"/>
            <a:ext cx="1409700" cy="266700"/>
          </a:xfrm>
          <a:prstGeom prst="rect">
            <a:avLst/>
          </a:prstGeom>
          <a:noFill/>
          <a:ln/>
        </p:spPr>
        <p:txBody>
          <a:bodyPr wrap="square" lIns="95250" tIns="57150" rIns="95250" bIns="57150" rtlCol="0" anchor="t"/>
          <a:lstStyle/>
          <a:p>
            <a:pPr algn="ctr" indent="0" marL="0">
              <a:lnSpc>
                <a:spcPts val="1170"/>
              </a:lnSpc>
              <a:buNone/>
            </a:pPr>
            <a:r>
              <a:rPr lang="en-US" sz="980" b="1" dirty="0">
                <a:solidFill>
                  <a:srgbClr val="E8A33D"/>
                </a:solidFill>
                <a:latin typeface="Archivo" pitchFamily="34" charset="0"/>
                <a:ea typeface="Archivo" pitchFamily="34" charset="-122"/>
                <a:cs typeface="Archivo" pitchFamily="34" charset="-120"/>
              </a:rPr>
              <a:t>Antes del 16-10</a:t>
            </a:r>
            <a:endParaRPr lang="en-US" sz="980" dirty="0"/>
          </a:p>
        </p:txBody>
      </p:sp>
      <p:sp>
        <p:nvSpPr>
          <p:cNvPr id="31" name="Text 29"/>
          <p:cNvSpPr txBox="1"/>
          <p:nvPr/>
        </p:nvSpPr>
        <p:spPr>
          <a:xfrm>
            <a:off x="11342489" y="6343650"/>
            <a:ext cx="220861" cy="209550"/>
          </a:xfrm>
          <a:prstGeom prst="rect">
            <a:avLst/>
          </a:prstGeom>
          <a:noFill/>
          <a:ln/>
        </p:spPr>
        <p:txBody>
          <a:bodyPr wrap="square" lIns="0" tIns="0" rIns="0" bIns="0" rtlCol="0" anchor="t"/>
          <a:lstStyle/>
          <a:p>
            <a:pPr algn="l" indent="0" marL="0">
              <a:lnSpc>
                <a:spcPts val="1440"/>
              </a:lnSpc>
              <a:buNone/>
            </a:pPr>
            <a:r>
              <a:rPr lang="en-US" sz="1200" i="1" dirty="0">
                <a:solidFill>
                  <a:srgbClr val="A9ACA6"/>
                </a:solidFill>
                <a:latin typeface="Source Serif 4" pitchFamily="34" charset="0"/>
                <a:ea typeface="Source Serif 4" pitchFamily="34" charset="-122"/>
                <a:cs typeface="Source Serif 4"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CE8E1"/>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E2122"/>
          </a:solidFill>
          <a:ln/>
        </p:spPr>
      </p:sp>
      <p:pic>
        <p:nvPicPr>
          <p:cNvPr id="3" name="Image 0" descr="preencoded.png">    </p:cNvPr>
          <p:cNvPicPr>
            <a:picLocks noChangeAspect="1"/>
          </p:cNvPicPr>
          <p:nvPr/>
        </p:nvPicPr>
        <p:blipFill>
          <a:blip r:embed="rId1"/>
          <a:srcRect l="0" r="0" t="0" b="0"/>
          <a:stretch/>
        </p:blipFill>
        <p:spPr>
          <a:xfrm>
            <a:off x="0" y="0"/>
            <a:ext cx="5334000" cy="6858000"/>
          </a:xfrm>
          <a:prstGeom prst="rect">
            <a:avLst/>
          </a:prstGeom>
        </p:spPr>
      </p:pic>
      <p:sp>
        <p:nvSpPr>
          <p:cNvPr id="4" name="Text 1"/>
          <p:cNvSpPr txBox="1"/>
          <p:nvPr/>
        </p:nvSpPr>
        <p:spPr>
          <a:xfrm>
            <a:off x="6019800" y="914400"/>
            <a:ext cx="5391150" cy="133350"/>
          </a:xfrm>
          <a:prstGeom prst="rect">
            <a:avLst/>
          </a:prstGeom>
          <a:noFill/>
          <a:ln/>
        </p:spPr>
        <p:txBody>
          <a:bodyPr wrap="square" lIns="0" tIns="0" rIns="0" bIns="0" rtlCol="0" anchor="t"/>
          <a:lstStyle/>
          <a:p>
            <a:pPr algn="l" indent="0" marL="0">
              <a:lnSpc>
                <a:spcPts val="1170"/>
              </a:lnSpc>
              <a:buNone/>
            </a:pPr>
            <a:r>
              <a:rPr lang="en-US" sz="980" b="1" spc="188" kern="0" dirty="0">
                <a:solidFill>
                  <a:srgbClr val="E8A33D"/>
                </a:solidFill>
                <a:latin typeface="Archivo" pitchFamily="34" charset="0"/>
                <a:ea typeface="Archivo" pitchFamily="34" charset="-122"/>
                <a:cs typeface="Archivo" pitchFamily="34" charset="-120"/>
              </a:rPr>
              <a:t>DEL ESCOMBRO AL DATO</a:t>
            </a:r>
            <a:endParaRPr lang="en-US" sz="980" dirty="0"/>
          </a:p>
        </p:txBody>
      </p:sp>
      <p:sp>
        <p:nvSpPr>
          <p:cNvPr id="5" name="Text 2"/>
          <p:cNvSpPr txBox="1"/>
          <p:nvPr/>
        </p:nvSpPr>
        <p:spPr>
          <a:xfrm>
            <a:off x="6019800" y="1333500"/>
            <a:ext cx="5391150" cy="1357313"/>
          </a:xfrm>
          <a:prstGeom prst="rect">
            <a:avLst/>
          </a:prstGeom>
          <a:noFill/>
          <a:ln/>
        </p:spPr>
        <p:txBody>
          <a:bodyPr wrap="square" lIns="0" tIns="0" rIns="0" bIns="0" rtlCol="0" anchor="t"/>
          <a:lstStyle/>
          <a:p>
            <a:pPr algn="l" indent="0" marL="0">
              <a:lnSpc>
                <a:spcPts val="3560"/>
              </a:lnSpc>
              <a:buNone/>
            </a:pPr>
            <a:r>
              <a:rPr lang="en-US" sz="2850" i="1" dirty="0">
                <a:solidFill>
                  <a:srgbClr val="ECE8E1"/>
                </a:solidFill>
                <a:latin typeface="Source Serif 4" pitchFamily="34" charset="0"/>
                <a:ea typeface="Source Serif 4" pitchFamily="34" charset="-122"/>
                <a:cs typeface="Source Serif 4" pitchFamily="34" charset="-120"/>
              </a:rPr>
              <a:t>Lo que GRECO hace con el escombro, SAML lo hace con la información.</a:t>
            </a:r>
            <a:endParaRPr lang="en-US" sz="2850" dirty="0"/>
          </a:p>
        </p:txBody>
      </p:sp>
      <p:sp>
        <p:nvSpPr>
          <p:cNvPr id="6" name="Text 3"/>
          <p:cNvSpPr txBox="1"/>
          <p:nvPr/>
        </p:nvSpPr>
        <p:spPr>
          <a:xfrm>
            <a:off x="5981700" y="3409950"/>
            <a:ext cx="5391150" cy="914400"/>
          </a:xfrm>
          <a:prstGeom prst="rect">
            <a:avLst/>
          </a:prstGeom>
          <a:noFill/>
          <a:ln/>
        </p:spPr>
        <p:txBody>
          <a:bodyPr wrap="square" lIns="0" tIns="0" rIns="0" bIns="0" rtlCol="0" anchor="t"/>
          <a:lstStyle/>
          <a:p>
            <a:pPr algn="l" indent="0" marL="0">
              <a:lnSpc>
                <a:spcPts val="7200"/>
              </a:lnSpc>
              <a:buNone/>
            </a:pPr>
            <a:r>
              <a:rPr lang="en-US" sz="7200" b="1" spc="-225" kern="0" dirty="0">
                <a:solidFill>
                  <a:srgbClr val="E8A33D"/>
                </a:solidFill>
                <a:latin typeface="Archivo" pitchFamily="34" charset="0"/>
                <a:ea typeface="Archivo" pitchFamily="34" charset="-122"/>
                <a:cs typeface="Archivo" pitchFamily="34" charset="-120"/>
              </a:rPr>
              <a:t>Gracias.</a:t>
            </a:r>
            <a:endParaRPr lang="en-US" sz="7200" dirty="0"/>
          </a:p>
        </p:txBody>
      </p:sp>
      <p:sp>
        <p:nvSpPr>
          <p:cNvPr id="7" name="Text 4"/>
          <p:cNvSpPr txBox="1"/>
          <p:nvPr/>
        </p:nvSpPr>
        <p:spPr>
          <a:xfrm>
            <a:off x="6019800" y="4552950"/>
            <a:ext cx="5391150" cy="552450"/>
          </a:xfrm>
          <a:prstGeom prst="rect">
            <a:avLst/>
          </a:prstGeom>
          <a:noFill/>
          <a:ln/>
        </p:spPr>
        <p:txBody>
          <a:bodyPr wrap="square" lIns="0" tIns="0" rIns="0" bIns="0" rtlCol="0" anchor="t"/>
          <a:lstStyle/>
          <a:p>
            <a:pPr algn="l" indent="0" marL="0">
              <a:lnSpc>
                <a:spcPts val="2180"/>
              </a:lnSpc>
              <a:buNone/>
            </a:pPr>
            <a:r>
              <a:rPr lang="en-US" sz="1500" dirty="0">
                <a:solidFill>
                  <a:srgbClr val="CFCAC1"/>
                </a:solidFill>
                <a:latin typeface="Archivo" pitchFamily="34" charset="0"/>
                <a:ea typeface="Archivo" pitchFamily="34" charset="-122"/>
                <a:cs typeface="Archivo" pitchFamily="34" charset="-120"/>
              </a:rPr>
              <a:t>La extracción ya funciona. Con las cuatro decisiones de hoy, el equipo comercial la recibe a tiempo.</a:t>
            </a:r>
            <a:endParaRPr lang="en-US" sz="1500" dirty="0"/>
          </a:p>
        </p:txBody>
      </p:sp>
      <p:sp>
        <p:nvSpPr>
          <p:cNvPr id="8" name="Shape 5"/>
          <p:cNvSpPr/>
          <p:nvPr/>
        </p:nvSpPr>
        <p:spPr>
          <a:xfrm>
            <a:off x="6019800" y="5619750"/>
            <a:ext cx="5486400" cy="9525"/>
          </a:xfrm>
          <a:prstGeom prst="rect">
            <a:avLst/>
          </a:prstGeom>
          <a:solidFill>
            <a:srgbClr val="3D4243"/>
          </a:solidFill>
          <a:ln/>
        </p:spPr>
      </p:sp>
      <p:sp>
        <p:nvSpPr>
          <p:cNvPr id="9" name="Text 6"/>
          <p:cNvSpPr txBox="1"/>
          <p:nvPr/>
        </p:nvSpPr>
        <p:spPr>
          <a:xfrm>
            <a:off x="6019800" y="5810250"/>
            <a:ext cx="2914650" cy="152400"/>
          </a:xfrm>
          <a:prstGeom prst="rect">
            <a:avLst/>
          </a:prstGeom>
          <a:noFill/>
          <a:ln/>
        </p:spPr>
        <p:txBody>
          <a:bodyPr wrap="square" lIns="0" tIns="0" rIns="0" bIns="0" rtlCol="0" anchor="t"/>
          <a:lstStyle/>
          <a:p>
            <a:pPr algn="l" indent="0" marL="0">
              <a:lnSpc>
                <a:spcPts val="1350"/>
              </a:lnSpc>
              <a:buNone/>
            </a:pPr>
            <a:r>
              <a:rPr lang="en-US" sz="1130" b="1" dirty="0">
                <a:solidFill>
                  <a:srgbClr val="ECE8E1"/>
                </a:solidFill>
                <a:latin typeface="Archivo" pitchFamily="34" charset="0"/>
                <a:ea typeface="Archivo" pitchFamily="34" charset="-122"/>
                <a:cs typeface="Archivo" pitchFamily="34" charset="-120"/>
              </a:rPr>
              <a:t>¿Preguntas?</a:t>
            </a:r>
            <a:endParaRPr lang="en-US" sz="1130" dirty="0"/>
          </a:p>
        </p:txBody>
      </p:sp>
      <p:sp>
        <p:nvSpPr>
          <p:cNvPr id="10" name="Text 7"/>
          <p:cNvSpPr txBox="1"/>
          <p:nvPr/>
        </p:nvSpPr>
        <p:spPr>
          <a:xfrm>
            <a:off x="8648700" y="5810250"/>
            <a:ext cx="2914650" cy="142875"/>
          </a:xfrm>
          <a:prstGeom prst="rect">
            <a:avLst/>
          </a:prstGeom>
          <a:noFill/>
          <a:ln/>
        </p:spPr>
        <p:txBody>
          <a:bodyPr wrap="square" lIns="0" tIns="0" rIns="0" bIns="0" rtlCol="0" anchor="t"/>
          <a:lstStyle/>
          <a:p>
            <a:pPr algn="r" indent="0" marL="0">
              <a:lnSpc>
                <a:spcPts val="1260"/>
              </a:lnSpc>
              <a:buNone/>
            </a:pPr>
            <a:r>
              <a:rPr lang="en-US" sz="1050" dirty="0">
                <a:solidFill>
                  <a:srgbClr val="A9ACA6"/>
                </a:solidFill>
                <a:latin typeface="Archivo" pitchFamily="34" charset="0"/>
                <a:ea typeface="Archivo" pitchFamily="34" charset="-122"/>
                <a:cs typeface="Archivo" pitchFamily="34" charset="-120"/>
              </a:rPr>
              <a:t>github.com/svillav4/SAML</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chiv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chiv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Universidad EAFIT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ejecutiva</dc:title>
  <dc:subject>PptxGenJS Presentation</dc:subject>
  <dc:creator>Equipo SAML</dc:creator>
  <cp:lastModifiedBy>Equipo SAML</cp:lastModifiedBy>
  <cp:revision>1</cp:revision>
  <dcterms:created xsi:type="dcterms:W3CDTF">2026-10-13T02:15:52Z</dcterms:created>
  <dcterms:modified xsi:type="dcterms:W3CDTF">2026-10-13T02:15:52Z</dcterms:modified>
</cp:coreProperties>
</file>