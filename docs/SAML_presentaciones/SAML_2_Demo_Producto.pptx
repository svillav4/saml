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segundos.
ANTES DE EMPEZAR (10 minutos antes de la clase):
1. En el portátil de la demo, levantar Docker y n8n (comando en el README de la carpeta n8n del repositorio) y abrir http://localhost:5678 con la sesión ya iniciada.
2. Dejar abierto el flujo "SAML - Demo con CSV existentes (sin consultar el portal)". No depende de internet ni de la API.
3. Tener ya generado un Excel de una ejecución anterior, por si falla la ejecución en vivo.
4. Tener un video de respaldo de 2 minutos con la demo grabada.
5. Subir el zoom de pantalla: el lienzo de n8n y el Excel deben leerse desde el fondo del salón.
QUÉ DECIR: "En cinco minutos les vamos a mostrar SAML funcionando: cómo GRECO pasa de buscar obras a mano a tenerlas organizadas con un clic."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30 segundos.
"GRECO vende material reciclado a los contratistas que ganan obras públicas. Para saber a quién venderle, alguien revisa portales públicos, encuentra las obras adjudicadas y las copia a mano en un Excel llamado Obras V6, que ya tiene más de 550 registros."
"Y el problema no es solo el tiempo: una obra que se detecta tarde es una obra donde otro proveedor ya entró. El propio PO nos lo dijo: lo más importante es hacer la extracción correcta. Eso es lo que van a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30 segundos.
"SAML lo hace en cuatro pasos. Uno: le pide a Licitaciones.info los procesos adjudicados nuevos. Dos: une lo que trae, quita duplicados y deja solo las adjudicadas. Tres: se revisa a sí mismo; si algo no cuadra, el archivo queda marcado para revisión en vez de entregar datos malos. Cuatro: entrega un Excel con cuatro hojas."
"Todo corre dentro de una herramienta de automatización, n8n, empaquetada en Docker, para que GRECO la opere en su propio equipo sin depender de nosotros."
TRANSICIÓN: "Veámoslo funcionando." (Cambiar a la pantalla de n8n.)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minutos. Esta diapositiva queda de fondo mientras cambian a la pantalla de la demo.
GUION PASO A PASO:
1. (0:00–0:20) Mostrar n8n con el flujo "SAML - Demo con CSV existentes". "Este flujo tiene tres pasos: el disparador, el proceso y la verificación del resultado."
2. (0:20–1:00) Pulsar "Execute workflow". Mientras corre: "Ahora está uniendo los datos descargados de Licitaciones.info, limpiándolos y armando el Excel." Cuando los tres nodos queden en verde, abrir el nodo "Resultado: Excel generado" y señalar el nombre del archivo y la verificación OK. "La verificación confirma que todo es adjudicado, que no hay contratos repetidos y que no se cambiaron los datos de origen."
3. (1:00–2:30) Abrir el Excel generado (carpeta datos/intermedio, con fecha y hora en el nombre). Hoja Datos: "Una fila por licitación: columnas de Obras V6 y el enlace al proceso original." Hoja Ganadores: "Quién ganó; si fue un consorcio, cada integrante." Hoja Incidencias: "Todo lo dudoso queda aquí." Hoja Resumen: "Qué entró, qué quedó y de cuándo es."
4. (2:30–3:00) Abrir el enlace de una fila para mostrar que llega al proceso en el portal (si hay internet).
PLAN B: si n8n no levanta o falla, abrir el Excel de la ejecución anterior: "les muestro el resultado de la ejecución de esta mañana". Si nada funciona, poner el video de respaldo.
POR QUÉ EL FLUJO DE DEMO: el flujo completo consulta Licitaciones.info en vivo y depende de internet y credenciales. Si preguntan, aclaren que existe y hace lo mismo trayendo datos nuevos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20 segundos (solo si la demo terminó rápido; si van justos de tiempo, sáltenla).
"Para fijar lo que vieron: uno, cada encabezado tiene una nota que dice de dónde sale el dato. Dos, cada fila trae el código y el enlace al proceso original. Tres, la hoja Ganadores muestra cada empresa ganadora. Y cuatro, la hoja Incidencias anota todo lo dudoso con su causa. Nada se esconde."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45 segundos.
"¿Qué gana GRECO? Tres cosas. Nadie tiene que transcribir: las obras adjudicadas llegan organizadas. Es confiable: no hay duplicados, cada fila tiene enlace a la fuente oficial y lo dudoso queda a la vista. Y es autónomo: al estar empaquetado en Docker, GRECO lo opera sin nosotros."
"Lo que sigue es que corra solo todos los días y avise al equipo comercial cuando aparezca una oportunidad."
NO PROMETER: no digan cuánto tiempo ahorra; todavía no está medido. Si preguntan, la meta del proyecto es reducir al menos un 40 % el tiempo de búsqueda y se medirá en el piloto.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segundos.
"SAML significa menos tiempo buscando y más tiempo vendiendo. Gracias."
CONTROL DEL TIEMPO: el total debe quedar en 5 minutos. Reparto sugerido: portada 15 s, problema 30 s, cómo funciona 30 s, demo 3 min, valor 45 s, cierre 15 s. La diapositiva del esquema del Excel es opcional.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CE8E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txBox="1"/>
          <p:nvPr/>
        </p:nvSpPr>
        <p:spPr>
          <a:xfrm>
            <a:off x="685800" y="609600"/>
            <a:ext cx="5010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E8A33D"/>
                </a:solidFill>
                <a:latin typeface="Archivo" pitchFamily="34" charset="0"/>
                <a:ea typeface="Archivo" pitchFamily="34" charset="-122"/>
                <a:cs typeface="Archivo" pitchFamily="34" charset="-120"/>
              </a:rPr>
              <a:t>DEMO DE PRODUCTO · 5 MINUTOS</a:t>
            </a:r>
            <a:endParaRPr lang="en-US" sz="980" dirty="0"/>
          </a:p>
        </p:txBody>
      </p:sp>
      <p:sp>
        <p:nvSpPr>
          <p:cNvPr id="4" name="Text 1"/>
          <p:cNvSpPr txBox="1"/>
          <p:nvPr/>
        </p:nvSpPr>
        <p:spPr>
          <a:xfrm>
            <a:off x="666750" y="1428750"/>
            <a:ext cx="5581650" cy="2514600"/>
          </a:xfrm>
          <a:prstGeom prst="rect">
            <a:avLst/>
          </a:prstGeom>
          <a:noFill/>
          <a:ln/>
        </p:spPr>
        <p:txBody>
          <a:bodyPr wrap="square" lIns="0" tIns="0" rIns="0" bIns="0" rtlCol="0" anchor="t"/>
          <a:lstStyle/>
          <a:p>
            <a:pPr algn="l" indent="0" marL="0">
              <a:lnSpc>
                <a:spcPts val="6600"/>
              </a:lnSpc>
              <a:buNone/>
            </a:pPr>
            <a:r>
              <a:rPr lang="en-US" sz="6600" b="1" spc="-225" kern="0" dirty="0">
                <a:solidFill>
                  <a:srgbClr val="ECE8E1"/>
                </a:solidFill>
                <a:latin typeface="Archivo" pitchFamily="34" charset="0"/>
                <a:ea typeface="Archivo" pitchFamily="34" charset="-122"/>
                <a:cs typeface="Archivo" pitchFamily="34" charset="-120"/>
              </a:rPr>
              <a:t>De buscar obras a encontrarlas</a:t>
            </a:r>
            <a:endParaRPr lang="en-US" sz="6600" dirty="0"/>
          </a:p>
        </p:txBody>
      </p:sp>
      <p:sp>
        <p:nvSpPr>
          <p:cNvPr id="5" name="Text 2"/>
          <p:cNvSpPr txBox="1"/>
          <p:nvPr/>
        </p:nvSpPr>
        <p:spPr>
          <a:xfrm>
            <a:off x="685800" y="4248150"/>
            <a:ext cx="4819650" cy="1002804"/>
          </a:xfrm>
          <a:prstGeom prst="rect">
            <a:avLst/>
          </a:prstGeom>
          <a:noFill/>
          <a:ln/>
        </p:spPr>
        <p:txBody>
          <a:bodyPr wrap="square" lIns="0" tIns="0" rIns="0" bIns="0" rtlCol="0" anchor="t"/>
          <a:lstStyle/>
          <a:p>
            <a:pPr algn="l" indent="0" marL="0">
              <a:lnSpc>
                <a:spcPts val="2630"/>
              </a:lnSpc>
              <a:buNone/>
            </a:pPr>
            <a:r>
              <a:rPr lang="en-US" sz="2030" i="1" dirty="0">
                <a:solidFill>
                  <a:srgbClr val="CFCAC1"/>
                </a:solidFill>
                <a:latin typeface="Source Serif 4" pitchFamily="34" charset="0"/>
                <a:ea typeface="Source Serif 4" pitchFamily="34" charset="-122"/>
                <a:cs typeface="Source Serif 4" pitchFamily="34" charset="-120"/>
              </a:rPr>
              <a:t>SAML trae, limpia y organiza las licitaciones adjudicadas que le interesan a GRECO.</a:t>
            </a:r>
            <a:endParaRPr lang="en-US" sz="2030" dirty="0"/>
          </a:p>
        </p:txBody>
      </p:sp>
      <p:sp>
        <p:nvSpPr>
          <p:cNvPr id="6" name="Text 3"/>
          <p:cNvSpPr txBox="1"/>
          <p:nvPr/>
        </p:nvSpPr>
        <p:spPr>
          <a:xfrm>
            <a:off x="685800" y="6286500"/>
            <a:ext cx="5010150" cy="133350"/>
          </a:xfrm>
          <a:prstGeom prst="rect">
            <a:avLst/>
          </a:prstGeom>
          <a:noFill/>
          <a:ln/>
        </p:spPr>
        <p:txBody>
          <a:bodyPr wrap="square" lIns="0" tIns="0" rIns="0" bIns="0" rtlCol="0" anchor="t"/>
          <a:lstStyle/>
          <a:p>
            <a:pPr algn="l" indent="0" marL="0">
              <a:lnSpc>
                <a:spcPts val="1170"/>
              </a:lnSpc>
              <a:buNone/>
            </a:pPr>
            <a:r>
              <a:rPr lang="en-US" sz="980" b="1" spc="113" kern="0" dirty="0">
                <a:solidFill>
                  <a:srgbClr val="E8A33D"/>
                </a:solidFill>
                <a:latin typeface="Archivo" pitchFamily="34" charset="0"/>
                <a:ea typeface="Archivo" pitchFamily="34" charset="-122"/>
                <a:cs typeface="Archivo" pitchFamily="34" charset="-120"/>
              </a:rPr>
              <a:t>SAML · 13 · 10 · 2026 — SI4008 · EAFIT</a:t>
            </a:r>
            <a:endParaRPr lang="en-US" sz="9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8E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txBox="1"/>
          <p:nvPr/>
        </p:nvSpPr>
        <p:spPr>
          <a:xfrm>
            <a:off x="7620000" y="685800"/>
            <a:ext cx="3867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E8A33D"/>
                </a:solidFill>
                <a:latin typeface="Archivo" pitchFamily="34" charset="0"/>
                <a:ea typeface="Archivo" pitchFamily="34" charset="-122"/>
                <a:cs typeface="Archivo" pitchFamily="34" charset="-120"/>
              </a:rPr>
              <a:t>EL PROBLEMA</a:t>
            </a:r>
            <a:endParaRPr lang="en-US" sz="980" dirty="0"/>
          </a:p>
        </p:txBody>
      </p:sp>
      <p:sp>
        <p:nvSpPr>
          <p:cNvPr id="4" name="Text 1"/>
          <p:cNvSpPr txBox="1"/>
          <p:nvPr/>
        </p:nvSpPr>
        <p:spPr>
          <a:xfrm>
            <a:off x="7620000" y="990600"/>
            <a:ext cx="4057650" cy="1117104"/>
          </a:xfrm>
          <a:prstGeom prst="rect">
            <a:avLst/>
          </a:prstGeom>
          <a:noFill/>
          <a:ln/>
        </p:spPr>
        <p:txBody>
          <a:bodyPr wrap="square" lIns="0" tIns="0" rIns="0" bIns="0" rtlCol="0" anchor="t"/>
          <a:lstStyle/>
          <a:p>
            <a:pPr algn="l" indent="0" marL="0">
              <a:lnSpc>
                <a:spcPts val="2930"/>
              </a:lnSpc>
              <a:buNone/>
            </a:pPr>
            <a:r>
              <a:rPr lang="en-US" sz="2550" b="1" dirty="0">
                <a:solidFill>
                  <a:srgbClr val="ECE8E1"/>
                </a:solidFill>
                <a:latin typeface="Archivo" pitchFamily="34" charset="0"/>
                <a:ea typeface="Archivo" pitchFamily="34" charset="-122"/>
                <a:cs typeface="Archivo" pitchFamily="34" charset="-120"/>
              </a:rPr>
              <a:t>Hoy cada obra adjudicada se busca y se copia a mano</a:t>
            </a:r>
            <a:endParaRPr lang="en-US" sz="2550" dirty="0"/>
          </a:p>
        </p:txBody>
      </p:sp>
      <p:sp>
        <p:nvSpPr>
          <p:cNvPr id="5" name="Text 2"/>
          <p:cNvSpPr txBox="1"/>
          <p:nvPr/>
        </p:nvSpPr>
        <p:spPr>
          <a:xfrm>
            <a:off x="7581900" y="2362200"/>
            <a:ext cx="4057650" cy="1143000"/>
          </a:xfrm>
          <a:prstGeom prst="rect">
            <a:avLst/>
          </a:prstGeom>
          <a:noFill/>
          <a:ln/>
        </p:spPr>
        <p:txBody>
          <a:bodyPr wrap="square" lIns="0" tIns="0" rIns="0" bIns="0" rtlCol="0" anchor="t"/>
          <a:lstStyle/>
          <a:p>
            <a:pPr algn="l" indent="0" marL="0">
              <a:lnSpc>
                <a:spcPts val="9000"/>
              </a:lnSpc>
              <a:buNone/>
            </a:pPr>
            <a:r>
              <a:rPr lang="en-US" sz="9000" b="1" spc="-300" kern="0" dirty="0">
                <a:solidFill>
                  <a:srgbClr val="E8A33D"/>
                </a:solidFill>
                <a:latin typeface="Archivo" pitchFamily="34" charset="0"/>
                <a:ea typeface="Archivo" pitchFamily="34" charset="-122"/>
                <a:cs typeface="Archivo" pitchFamily="34" charset="-120"/>
              </a:rPr>
              <a:t>+550</a:t>
            </a:r>
            <a:endParaRPr lang="en-US" sz="9000" dirty="0"/>
          </a:p>
        </p:txBody>
      </p:sp>
      <p:sp>
        <p:nvSpPr>
          <p:cNvPr id="6" name="Text 3"/>
          <p:cNvSpPr txBox="1"/>
          <p:nvPr/>
        </p:nvSpPr>
        <p:spPr>
          <a:xfrm>
            <a:off x="7620000" y="3581400"/>
            <a:ext cx="3676650" cy="479822"/>
          </a:xfrm>
          <a:prstGeom prst="rect">
            <a:avLst/>
          </a:prstGeom>
          <a:noFill/>
          <a:ln/>
        </p:spPr>
        <p:txBody>
          <a:bodyPr wrap="square" lIns="0" tIns="0" rIns="0" bIns="0" rtlCol="0" anchor="t"/>
          <a:lstStyle/>
          <a:p>
            <a:pPr algn="l" indent="0" marL="0">
              <a:lnSpc>
                <a:spcPts val="1890"/>
              </a:lnSpc>
              <a:buNone/>
            </a:pPr>
            <a:r>
              <a:rPr lang="en-US" sz="1350" dirty="0">
                <a:solidFill>
                  <a:srgbClr val="D6D1C8"/>
                </a:solidFill>
                <a:latin typeface="Archivo" pitchFamily="34" charset="0"/>
                <a:ea typeface="Archivo" pitchFamily="34" charset="-122"/>
                <a:cs typeface="Archivo" pitchFamily="34" charset="-120"/>
              </a:rPr>
              <a:t>registros en Obras V6, alimentados revisando portales públicos uno por uno.</a:t>
            </a:r>
            <a:endParaRPr lang="en-US" sz="1350" dirty="0"/>
          </a:p>
        </p:txBody>
      </p:sp>
      <p:sp>
        <p:nvSpPr>
          <p:cNvPr id="7" name="Shape 4"/>
          <p:cNvSpPr/>
          <p:nvPr/>
        </p:nvSpPr>
        <p:spPr>
          <a:xfrm>
            <a:off x="7620000" y="4476750"/>
            <a:ext cx="381000" cy="19050"/>
          </a:xfrm>
          <a:prstGeom prst="rect">
            <a:avLst/>
          </a:prstGeom>
          <a:solidFill>
            <a:srgbClr val="E8A33D"/>
          </a:solidFill>
          <a:ln/>
        </p:spPr>
      </p:sp>
      <p:sp>
        <p:nvSpPr>
          <p:cNvPr id="8" name="Text 5"/>
          <p:cNvSpPr txBox="1"/>
          <p:nvPr/>
        </p:nvSpPr>
        <p:spPr>
          <a:xfrm>
            <a:off x="7620000" y="4686300"/>
            <a:ext cx="3867150" cy="643830"/>
          </a:xfrm>
          <a:prstGeom prst="rect">
            <a:avLst/>
          </a:prstGeom>
          <a:noFill/>
          <a:ln/>
        </p:spPr>
        <p:txBody>
          <a:bodyPr wrap="square" lIns="0" tIns="0" rIns="0" bIns="0" rtlCol="0" anchor="t"/>
          <a:lstStyle/>
          <a:p>
            <a:pPr algn="l" indent="0" marL="0">
              <a:lnSpc>
                <a:spcPts val="2530"/>
              </a:lnSpc>
              <a:buNone/>
            </a:pPr>
            <a:r>
              <a:rPr lang="en-US" sz="1950" i="1" dirty="0">
                <a:solidFill>
                  <a:srgbClr val="ECE8E1"/>
                </a:solidFill>
                <a:latin typeface="Source Serif 4" pitchFamily="34" charset="0"/>
                <a:ea typeface="Source Serif 4" pitchFamily="34" charset="-122"/>
                <a:cs typeface="Source Serif 4" pitchFamily="34" charset="-120"/>
              </a:rPr>
              <a:t>“Lo más importante es hacer la extracción correcta.”</a:t>
            </a:r>
            <a:endParaRPr lang="en-US" sz="1950" dirty="0"/>
          </a:p>
        </p:txBody>
      </p:sp>
      <p:sp>
        <p:nvSpPr>
          <p:cNvPr id="9" name="Text 6"/>
          <p:cNvSpPr txBox="1"/>
          <p:nvPr/>
        </p:nvSpPr>
        <p:spPr>
          <a:xfrm>
            <a:off x="7620000" y="5619750"/>
            <a:ext cx="3867150" cy="142875"/>
          </a:xfrm>
          <a:prstGeom prst="rect">
            <a:avLst/>
          </a:prstGeom>
          <a:noFill/>
          <a:ln/>
        </p:spPr>
        <p:txBody>
          <a:bodyPr wrap="square" lIns="0" tIns="0" rIns="0" bIns="0" rtlCol="0" anchor="t"/>
          <a:lstStyle/>
          <a:p>
            <a:pPr algn="l" indent="0" marL="0">
              <a:lnSpc>
                <a:spcPts val="1260"/>
              </a:lnSpc>
              <a:buNone/>
            </a:pPr>
            <a:r>
              <a:rPr lang="en-US" sz="1050" dirty="0">
                <a:solidFill>
                  <a:srgbClr val="A9ACA6"/>
                </a:solidFill>
                <a:latin typeface="Archivo" pitchFamily="34" charset="0"/>
                <a:ea typeface="Archivo" pitchFamily="34" charset="-122"/>
                <a:cs typeface="Archivo" pitchFamily="34" charset="-120"/>
              </a:rPr>
              <a:t>Product Owner de GRECO, reunión del 27-08</a:t>
            </a:r>
            <a:endParaRPr lang="en-US" sz="1050" dirty="0"/>
          </a:p>
        </p:txBody>
      </p:sp>
      <p:sp>
        <p:nvSpPr>
          <p:cNvPr id="10" name="Text 7"/>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A9ACA6"/>
                </a:solidFill>
                <a:latin typeface="Source Serif 4" pitchFamily="34" charset="0"/>
                <a:ea typeface="Source Serif 4" pitchFamily="34" charset="-122"/>
                <a:cs typeface="Source Serif 4"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8E1"/>
          </a:solidFill>
          <a:ln/>
        </p:spPr>
      </p:sp>
      <p:sp>
        <p:nvSpPr>
          <p:cNvPr id="3" name="Text 1"/>
          <p:cNvSpPr txBox="1"/>
          <p:nvPr/>
        </p:nvSpPr>
        <p:spPr>
          <a:xfrm>
            <a:off x="685800" y="381000"/>
            <a:ext cx="2630239"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DEMO — CÓMO FUNCIONA</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Un clic recorre cuatro pasos sin intervención humana</a:t>
            </a:r>
            <a:endParaRPr lang="en-US" sz="2700" dirty="0"/>
          </a:p>
        </p:txBody>
      </p:sp>
      <p:sp>
        <p:nvSpPr>
          <p:cNvPr id="5" name="Shape 3"/>
          <p:cNvSpPr/>
          <p:nvPr/>
        </p:nvSpPr>
        <p:spPr>
          <a:xfrm>
            <a:off x="685800" y="2247900"/>
            <a:ext cx="1828800" cy="1905000"/>
          </a:xfrm>
          <a:prstGeom prst="roundRect">
            <a:avLst>
              <a:gd name="adj" fmla="val 3125"/>
            </a:avLst>
          </a:prstGeom>
          <a:solidFill>
            <a:srgbClr val="1E2122"/>
          </a:solidFill>
          <a:ln/>
        </p:spPr>
      </p:sp>
      <p:sp>
        <p:nvSpPr>
          <p:cNvPr id="6" name="Text 4"/>
          <p:cNvSpPr txBox="1"/>
          <p:nvPr/>
        </p:nvSpPr>
        <p:spPr>
          <a:xfrm>
            <a:off x="685800" y="2247900"/>
            <a:ext cx="1885950" cy="1905000"/>
          </a:xfrm>
          <a:prstGeom prst="rect">
            <a:avLst/>
          </a:prstGeom>
          <a:noFill/>
          <a:ln/>
        </p:spPr>
        <p:txBody>
          <a:bodyPr wrap="square" lIns="133350" tIns="209550" rIns="133350" bIns="209550" rtlCol="0" anchor="t"/>
          <a:lstStyle/>
          <a:p>
            <a:pPr algn="l" indent="0" marL="0">
              <a:lnSpc>
                <a:spcPts val="1660"/>
              </a:lnSpc>
              <a:buNone/>
            </a:pPr>
            <a:r>
              <a:rPr lang="en-US" sz="1280" b="1" dirty="0">
                <a:solidFill>
                  <a:srgbClr val="ECE8E1"/>
                </a:solidFill>
                <a:latin typeface="Archivo" pitchFamily="34" charset="0"/>
                <a:ea typeface="Archivo" pitchFamily="34" charset="-122"/>
                <a:cs typeface="Archivo" pitchFamily="34" charset="-120"/>
              </a:rPr>
              <a:t>Licitaciones.info</a:t>
            </a:r>
            <a:endParaRPr lang="en-US" sz="1280" dirty="0"/>
          </a:p>
          <a:p>
            <a:pPr algn="l" indent="0" marL="0">
              <a:lnSpc>
                <a:spcPts val="1660"/>
              </a:lnSpc>
              <a:buNone/>
            </a:pPr>
            <a:r>
              <a:rPr lang="en-US" sz="1050" dirty="0">
                <a:solidFill>
                  <a:srgbClr val="A9ACA6"/>
                </a:solidFill>
                <a:latin typeface="Archivo" pitchFamily="34" charset="0"/>
                <a:ea typeface="Archivo" pitchFamily="34" charset="-122"/>
                <a:cs typeface="Archivo" pitchFamily="34" charset="-120"/>
              </a:rPr>
              <a:t>fuente pública de contratación</a:t>
            </a:r>
            <a:endParaRPr lang="en-US" sz="1280" dirty="0"/>
          </a:p>
        </p:txBody>
      </p:sp>
      <p:sp>
        <p:nvSpPr>
          <p:cNvPr id="7" name="Shape 5"/>
          <p:cNvSpPr/>
          <p:nvPr/>
        </p:nvSpPr>
        <p:spPr>
          <a:xfrm>
            <a:off x="2514600" y="3190875"/>
            <a:ext cx="171450" cy="19050"/>
          </a:xfrm>
          <a:prstGeom prst="rect">
            <a:avLst/>
          </a:prstGeom>
          <a:solidFill>
            <a:srgbClr val="1E2122"/>
          </a:solidFill>
          <a:ln/>
        </p:spPr>
      </p:sp>
      <p:sp>
        <p:nvSpPr>
          <p:cNvPr id="8" name="Text 6"/>
          <p:cNvSpPr txBox="1"/>
          <p:nvPr/>
        </p:nvSpPr>
        <p:spPr>
          <a:xfrm>
            <a:off x="2857500" y="1905000"/>
            <a:ext cx="438150" cy="381000"/>
          </a:xfrm>
          <a:prstGeom prst="rect">
            <a:avLst/>
          </a:prstGeom>
          <a:noFill/>
          <a:ln/>
        </p:spPr>
        <p:txBody>
          <a:bodyPr wrap="square" lIns="0" tIns="0" rIns="0" bIns="0" rtlCol="0" anchor="t"/>
          <a:lstStyle/>
          <a:p>
            <a:pPr algn="l" indent="0" marL="0">
              <a:lnSpc>
                <a:spcPts val="3000"/>
              </a:lnSpc>
              <a:buNone/>
            </a:pPr>
            <a:r>
              <a:rPr lang="en-US" sz="3000" i="1" dirty="0">
                <a:solidFill>
                  <a:srgbClr val="9A5E12"/>
                </a:solidFill>
                <a:latin typeface="Source Serif 4" pitchFamily="34" charset="0"/>
                <a:ea typeface="Source Serif 4" pitchFamily="34" charset="-122"/>
                <a:cs typeface="Source Serif 4" pitchFamily="34" charset="-120"/>
              </a:rPr>
              <a:t>1</a:t>
            </a:r>
            <a:endParaRPr lang="en-US" sz="3000" dirty="0"/>
          </a:p>
        </p:txBody>
      </p:sp>
      <p:sp>
        <p:nvSpPr>
          <p:cNvPr id="9" name="Shape 7"/>
          <p:cNvSpPr/>
          <p:nvPr/>
        </p:nvSpPr>
        <p:spPr>
          <a:xfrm>
            <a:off x="2686050" y="2247900"/>
            <a:ext cx="1905000" cy="1905000"/>
          </a:xfrm>
          <a:prstGeom prst="roundRect">
            <a:avLst>
              <a:gd name="adj" fmla="val 3000"/>
            </a:avLst>
          </a:prstGeom>
          <a:solidFill>
            <a:srgbClr val="F6F3EE"/>
          </a:solidFill>
          <a:ln w="9525">
            <a:solidFill>
              <a:srgbClr val="CFC8BC"/>
            </a:solidFill>
            <a:prstDash val="solid"/>
          </a:ln>
        </p:spPr>
      </p:sp>
      <p:sp>
        <p:nvSpPr>
          <p:cNvPr id="10" name="Text 8"/>
          <p:cNvSpPr txBox="1"/>
          <p:nvPr/>
        </p:nvSpPr>
        <p:spPr>
          <a:xfrm>
            <a:off x="2686050" y="2247900"/>
            <a:ext cx="1962150" cy="1905000"/>
          </a:xfrm>
          <a:prstGeom prst="rect">
            <a:avLst/>
          </a:prstGeom>
          <a:noFill/>
          <a:ln/>
        </p:spPr>
        <p:txBody>
          <a:bodyPr wrap="square" lIns="171450" tIns="209550" rIns="171450" bIns="209550" rtlCol="0" anchor="t"/>
          <a:lstStyle/>
          <a:p>
            <a:pPr algn="l" indent="0" marL="0">
              <a:lnSpc>
                <a:spcPts val="1880"/>
              </a:lnSpc>
              <a:buNone/>
            </a:pPr>
            <a:r>
              <a:rPr lang="en-US" sz="1500" b="1" dirty="0">
                <a:solidFill>
                  <a:srgbClr val="1E2122"/>
                </a:solidFill>
                <a:latin typeface="Archivo" pitchFamily="34" charset="0"/>
                <a:ea typeface="Archivo" pitchFamily="34" charset="-122"/>
                <a:cs typeface="Archivo" pitchFamily="34" charset="-120"/>
              </a:rPr>
              <a:t>Consulta</a:t>
            </a:r>
            <a:endParaRPr lang="en-US" sz="1500" dirty="0"/>
          </a:p>
          <a:p>
            <a:pPr algn="l" indent="0" marL="0">
              <a:lnSpc>
                <a:spcPts val="1880"/>
              </a:lnSpc>
              <a:buNone/>
            </a:pPr>
            <a:r>
              <a:rPr lang="en-US" sz="1130" dirty="0">
                <a:solidFill>
                  <a:srgbClr val="4A4E4B"/>
                </a:solidFill>
                <a:latin typeface="Archivo" pitchFamily="34" charset="0"/>
                <a:ea typeface="Archivo" pitchFamily="34" charset="-122"/>
                <a:cs typeface="Archivo" pitchFamily="34" charset="-120"/>
              </a:rPr>
              <a:t>Pide solo los procesos adjudicados y nuevos.</a:t>
            </a:r>
            <a:endParaRPr lang="en-US" sz="1500" dirty="0"/>
          </a:p>
        </p:txBody>
      </p:sp>
      <p:sp>
        <p:nvSpPr>
          <p:cNvPr id="11" name="Shape 9"/>
          <p:cNvSpPr/>
          <p:nvPr/>
        </p:nvSpPr>
        <p:spPr>
          <a:xfrm>
            <a:off x="4591050" y="3190875"/>
            <a:ext cx="285750" cy="19050"/>
          </a:xfrm>
          <a:prstGeom prst="rect">
            <a:avLst/>
          </a:prstGeom>
          <a:solidFill>
            <a:srgbClr val="1E2122"/>
          </a:solidFill>
          <a:ln/>
        </p:spPr>
      </p:sp>
      <p:sp>
        <p:nvSpPr>
          <p:cNvPr id="12" name="Text 10"/>
          <p:cNvSpPr txBox="1"/>
          <p:nvPr/>
        </p:nvSpPr>
        <p:spPr>
          <a:xfrm>
            <a:off x="5048250" y="1905000"/>
            <a:ext cx="438150" cy="381000"/>
          </a:xfrm>
          <a:prstGeom prst="rect">
            <a:avLst/>
          </a:prstGeom>
          <a:noFill/>
          <a:ln/>
        </p:spPr>
        <p:txBody>
          <a:bodyPr wrap="square" lIns="0" tIns="0" rIns="0" bIns="0" rtlCol="0" anchor="t"/>
          <a:lstStyle/>
          <a:p>
            <a:pPr algn="l" indent="0" marL="0">
              <a:lnSpc>
                <a:spcPts val="3000"/>
              </a:lnSpc>
              <a:buNone/>
            </a:pPr>
            <a:r>
              <a:rPr lang="en-US" sz="3000" i="1" dirty="0">
                <a:solidFill>
                  <a:srgbClr val="9A5E12"/>
                </a:solidFill>
                <a:latin typeface="Source Serif 4" pitchFamily="34" charset="0"/>
                <a:ea typeface="Source Serif 4" pitchFamily="34" charset="-122"/>
                <a:cs typeface="Source Serif 4" pitchFamily="34" charset="-120"/>
              </a:rPr>
              <a:t>2</a:t>
            </a:r>
            <a:endParaRPr lang="en-US" sz="3000" dirty="0"/>
          </a:p>
        </p:txBody>
      </p:sp>
      <p:sp>
        <p:nvSpPr>
          <p:cNvPr id="13" name="Shape 11"/>
          <p:cNvSpPr/>
          <p:nvPr/>
        </p:nvSpPr>
        <p:spPr>
          <a:xfrm>
            <a:off x="4876800" y="2247900"/>
            <a:ext cx="1905000" cy="1905000"/>
          </a:xfrm>
          <a:prstGeom prst="roundRect">
            <a:avLst>
              <a:gd name="adj" fmla="val 3000"/>
            </a:avLst>
          </a:prstGeom>
          <a:solidFill>
            <a:srgbClr val="F6F3EE"/>
          </a:solidFill>
          <a:ln w="9525">
            <a:solidFill>
              <a:srgbClr val="CFC8BC"/>
            </a:solidFill>
            <a:prstDash val="solid"/>
          </a:ln>
        </p:spPr>
      </p:sp>
      <p:sp>
        <p:nvSpPr>
          <p:cNvPr id="14" name="Text 12"/>
          <p:cNvSpPr txBox="1"/>
          <p:nvPr/>
        </p:nvSpPr>
        <p:spPr>
          <a:xfrm>
            <a:off x="4876800" y="2247900"/>
            <a:ext cx="1962150" cy="1905000"/>
          </a:xfrm>
          <a:prstGeom prst="rect">
            <a:avLst/>
          </a:prstGeom>
          <a:noFill/>
          <a:ln/>
        </p:spPr>
        <p:txBody>
          <a:bodyPr wrap="square" lIns="171450" tIns="209550" rIns="171450" bIns="209550" rtlCol="0" anchor="t"/>
          <a:lstStyle/>
          <a:p>
            <a:pPr algn="l" indent="0" marL="0">
              <a:lnSpc>
                <a:spcPts val="1880"/>
              </a:lnSpc>
              <a:buNone/>
            </a:pPr>
            <a:r>
              <a:rPr lang="en-US" sz="1500" b="1" dirty="0">
                <a:solidFill>
                  <a:srgbClr val="1E2122"/>
                </a:solidFill>
                <a:latin typeface="Archivo" pitchFamily="34" charset="0"/>
                <a:ea typeface="Archivo" pitchFamily="34" charset="-122"/>
                <a:cs typeface="Archivo" pitchFamily="34" charset="-120"/>
              </a:rPr>
              <a:t>Limpieza</a:t>
            </a:r>
            <a:endParaRPr lang="en-US" sz="1500" dirty="0"/>
          </a:p>
          <a:p>
            <a:pPr algn="l" indent="0" marL="0">
              <a:lnSpc>
                <a:spcPts val="1880"/>
              </a:lnSpc>
              <a:buNone/>
            </a:pPr>
            <a:r>
              <a:rPr lang="en-US" sz="1130" dirty="0">
                <a:solidFill>
                  <a:srgbClr val="4A4E4B"/>
                </a:solidFill>
                <a:latin typeface="Archivo" pitchFamily="34" charset="0"/>
                <a:ea typeface="Archivo" pitchFamily="34" charset="-122"/>
                <a:cs typeface="Archivo" pitchFamily="34" charset="-120"/>
              </a:rPr>
              <a:t>Une archivos, quita duplicados y ordena textos, valores y fechas.</a:t>
            </a:r>
            <a:endParaRPr lang="en-US" sz="1500" dirty="0"/>
          </a:p>
        </p:txBody>
      </p:sp>
      <p:sp>
        <p:nvSpPr>
          <p:cNvPr id="15" name="Shape 13"/>
          <p:cNvSpPr/>
          <p:nvPr/>
        </p:nvSpPr>
        <p:spPr>
          <a:xfrm>
            <a:off x="6781800" y="3190875"/>
            <a:ext cx="285750" cy="19050"/>
          </a:xfrm>
          <a:prstGeom prst="rect">
            <a:avLst/>
          </a:prstGeom>
          <a:solidFill>
            <a:srgbClr val="1E2122"/>
          </a:solidFill>
          <a:ln/>
        </p:spPr>
      </p:sp>
      <p:sp>
        <p:nvSpPr>
          <p:cNvPr id="16" name="Text 14"/>
          <p:cNvSpPr txBox="1"/>
          <p:nvPr/>
        </p:nvSpPr>
        <p:spPr>
          <a:xfrm>
            <a:off x="7239000" y="1905000"/>
            <a:ext cx="438150" cy="381000"/>
          </a:xfrm>
          <a:prstGeom prst="rect">
            <a:avLst/>
          </a:prstGeom>
          <a:noFill/>
          <a:ln/>
        </p:spPr>
        <p:txBody>
          <a:bodyPr wrap="square" lIns="0" tIns="0" rIns="0" bIns="0" rtlCol="0" anchor="t"/>
          <a:lstStyle/>
          <a:p>
            <a:pPr algn="l" indent="0" marL="0">
              <a:lnSpc>
                <a:spcPts val="3000"/>
              </a:lnSpc>
              <a:buNone/>
            </a:pPr>
            <a:r>
              <a:rPr lang="en-US" sz="3000" i="1" dirty="0">
                <a:solidFill>
                  <a:srgbClr val="9A5E12"/>
                </a:solidFill>
                <a:latin typeface="Source Serif 4" pitchFamily="34" charset="0"/>
                <a:ea typeface="Source Serif 4" pitchFamily="34" charset="-122"/>
                <a:cs typeface="Source Serif 4" pitchFamily="34" charset="-120"/>
              </a:rPr>
              <a:t>3</a:t>
            </a:r>
            <a:endParaRPr lang="en-US" sz="3000" dirty="0"/>
          </a:p>
        </p:txBody>
      </p:sp>
      <p:sp>
        <p:nvSpPr>
          <p:cNvPr id="17" name="Shape 15"/>
          <p:cNvSpPr/>
          <p:nvPr/>
        </p:nvSpPr>
        <p:spPr>
          <a:xfrm>
            <a:off x="7067550" y="2247900"/>
            <a:ext cx="1905000" cy="1905000"/>
          </a:xfrm>
          <a:prstGeom prst="roundRect">
            <a:avLst>
              <a:gd name="adj" fmla="val 3000"/>
            </a:avLst>
          </a:prstGeom>
          <a:solidFill>
            <a:srgbClr val="F6F3EE"/>
          </a:solidFill>
          <a:ln w="9525">
            <a:solidFill>
              <a:srgbClr val="CFC8BC"/>
            </a:solidFill>
            <a:prstDash val="solid"/>
          </a:ln>
        </p:spPr>
      </p:sp>
      <p:sp>
        <p:nvSpPr>
          <p:cNvPr id="18" name="Text 16"/>
          <p:cNvSpPr txBox="1"/>
          <p:nvPr/>
        </p:nvSpPr>
        <p:spPr>
          <a:xfrm>
            <a:off x="7067550" y="2247900"/>
            <a:ext cx="1962150" cy="1905000"/>
          </a:xfrm>
          <a:prstGeom prst="rect">
            <a:avLst/>
          </a:prstGeom>
          <a:noFill/>
          <a:ln/>
        </p:spPr>
        <p:txBody>
          <a:bodyPr wrap="square" lIns="171450" tIns="209550" rIns="171450" bIns="209550" rtlCol="0" anchor="t"/>
          <a:lstStyle/>
          <a:p>
            <a:pPr algn="l" indent="0" marL="0">
              <a:lnSpc>
                <a:spcPts val="1880"/>
              </a:lnSpc>
              <a:buNone/>
            </a:pPr>
            <a:r>
              <a:rPr lang="en-US" sz="1500" b="1" dirty="0">
                <a:solidFill>
                  <a:srgbClr val="1E2122"/>
                </a:solidFill>
                <a:latin typeface="Archivo" pitchFamily="34" charset="0"/>
                <a:ea typeface="Archivo" pitchFamily="34" charset="-122"/>
                <a:cs typeface="Archivo" pitchFamily="34" charset="-120"/>
              </a:rPr>
              <a:t>Verificación</a:t>
            </a:r>
            <a:endParaRPr lang="en-US" sz="1500" dirty="0"/>
          </a:p>
          <a:p>
            <a:pPr algn="l" indent="0" marL="0">
              <a:lnSpc>
                <a:spcPts val="1880"/>
              </a:lnSpc>
              <a:buNone/>
            </a:pPr>
            <a:r>
              <a:rPr lang="en-US" sz="1130" dirty="0">
                <a:solidFill>
                  <a:srgbClr val="4A4E4B"/>
                </a:solidFill>
                <a:latin typeface="Archivo" pitchFamily="34" charset="0"/>
                <a:ea typeface="Archivo" pitchFamily="34" charset="-122"/>
                <a:cs typeface="Archivo" pitchFamily="34" charset="-120"/>
              </a:rPr>
              <a:t>Si algo no cuadra, marca el archivo para revisar.</a:t>
            </a:r>
            <a:endParaRPr lang="en-US" sz="1500" dirty="0"/>
          </a:p>
        </p:txBody>
      </p:sp>
      <p:sp>
        <p:nvSpPr>
          <p:cNvPr id="19" name="Shape 17"/>
          <p:cNvSpPr/>
          <p:nvPr/>
        </p:nvSpPr>
        <p:spPr>
          <a:xfrm>
            <a:off x="8972550" y="3190875"/>
            <a:ext cx="285750" cy="19050"/>
          </a:xfrm>
          <a:prstGeom prst="rect">
            <a:avLst/>
          </a:prstGeom>
          <a:solidFill>
            <a:srgbClr val="1E2122"/>
          </a:solidFill>
          <a:ln/>
        </p:spPr>
      </p:sp>
      <p:sp>
        <p:nvSpPr>
          <p:cNvPr id="20" name="Text 18"/>
          <p:cNvSpPr txBox="1"/>
          <p:nvPr/>
        </p:nvSpPr>
        <p:spPr>
          <a:xfrm>
            <a:off x="9429750" y="1905000"/>
            <a:ext cx="438150" cy="381000"/>
          </a:xfrm>
          <a:prstGeom prst="rect">
            <a:avLst/>
          </a:prstGeom>
          <a:noFill/>
          <a:ln/>
        </p:spPr>
        <p:txBody>
          <a:bodyPr wrap="square" lIns="0" tIns="0" rIns="0" bIns="0" rtlCol="0" anchor="t"/>
          <a:lstStyle/>
          <a:p>
            <a:pPr algn="l" indent="0" marL="0">
              <a:lnSpc>
                <a:spcPts val="3000"/>
              </a:lnSpc>
              <a:buNone/>
            </a:pPr>
            <a:r>
              <a:rPr lang="en-US" sz="3000" i="1" dirty="0">
                <a:solidFill>
                  <a:srgbClr val="9A5E12"/>
                </a:solidFill>
                <a:latin typeface="Source Serif 4" pitchFamily="34" charset="0"/>
                <a:ea typeface="Source Serif 4" pitchFamily="34" charset="-122"/>
                <a:cs typeface="Source Serif 4" pitchFamily="34" charset="-120"/>
              </a:rPr>
              <a:t>4</a:t>
            </a:r>
            <a:endParaRPr lang="en-US" sz="3000" dirty="0"/>
          </a:p>
        </p:txBody>
      </p:sp>
      <p:sp>
        <p:nvSpPr>
          <p:cNvPr id="21" name="Shape 19"/>
          <p:cNvSpPr/>
          <p:nvPr/>
        </p:nvSpPr>
        <p:spPr>
          <a:xfrm>
            <a:off x="9258300" y="2247900"/>
            <a:ext cx="2247900" cy="1905000"/>
          </a:xfrm>
          <a:prstGeom prst="roundRect">
            <a:avLst>
              <a:gd name="adj" fmla="val 3000"/>
            </a:avLst>
          </a:prstGeom>
          <a:solidFill>
            <a:srgbClr val="E8A33D"/>
          </a:solidFill>
          <a:ln/>
        </p:spPr>
      </p:sp>
      <p:sp>
        <p:nvSpPr>
          <p:cNvPr id="22" name="Text 20"/>
          <p:cNvSpPr txBox="1"/>
          <p:nvPr/>
        </p:nvSpPr>
        <p:spPr>
          <a:xfrm>
            <a:off x="9258300" y="2247900"/>
            <a:ext cx="2305050" cy="1905000"/>
          </a:xfrm>
          <a:prstGeom prst="rect">
            <a:avLst/>
          </a:prstGeom>
          <a:noFill/>
          <a:ln/>
        </p:spPr>
        <p:txBody>
          <a:bodyPr wrap="square" lIns="171450" tIns="209550" rIns="171450" bIns="209550" rtlCol="0" anchor="t"/>
          <a:lstStyle/>
          <a:p>
            <a:pPr algn="l" indent="0" marL="0">
              <a:lnSpc>
                <a:spcPts val="1880"/>
              </a:lnSpc>
              <a:buNone/>
            </a:pPr>
            <a:r>
              <a:rPr lang="en-US" sz="1500" b="1" dirty="0">
                <a:solidFill>
                  <a:srgbClr val="1E2122"/>
                </a:solidFill>
                <a:latin typeface="Archivo" pitchFamily="34" charset="0"/>
                <a:ea typeface="Archivo" pitchFamily="34" charset="-122"/>
                <a:cs typeface="Archivo" pitchFamily="34" charset="-120"/>
              </a:rPr>
              <a:t>Excel listo</a:t>
            </a:r>
            <a:endParaRPr lang="en-US" sz="1500" dirty="0"/>
          </a:p>
          <a:p>
            <a:pPr algn="l" indent="0" marL="0">
              <a:lnSpc>
                <a:spcPts val="1880"/>
              </a:lnSpc>
              <a:buNone/>
            </a:pPr>
            <a:r>
              <a:rPr lang="en-US" sz="1130" dirty="0">
                <a:solidFill>
                  <a:srgbClr val="1E2122"/>
                </a:solidFill>
                <a:latin typeface="Archivo" pitchFamily="34" charset="0"/>
                <a:ea typeface="Archivo" pitchFamily="34" charset="-122"/>
                <a:cs typeface="Archivo" pitchFamily="34" charset="-120"/>
              </a:rPr>
              <a:t>Datos, ganadores, incidencias y resumen.</a:t>
            </a:r>
            <a:endParaRPr lang="en-US" sz="1500" dirty="0"/>
          </a:p>
        </p:txBody>
      </p:sp>
      <p:sp>
        <p:nvSpPr>
          <p:cNvPr id="23" name="Shape 21"/>
          <p:cNvSpPr/>
          <p:nvPr/>
        </p:nvSpPr>
        <p:spPr>
          <a:xfrm>
            <a:off x="2686050" y="4476750"/>
            <a:ext cx="8820150" cy="19050"/>
          </a:xfrm>
          <a:prstGeom prst="rect">
            <a:avLst/>
          </a:prstGeom>
          <a:solidFill>
            <a:srgbClr val="1E2122"/>
          </a:solidFill>
          <a:ln/>
        </p:spPr>
      </p:sp>
      <p:sp>
        <p:nvSpPr>
          <p:cNvPr id="24" name="Text 22"/>
          <p:cNvSpPr txBox="1"/>
          <p:nvPr/>
        </p:nvSpPr>
        <p:spPr>
          <a:xfrm>
            <a:off x="2686050" y="4629150"/>
            <a:ext cx="8877300" cy="453330"/>
          </a:xfrm>
          <a:prstGeom prst="rect">
            <a:avLst/>
          </a:prstGeom>
          <a:noFill/>
          <a:ln/>
        </p:spPr>
        <p:txBody>
          <a:bodyPr wrap="square" lIns="0" tIns="0" rIns="0" bIns="0" rtlCol="0" anchor="t"/>
          <a:lstStyle/>
          <a:p>
            <a:pPr algn="l" indent="0" marL="0">
              <a:lnSpc>
                <a:spcPts val="1790"/>
              </a:lnSpc>
              <a:buNone/>
            </a:pPr>
            <a:r>
              <a:rPr lang="en-US" sz="1280" b="1" dirty="0">
                <a:solidFill>
                  <a:srgbClr val="1E2122"/>
                </a:solidFill>
                <a:latin typeface="Archivo" pitchFamily="34" charset="0"/>
                <a:ea typeface="Archivo" pitchFamily="34" charset="-122"/>
                <a:cs typeface="Archivo" pitchFamily="34" charset="-120"/>
              </a:rPr>
              <a:t>Orquestado en n8n, empaquetado en Docker.</a:t>
            </a:r>
            <a:pPr algn="l" indent="0" marL="0">
              <a:lnSpc>
                <a:spcPts val="1790"/>
              </a:lnSpc>
              <a:buNone/>
            </a:pPr>
            <a:r>
              <a:rPr lang="en-US" sz="1280" dirty="0">
                <a:solidFill>
                  <a:srgbClr val="1E2122"/>
                </a:solidFill>
                <a:latin typeface="Archivo" pitchFamily="34" charset="0"/>
                <a:ea typeface="Archivo" pitchFamily="34" charset="-122"/>
                <a:cs typeface="Archivo" pitchFamily="34" charset="-120"/>
              </a:rPr>
              <a:t> </a:t>
            </a:r>
            <a:pPr algn="l" indent="0" marL="0">
              <a:lnSpc>
                <a:spcPts val="1790"/>
              </a:lnSpc>
              <a:buNone/>
            </a:pPr>
            <a:r>
              <a:rPr lang="en-US" sz="1280" dirty="0">
                <a:solidFill>
                  <a:srgbClr val="4A4E4B"/>
                </a:solidFill>
                <a:latin typeface="Archivo" pitchFamily="34" charset="0"/>
                <a:ea typeface="Archivo" pitchFamily="34" charset="-122"/>
                <a:cs typeface="Archivo" pitchFamily="34" charset="-120"/>
              </a:rPr>
              <a:t>GRECO lo ejecuta en su propio equipo, sin depender del equipo de desarrollo.</a:t>
            </a:r>
            <a:endParaRPr lang="en-US" sz="1280" dirty="0"/>
          </a:p>
        </p:txBody>
      </p:sp>
      <p:sp>
        <p:nvSpPr>
          <p:cNvPr id="25" name="Text 23"/>
          <p:cNvSpPr txBox="1"/>
          <p:nvPr/>
        </p:nvSpPr>
        <p:spPr>
          <a:xfrm>
            <a:off x="685800" y="5524500"/>
            <a:ext cx="8629650" cy="293340"/>
          </a:xfrm>
          <a:prstGeom prst="rect">
            <a:avLst/>
          </a:prstGeom>
          <a:noFill/>
          <a:ln/>
        </p:spPr>
        <p:txBody>
          <a:bodyPr wrap="square" lIns="0" tIns="0" rIns="0" bIns="0" rtlCol="0" anchor="t"/>
          <a:lstStyle/>
          <a:p>
            <a:pPr algn="l" indent="0" marL="0">
              <a:lnSpc>
                <a:spcPts val="2310"/>
              </a:lnSpc>
              <a:buNone/>
            </a:pPr>
            <a:r>
              <a:rPr lang="en-US" sz="1650" i="1" dirty="0">
                <a:solidFill>
                  <a:srgbClr val="5F635E"/>
                </a:solidFill>
                <a:latin typeface="Source Serif 4" pitchFamily="34" charset="0"/>
                <a:ea typeface="Source Serif 4" pitchFamily="34" charset="-122"/>
                <a:cs typeface="Source Serif 4" pitchFamily="34" charset="-120"/>
              </a:rPr>
              <a:t>Si la consulta falla, no se entrega un Excel a medias: el proceso se detiene y avisa.</a:t>
            </a:r>
            <a:endParaRPr lang="en-US" sz="1650" dirty="0"/>
          </a:p>
        </p:txBody>
      </p:sp>
      <p:sp>
        <p:nvSpPr>
          <p:cNvPr id="26" name="Text 24"/>
          <p:cNvSpPr txBox="1"/>
          <p:nvPr/>
        </p:nvSpPr>
        <p:spPr>
          <a:xfrm>
            <a:off x="685800" y="6400800"/>
            <a:ext cx="3645396" cy="133350"/>
          </a:xfrm>
          <a:prstGeom prst="rect">
            <a:avLst/>
          </a:prstGeom>
          <a:noFill/>
          <a:ln/>
        </p:spPr>
        <p:txBody>
          <a:bodyPr wrap="square" lIns="0" tIns="0" rIns="0" bIns="0" rtlCol="0" anchor="t"/>
          <a:lstStyle/>
          <a:p>
            <a:pPr algn="l" indent="0" marL="0">
              <a:lnSpc>
                <a:spcPts val="1080"/>
              </a:lnSpc>
              <a:buNone/>
            </a:pPr>
            <a:r>
              <a:rPr lang="en-US" sz="900" spc="22" kern="0" dirty="0">
                <a:solidFill>
                  <a:srgbClr val="5F635E"/>
                </a:solidFill>
                <a:latin typeface="Archivo" pitchFamily="34" charset="0"/>
                <a:ea typeface="Archivo" pitchFamily="34" charset="-122"/>
                <a:cs typeface="Archivo" pitchFamily="34" charset="-120"/>
              </a:rPr>
              <a:t>Fuente: repositorio SAML (carpetas n8n e Ingesta/Transformacion).</a:t>
            </a:r>
            <a:endParaRPr lang="en-US" sz="900" dirty="0"/>
          </a:p>
        </p:txBody>
      </p:sp>
      <p:sp>
        <p:nvSpPr>
          <p:cNvPr id="27" name="Text 25"/>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2122"/>
          </a:solidFill>
          <a:ln/>
        </p:spPr>
      </p:sp>
      <p:sp>
        <p:nvSpPr>
          <p:cNvPr id="3" name="Text 1"/>
          <p:cNvSpPr txBox="1"/>
          <p:nvPr/>
        </p:nvSpPr>
        <p:spPr>
          <a:xfrm>
            <a:off x="685800" y="685800"/>
            <a:ext cx="48196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E8A33D"/>
                </a:solidFill>
                <a:latin typeface="Archivo" pitchFamily="34" charset="0"/>
                <a:ea typeface="Archivo" pitchFamily="34" charset="-122"/>
                <a:cs typeface="Archivo" pitchFamily="34" charset="-120"/>
              </a:rPr>
              <a:t>DEMO EN VIVO · 3 MINUTOS</a:t>
            </a:r>
            <a:endParaRPr lang="en-US" sz="980" dirty="0"/>
          </a:p>
        </p:txBody>
      </p:sp>
      <p:sp>
        <p:nvSpPr>
          <p:cNvPr id="4" name="Text 2"/>
          <p:cNvSpPr txBox="1"/>
          <p:nvPr/>
        </p:nvSpPr>
        <p:spPr>
          <a:xfrm>
            <a:off x="647700" y="1143000"/>
            <a:ext cx="10534650" cy="1143000"/>
          </a:xfrm>
          <a:prstGeom prst="rect">
            <a:avLst/>
          </a:prstGeom>
          <a:noFill/>
          <a:ln/>
        </p:spPr>
        <p:txBody>
          <a:bodyPr wrap="square" lIns="0" tIns="0" rIns="0" bIns="0" rtlCol="0" anchor="t"/>
          <a:lstStyle/>
          <a:p>
            <a:pPr algn="l" indent="0" marL="0">
              <a:lnSpc>
                <a:spcPts val="9000"/>
              </a:lnSpc>
              <a:buNone/>
            </a:pPr>
            <a:r>
              <a:rPr lang="en-US" sz="9000" b="1" spc="-300" kern="0" dirty="0">
                <a:solidFill>
                  <a:srgbClr val="ECE8E1"/>
                </a:solidFill>
                <a:latin typeface="Archivo" pitchFamily="34" charset="0"/>
                <a:ea typeface="Archivo" pitchFamily="34" charset="-122"/>
                <a:cs typeface="Archivo" pitchFamily="34" charset="-120"/>
              </a:rPr>
              <a:t>Del clic al Excel</a:t>
            </a:r>
            <a:endParaRPr lang="en-US" sz="9000" dirty="0"/>
          </a:p>
        </p:txBody>
      </p:sp>
      <p:sp>
        <p:nvSpPr>
          <p:cNvPr id="5" name="Shape 3"/>
          <p:cNvSpPr/>
          <p:nvPr/>
        </p:nvSpPr>
        <p:spPr>
          <a:xfrm>
            <a:off x="685800" y="3810000"/>
            <a:ext cx="10820400" cy="9525"/>
          </a:xfrm>
          <a:prstGeom prst="rect">
            <a:avLst/>
          </a:prstGeom>
          <a:solidFill>
            <a:srgbClr val="4A4F50"/>
          </a:solidFill>
          <a:ln/>
        </p:spPr>
      </p:sp>
      <p:sp>
        <p:nvSpPr>
          <p:cNvPr id="6" name="Text 4"/>
          <p:cNvSpPr txBox="1"/>
          <p:nvPr/>
        </p:nvSpPr>
        <p:spPr>
          <a:xfrm>
            <a:off x="685800" y="3981450"/>
            <a:ext cx="1200150" cy="152400"/>
          </a:xfrm>
          <a:prstGeom prst="rect">
            <a:avLst/>
          </a:prstGeom>
          <a:noFill/>
          <a:ln/>
        </p:spPr>
        <p:txBody>
          <a:bodyPr wrap="square" lIns="0" tIns="0" rIns="0" bIns="0" rtlCol="0" anchor="t"/>
          <a:lstStyle/>
          <a:p>
            <a:pPr algn="l" indent="0" marL="0">
              <a:lnSpc>
                <a:spcPts val="1350"/>
              </a:lnSpc>
              <a:buNone/>
            </a:pPr>
            <a:r>
              <a:rPr lang="en-US" sz="1130" b="1" dirty="0">
                <a:solidFill>
                  <a:srgbClr val="E8A33D"/>
                </a:solidFill>
                <a:latin typeface="Archivo" pitchFamily="34" charset="0"/>
                <a:ea typeface="Archivo" pitchFamily="34" charset="-122"/>
                <a:cs typeface="Archivo" pitchFamily="34" charset="-120"/>
              </a:rPr>
              <a:t>0:00</a:t>
            </a:r>
            <a:endParaRPr lang="en-US" sz="1130" dirty="0"/>
          </a:p>
        </p:txBody>
      </p:sp>
      <p:sp>
        <p:nvSpPr>
          <p:cNvPr id="7" name="Text 5"/>
          <p:cNvSpPr txBox="1"/>
          <p:nvPr/>
        </p:nvSpPr>
        <p:spPr>
          <a:xfrm>
            <a:off x="685800" y="4248150"/>
            <a:ext cx="2533650" cy="260003"/>
          </a:xfrm>
          <a:prstGeom prst="rect">
            <a:avLst/>
          </a:prstGeom>
          <a:noFill/>
          <a:ln/>
        </p:spPr>
        <p:txBody>
          <a:bodyPr wrap="square" lIns="0" tIns="0" rIns="0" bIns="0" rtlCol="0" anchor="t"/>
          <a:lstStyle/>
          <a:p>
            <a:pPr algn="l" indent="0" marL="0">
              <a:lnSpc>
                <a:spcPts val="2050"/>
              </a:lnSpc>
              <a:buNone/>
            </a:pPr>
            <a:r>
              <a:rPr lang="en-US" sz="1580" b="1" dirty="0">
                <a:solidFill>
                  <a:srgbClr val="ECE8E1"/>
                </a:solidFill>
                <a:latin typeface="Archivo" pitchFamily="34" charset="0"/>
                <a:ea typeface="Archivo" pitchFamily="34" charset="-122"/>
                <a:cs typeface="Archivo" pitchFamily="34" charset="-120"/>
              </a:rPr>
              <a:t>Abrir el flujo en n8n</a:t>
            </a:r>
            <a:endParaRPr lang="en-US" sz="1580" dirty="0"/>
          </a:p>
        </p:txBody>
      </p:sp>
      <p:sp>
        <p:nvSpPr>
          <p:cNvPr id="8" name="Text 6"/>
          <p:cNvSpPr txBox="1"/>
          <p:nvPr/>
        </p:nvSpPr>
        <p:spPr>
          <a:xfrm>
            <a:off x="685800" y="4838700"/>
            <a:ext cx="2438400" cy="200025"/>
          </a:xfrm>
          <a:prstGeom prst="rect">
            <a:avLst/>
          </a:prstGeom>
          <a:noFill/>
          <a:ln/>
        </p:spPr>
        <p:txBody>
          <a:bodyPr wrap="square" lIns="0" tIns="0" rIns="0" bIns="0" rtlCol="0" anchor="t"/>
          <a:lstStyle/>
          <a:p>
            <a:pPr algn="l" indent="0" marL="0">
              <a:lnSpc>
                <a:spcPts val="1580"/>
              </a:lnSpc>
              <a:buNone/>
            </a:pPr>
            <a:r>
              <a:rPr lang="en-US" sz="1130" dirty="0">
                <a:solidFill>
                  <a:srgbClr val="A9ACA6"/>
                </a:solidFill>
                <a:latin typeface="Archivo" pitchFamily="34" charset="0"/>
                <a:ea typeface="Archivo" pitchFamily="34" charset="-122"/>
                <a:cs typeface="Archivo" pitchFamily="34" charset="-120"/>
              </a:rPr>
              <a:t>Disparador, proceso y verificación.</a:t>
            </a:r>
            <a:endParaRPr lang="en-US" sz="1130" dirty="0"/>
          </a:p>
        </p:txBody>
      </p:sp>
      <p:sp>
        <p:nvSpPr>
          <p:cNvPr id="9" name="Text 7"/>
          <p:cNvSpPr txBox="1"/>
          <p:nvPr/>
        </p:nvSpPr>
        <p:spPr>
          <a:xfrm>
            <a:off x="3448050" y="3981450"/>
            <a:ext cx="1200150" cy="152400"/>
          </a:xfrm>
          <a:prstGeom prst="rect">
            <a:avLst/>
          </a:prstGeom>
          <a:noFill/>
          <a:ln/>
        </p:spPr>
        <p:txBody>
          <a:bodyPr wrap="square" lIns="0" tIns="0" rIns="0" bIns="0" rtlCol="0" anchor="t"/>
          <a:lstStyle/>
          <a:p>
            <a:pPr algn="l" indent="0" marL="0">
              <a:lnSpc>
                <a:spcPts val="1350"/>
              </a:lnSpc>
              <a:buNone/>
            </a:pPr>
            <a:r>
              <a:rPr lang="en-US" sz="1130" b="1" dirty="0">
                <a:solidFill>
                  <a:srgbClr val="E8A33D"/>
                </a:solidFill>
                <a:latin typeface="Archivo" pitchFamily="34" charset="0"/>
                <a:ea typeface="Archivo" pitchFamily="34" charset="-122"/>
                <a:cs typeface="Archivo" pitchFamily="34" charset="-120"/>
              </a:rPr>
              <a:t>0:20</a:t>
            </a:r>
            <a:endParaRPr lang="en-US" sz="1130" dirty="0"/>
          </a:p>
        </p:txBody>
      </p:sp>
      <p:sp>
        <p:nvSpPr>
          <p:cNvPr id="10" name="Text 8"/>
          <p:cNvSpPr txBox="1"/>
          <p:nvPr/>
        </p:nvSpPr>
        <p:spPr>
          <a:xfrm>
            <a:off x="3448050" y="4248150"/>
            <a:ext cx="2533650" cy="520005"/>
          </a:xfrm>
          <a:prstGeom prst="rect">
            <a:avLst/>
          </a:prstGeom>
          <a:noFill/>
          <a:ln/>
        </p:spPr>
        <p:txBody>
          <a:bodyPr wrap="square" lIns="0" tIns="0" rIns="0" bIns="0" rtlCol="0" anchor="t"/>
          <a:lstStyle/>
          <a:p>
            <a:pPr algn="l" indent="0" marL="0">
              <a:lnSpc>
                <a:spcPts val="2050"/>
              </a:lnSpc>
              <a:buNone/>
            </a:pPr>
            <a:r>
              <a:rPr lang="en-US" sz="1580" b="1" dirty="0">
                <a:solidFill>
                  <a:srgbClr val="ECE8E1"/>
                </a:solidFill>
                <a:latin typeface="Archivo" pitchFamily="34" charset="0"/>
                <a:ea typeface="Archivo" pitchFamily="34" charset="-122"/>
                <a:cs typeface="Archivo" pitchFamily="34" charset="-120"/>
              </a:rPr>
              <a:t>Ejecutar y ver los nodos en verde</a:t>
            </a:r>
            <a:endParaRPr lang="en-US" sz="1580" dirty="0"/>
          </a:p>
        </p:txBody>
      </p:sp>
      <p:sp>
        <p:nvSpPr>
          <p:cNvPr id="11" name="Text 9"/>
          <p:cNvSpPr txBox="1"/>
          <p:nvPr/>
        </p:nvSpPr>
        <p:spPr>
          <a:xfrm>
            <a:off x="3448050" y="4838700"/>
            <a:ext cx="2438400" cy="200025"/>
          </a:xfrm>
          <a:prstGeom prst="rect">
            <a:avLst/>
          </a:prstGeom>
          <a:noFill/>
          <a:ln/>
        </p:spPr>
        <p:txBody>
          <a:bodyPr wrap="square" lIns="0" tIns="0" rIns="0" bIns="0" rtlCol="0" anchor="t"/>
          <a:lstStyle/>
          <a:p>
            <a:pPr algn="l" indent="0" marL="0">
              <a:lnSpc>
                <a:spcPts val="1580"/>
              </a:lnSpc>
              <a:buNone/>
            </a:pPr>
            <a:r>
              <a:rPr lang="en-US" sz="1130" dirty="0">
                <a:solidFill>
                  <a:srgbClr val="A9ACA6"/>
                </a:solidFill>
                <a:latin typeface="Archivo" pitchFamily="34" charset="0"/>
                <a:ea typeface="Archivo" pitchFamily="34" charset="-122"/>
                <a:cs typeface="Archivo" pitchFamily="34" charset="-120"/>
              </a:rPr>
              <a:t>La verificación sale OK.</a:t>
            </a:r>
            <a:endParaRPr lang="en-US" sz="1130" dirty="0"/>
          </a:p>
        </p:txBody>
      </p:sp>
      <p:sp>
        <p:nvSpPr>
          <p:cNvPr id="12" name="Text 10"/>
          <p:cNvSpPr txBox="1"/>
          <p:nvPr/>
        </p:nvSpPr>
        <p:spPr>
          <a:xfrm>
            <a:off x="6210300" y="3981450"/>
            <a:ext cx="1200150" cy="152400"/>
          </a:xfrm>
          <a:prstGeom prst="rect">
            <a:avLst/>
          </a:prstGeom>
          <a:noFill/>
          <a:ln/>
        </p:spPr>
        <p:txBody>
          <a:bodyPr wrap="square" lIns="0" tIns="0" rIns="0" bIns="0" rtlCol="0" anchor="t"/>
          <a:lstStyle/>
          <a:p>
            <a:pPr algn="l" indent="0" marL="0">
              <a:lnSpc>
                <a:spcPts val="1350"/>
              </a:lnSpc>
              <a:buNone/>
            </a:pPr>
            <a:r>
              <a:rPr lang="en-US" sz="1130" b="1" dirty="0">
                <a:solidFill>
                  <a:srgbClr val="E8A33D"/>
                </a:solidFill>
                <a:latin typeface="Archivo" pitchFamily="34" charset="0"/>
                <a:ea typeface="Archivo" pitchFamily="34" charset="-122"/>
                <a:cs typeface="Archivo" pitchFamily="34" charset="-120"/>
              </a:rPr>
              <a:t>1:00</a:t>
            </a:r>
            <a:endParaRPr lang="en-US" sz="1130" dirty="0"/>
          </a:p>
        </p:txBody>
      </p:sp>
      <p:sp>
        <p:nvSpPr>
          <p:cNvPr id="13" name="Text 11"/>
          <p:cNvSpPr txBox="1"/>
          <p:nvPr/>
        </p:nvSpPr>
        <p:spPr>
          <a:xfrm>
            <a:off x="6210300" y="4248150"/>
            <a:ext cx="2533650" cy="520005"/>
          </a:xfrm>
          <a:prstGeom prst="rect">
            <a:avLst/>
          </a:prstGeom>
          <a:noFill/>
          <a:ln/>
        </p:spPr>
        <p:txBody>
          <a:bodyPr wrap="square" lIns="0" tIns="0" rIns="0" bIns="0" rtlCol="0" anchor="t"/>
          <a:lstStyle/>
          <a:p>
            <a:pPr algn="l" indent="0" marL="0">
              <a:lnSpc>
                <a:spcPts val="2050"/>
              </a:lnSpc>
              <a:buNone/>
            </a:pPr>
            <a:r>
              <a:rPr lang="en-US" sz="1580" b="1" dirty="0">
                <a:solidFill>
                  <a:srgbClr val="ECE8E1"/>
                </a:solidFill>
                <a:latin typeface="Archivo" pitchFamily="34" charset="0"/>
                <a:ea typeface="Archivo" pitchFamily="34" charset="-122"/>
                <a:cs typeface="Archivo" pitchFamily="34" charset="-120"/>
              </a:rPr>
              <a:t>Recorrer el Excel generado</a:t>
            </a:r>
            <a:endParaRPr lang="en-US" sz="1580" dirty="0"/>
          </a:p>
        </p:txBody>
      </p:sp>
      <p:sp>
        <p:nvSpPr>
          <p:cNvPr id="14" name="Text 12"/>
          <p:cNvSpPr txBox="1"/>
          <p:nvPr/>
        </p:nvSpPr>
        <p:spPr>
          <a:xfrm>
            <a:off x="6210300" y="4838700"/>
            <a:ext cx="2438400" cy="400050"/>
          </a:xfrm>
          <a:prstGeom prst="rect">
            <a:avLst/>
          </a:prstGeom>
          <a:noFill/>
          <a:ln/>
        </p:spPr>
        <p:txBody>
          <a:bodyPr wrap="square" lIns="0" tIns="0" rIns="0" bIns="0" rtlCol="0" anchor="t"/>
          <a:lstStyle/>
          <a:p>
            <a:pPr algn="l" indent="0" marL="0">
              <a:lnSpc>
                <a:spcPts val="1580"/>
              </a:lnSpc>
              <a:buNone/>
            </a:pPr>
            <a:r>
              <a:rPr lang="en-US" sz="1130" dirty="0">
                <a:solidFill>
                  <a:srgbClr val="A9ACA6"/>
                </a:solidFill>
                <a:latin typeface="Archivo" pitchFamily="34" charset="0"/>
                <a:ea typeface="Archivo" pitchFamily="34" charset="-122"/>
                <a:cs typeface="Archivo" pitchFamily="34" charset="-120"/>
              </a:rPr>
              <a:t>Datos, ganadores, incidencias y resumen.</a:t>
            </a:r>
            <a:endParaRPr lang="en-US" sz="1130" dirty="0"/>
          </a:p>
        </p:txBody>
      </p:sp>
      <p:sp>
        <p:nvSpPr>
          <p:cNvPr id="15" name="Text 13"/>
          <p:cNvSpPr txBox="1"/>
          <p:nvPr/>
        </p:nvSpPr>
        <p:spPr>
          <a:xfrm>
            <a:off x="8972550" y="3981450"/>
            <a:ext cx="1200150" cy="152400"/>
          </a:xfrm>
          <a:prstGeom prst="rect">
            <a:avLst/>
          </a:prstGeom>
          <a:noFill/>
          <a:ln/>
        </p:spPr>
        <p:txBody>
          <a:bodyPr wrap="square" lIns="0" tIns="0" rIns="0" bIns="0" rtlCol="0" anchor="t"/>
          <a:lstStyle/>
          <a:p>
            <a:pPr algn="l" indent="0" marL="0">
              <a:lnSpc>
                <a:spcPts val="1350"/>
              </a:lnSpc>
              <a:buNone/>
            </a:pPr>
            <a:r>
              <a:rPr lang="en-US" sz="1130" b="1" dirty="0">
                <a:solidFill>
                  <a:srgbClr val="E8A33D"/>
                </a:solidFill>
                <a:latin typeface="Archivo" pitchFamily="34" charset="0"/>
                <a:ea typeface="Archivo" pitchFamily="34" charset="-122"/>
                <a:cs typeface="Archivo" pitchFamily="34" charset="-120"/>
              </a:rPr>
              <a:t>2:30</a:t>
            </a:r>
            <a:endParaRPr lang="en-US" sz="1130" dirty="0"/>
          </a:p>
        </p:txBody>
      </p:sp>
      <p:sp>
        <p:nvSpPr>
          <p:cNvPr id="16" name="Text 14"/>
          <p:cNvSpPr txBox="1"/>
          <p:nvPr/>
        </p:nvSpPr>
        <p:spPr>
          <a:xfrm>
            <a:off x="8972550" y="4248150"/>
            <a:ext cx="2533650" cy="260003"/>
          </a:xfrm>
          <a:prstGeom prst="rect">
            <a:avLst/>
          </a:prstGeom>
          <a:noFill/>
          <a:ln/>
        </p:spPr>
        <p:txBody>
          <a:bodyPr wrap="square" lIns="0" tIns="0" rIns="0" bIns="0" rtlCol="0" anchor="t"/>
          <a:lstStyle/>
          <a:p>
            <a:pPr algn="l" indent="0" marL="0">
              <a:lnSpc>
                <a:spcPts val="2050"/>
              </a:lnSpc>
              <a:buNone/>
            </a:pPr>
            <a:r>
              <a:rPr lang="en-US" sz="1580" b="1" dirty="0">
                <a:solidFill>
                  <a:srgbClr val="ECE8E1"/>
                </a:solidFill>
                <a:latin typeface="Archivo" pitchFamily="34" charset="0"/>
                <a:ea typeface="Archivo" pitchFamily="34" charset="-122"/>
                <a:cs typeface="Archivo" pitchFamily="34" charset="-120"/>
              </a:rPr>
              <a:t>Llegar a la fuente</a:t>
            </a:r>
            <a:endParaRPr lang="en-US" sz="1580" dirty="0"/>
          </a:p>
        </p:txBody>
      </p:sp>
      <p:sp>
        <p:nvSpPr>
          <p:cNvPr id="17" name="Text 15"/>
          <p:cNvSpPr txBox="1"/>
          <p:nvPr/>
        </p:nvSpPr>
        <p:spPr>
          <a:xfrm>
            <a:off x="8972550" y="4838700"/>
            <a:ext cx="2438400" cy="200025"/>
          </a:xfrm>
          <a:prstGeom prst="rect">
            <a:avLst/>
          </a:prstGeom>
          <a:noFill/>
          <a:ln/>
        </p:spPr>
        <p:txBody>
          <a:bodyPr wrap="square" lIns="0" tIns="0" rIns="0" bIns="0" rtlCol="0" anchor="t"/>
          <a:lstStyle/>
          <a:p>
            <a:pPr algn="l" indent="0" marL="0">
              <a:lnSpc>
                <a:spcPts val="1580"/>
              </a:lnSpc>
              <a:buNone/>
            </a:pPr>
            <a:r>
              <a:rPr lang="en-US" sz="1130" dirty="0">
                <a:solidFill>
                  <a:srgbClr val="A9ACA6"/>
                </a:solidFill>
                <a:latin typeface="Archivo" pitchFamily="34" charset="0"/>
                <a:ea typeface="Archivo" pitchFamily="34" charset="-122"/>
                <a:cs typeface="Archivo" pitchFamily="34" charset="-120"/>
              </a:rPr>
              <a:t>Cada fila enlaza al proceso original.</a:t>
            </a:r>
            <a:endParaRPr lang="en-US" sz="1130" dirty="0"/>
          </a:p>
        </p:txBody>
      </p:sp>
      <p:sp>
        <p:nvSpPr>
          <p:cNvPr id="18" name="Text 16"/>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A9ACA6"/>
                </a:solidFill>
                <a:latin typeface="Source Serif 4" pitchFamily="34" charset="0"/>
                <a:ea typeface="Source Serif 4" pitchFamily="34" charset="-122"/>
                <a:cs typeface="Source Serif 4"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3EE"/>
          </a:solidFill>
          <a:ln/>
        </p:spPr>
      </p:sp>
      <p:sp>
        <p:nvSpPr>
          <p:cNvPr id="3" name="Text 1"/>
          <p:cNvSpPr txBox="1"/>
          <p:nvPr/>
        </p:nvSpPr>
        <p:spPr>
          <a:xfrm>
            <a:off x="685800" y="381000"/>
            <a:ext cx="3189684"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DEMO — LO QUE ACABAN DE VER</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Cada fila trae su enlace a la fuente y cada problema queda anotado</a:t>
            </a:r>
            <a:endParaRPr lang="en-US" sz="2700" dirty="0"/>
          </a:p>
        </p:txBody>
      </p:sp>
      <p:sp>
        <p:nvSpPr>
          <p:cNvPr id="5" name="Shape 3"/>
          <p:cNvSpPr/>
          <p:nvPr/>
        </p:nvSpPr>
        <p:spPr>
          <a:xfrm>
            <a:off x="685800" y="1962150"/>
            <a:ext cx="6477000" cy="3714750"/>
          </a:xfrm>
          <a:prstGeom prst="rect">
            <a:avLst/>
          </a:prstGeom>
          <a:solidFill>
            <a:srgbClr val="FBFAF7"/>
          </a:solidFill>
          <a:ln w="9525">
            <a:solidFill>
              <a:srgbClr val="CFC8BC"/>
            </a:solidFill>
            <a:prstDash val="solid"/>
          </a:ln>
        </p:spPr>
      </p:sp>
      <p:sp>
        <p:nvSpPr>
          <p:cNvPr id="6" name="Shape 4"/>
          <p:cNvSpPr/>
          <p:nvPr/>
        </p:nvSpPr>
        <p:spPr>
          <a:xfrm>
            <a:off x="685800" y="1962150"/>
            <a:ext cx="1295400" cy="381000"/>
          </a:xfrm>
          <a:prstGeom prst="rect">
            <a:avLst/>
          </a:prstGeom>
          <a:solidFill>
            <a:srgbClr val="D9D2C5"/>
          </a:solidFill>
          <a:ln/>
        </p:spPr>
      </p:sp>
      <p:sp>
        <p:nvSpPr>
          <p:cNvPr id="7" name="Text 5"/>
          <p:cNvSpPr txBox="1"/>
          <p:nvPr/>
        </p:nvSpPr>
        <p:spPr>
          <a:xfrm>
            <a:off x="685800" y="1962150"/>
            <a:ext cx="1352550" cy="381000"/>
          </a:xfrm>
          <a:prstGeom prst="rect">
            <a:avLst/>
          </a:prstGeom>
          <a:noFill/>
          <a:ln/>
        </p:spPr>
        <p:txBody>
          <a:bodyPr wrap="square" lIns="95250" tIns="104775" rIns="95250" bIns="104775" rtlCol="0" anchor="t"/>
          <a:lstStyle/>
          <a:p>
            <a:pPr algn="l" indent="0" marL="0">
              <a:lnSpc>
                <a:spcPts val="1170"/>
              </a:lnSpc>
              <a:buNone/>
            </a:pPr>
            <a:r>
              <a:rPr lang="en-US" sz="980" b="1" dirty="0">
                <a:solidFill>
                  <a:srgbClr val="1E2122"/>
                </a:solidFill>
                <a:latin typeface="Archivo" pitchFamily="34" charset="0"/>
                <a:ea typeface="Archivo" pitchFamily="34" charset="-122"/>
                <a:cs typeface="Archivo" pitchFamily="34" charset="-120"/>
              </a:rPr>
              <a:t>Entidad</a:t>
            </a:r>
            <a:endParaRPr lang="en-US" sz="980" dirty="0"/>
          </a:p>
        </p:txBody>
      </p:sp>
      <p:sp>
        <p:nvSpPr>
          <p:cNvPr id="8" name="Shape 6"/>
          <p:cNvSpPr/>
          <p:nvPr/>
        </p:nvSpPr>
        <p:spPr>
          <a:xfrm>
            <a:off x="1981200" y="1962150"/>
            <a:ext cx="1295400" cy="381000"/>
          </a:xfrm>
          <a:prstGeom prst="rect">
            <a:avLst/>
          </a:prstGeom>
          <a:solidFill>
            <a:srgbClr val="D9D2C5"/>
          </a:solidFill>
          <a:ln/>
        </p:spPr>
      </p:sp>
      <p:sp>
        <p:nvSpPr>
          <p:cNvPr id="9" name="Text 7"/>
          <p:cNvSpPr txBox="1"/>
          <p:nvPr/>
        </p:nvSpPr>
        <p:spPr>
          <a:xfrm>
            <a:off x="1981200" y="1962150"/>
            <a:ext cx="1352550" cy="381000"/>
          </a:xfrm>
          <a:prstGeom prst="rect">
            <a:avLst/>
          </a:prstGeom>
          <a:noFill/>
          <a:ln/>
        </p:spPr>
        <p:txBody>
          <a:bodyPr wrap="square" lIns="95250" tIns="104775" rIns="95250" bIns="104775" rtlCol="0" anchor="t"/>
          <a:lstStyle/>
          <a:p>
            <a:pPr algn="l" indent="0" marL="0">
              <a:lnSpc>
                <a:spcPts val="1170"/>
              </a:lnSpc>
              <a:buNone/>
            </a:pPr>
            <a:r>
              <a:rPr lang="en-US" sz="980" b="1" dirty="0">
                <a:solidFill>
                  <a:srgbClr val="1E2122"/>
                </a:solidFill>
                <a:latin typeface="Archivo" pitchFamily="34" charset="0"/>
                <a:ea typeface="Archivo" pitchFamily="34" charset="-122"/>
                <a:cs typeface="Archivo" pitchFamily="34" charset="-120"/>
              </a:rPr>
              <a:t>Valor millones</a:t>
            </a:r>
            <a:endParaRPr lang="en-US" sz="980" dirty="0"/>
          </a:p>
        </p:txBody>
      </p:sp>
      <p:sp>
        <p:nvSpPr>
          <p:cNvPr id="10" name="Shape 8"/>
          <p:cNvSpPr/>
          <p:nvPr/>
        </p:nvSpPr>
        <p:spPr>
          <a:xfrm>
            <a:off x="3276600" y="1962150"/>
            <a:ext cx="1295400" cy="381000"/>
          </a:xfrm>
          <a:prstGeom prst="rect">
            <a:avLst/>
          </a:prstGeom>
          <a:solidFill>
            <a:srgbClr val="D9D2C5"/>
          </a:solidFill>
          <a:ln/>
        </p:spPr>
      </p:sp>
      <p:sp>
        <p:nvSpPr>
          <p:cNvPr id="11" name="Text 9"/>
          <p:cNvSpPr txBox="1"/>
          <p:nvPr/>
        </p:nvSpPr>
        <p:spPr>
          <a:xfrm>
            <a:off x="3276600" y="1962150"/>
            <a:ext cx="1352550" cy="381000"/>
          </a:xfrm>
          <a:prstGeom prst="rect">
            <a:avLst/>
          </a:prstGeom>
          <a:noFill/>
          <a:ln/>
        </p:spPr>
        <p:txBody>
          <a:bodyPr wrap="square" lIns="95250" tIns="104775" rIns="95250" bIns="104775" rtlCol="0" anchor="t"/>
          <a:lstStyle/>
          <a:p>
            <a:pPr algn="l" indent="0" marL="0">
              <a:lnSpc>
                <a:spcPts val="1170"/>
              </a:lnSpc>
              <a:buNone/>
            </a:pPr>
            <a:r>
              <a:rPr lang="en-US" sz="980" b="1" dirty="0">
                <a:solidFill>
                  <a:srgbClr val="1E2122"/>
                </a:solidFill>
                <a:latin typeface="Archivo" pitchFamily="34" charset="0"/>
                <a:ea typeface="Archivo" pitchFamily="34" charset="-122"/>
                <a:cs typeface="Archivo" pitchFamily="34" charset="-120"/>
              </a:rPr>
              <a:t>Empresa</a:t>
            </a:r>
            <a:endParaRPr lang="en-US" sz="980" dirty="0"/>
          </a:p>
        </p:txBody>
      </p:sp>
      <p:sp>
        <p:nvSpPr>
          <p:cNvPr id="12" name="Shape 10"/>
          <p:cNvSpPr/>
          <p:nvPr/>
        </p:nvSpPr>
        <p:spPr>
          <a:xfrm>
            <a:off x="4572000" y="1962150"/>
            <a:ext cx="1295400" cy="381000"/>
          </a:xfrm>
          <a:prstGeom prst="rect">
            <a:avLst/>
          </a:prstGeom>
          <a:solidFill>
            <a:srgbClr val="1E2122"/>
          </a:solidFill>
          <a:ln/>
        </p:spPr>
      </p:sp>
      <p:sp>
        <p:nvSpPr>
          <p:cNvPr id="13" name="Text 11"/>
          <p:cNvSpPr txBox="1"/>
          <p:nvPr/>
        </p:nvSpPr>
        <p:spPr>
          <a:xfrm>
            <a:off x="4572000" y="1962150"/>
            <a:ext cx="1352550" cy="381000"/>
          </a:xfrm>
          <a:prstGeom prst="rect">
            <a:avLst/>
          </a:prstGeom>
          <a:noFill/>
          <a:ln/>
        </p:spPr>
        <p:txBody>
          <a:bodyPr wrap="square" lIns="95250" tIns="104775" rIns="95250" bIns="104775" rtlCol="0" anchor="t"/>
          <a:lstStyle/>
          <a:p>
            <a:pPr algn="l" indent="0" marL="0">
              <a:lnSpc>
                <a:spcPts val="1170"/>
              </a:lnSpc>
              <a:buNone/>
            </a:pPr>
            <a:r>
              <a:rPr lang="en-US" sz="980" b="1" dirty="0">
                <a:solidFill>
                  <a:srgbClr val="ECE8E1"/>
                </a:solidFill>
                <a:latin typeface="Archivo" pitchFamily="34" charset="0"/>
                <a:ea typeface="Archivo" pitchFamily="34" charset="-122"/>
                <a:cs typeface="Archivo" pitchFamily="34" charset="-120"/>
              </a:rPr>
              <a:t>CódigoProceso</a:t>
            </a:r>
            <a:endParaRPr lang="en-US" sz="980" dirty="0"/>
          </a:p>
        </p:txBody>
      </p:sp>
      <p:sp>
        <p:nvSpPr>
          <p:cNvPr id="14" name="Shape 12"/>
          <p:cNvSpPr/>
          <p:nvPr/>
        </p:nvSpPr>
        <p:spPr>
          <a:xfrm>
            <a:off x="5867400" y="1962150"/>
            <a:ext cx="1295400" cy="381000"/>
          </a:xfrm>
          <a:prstGeom prst="rect">
            <a:avLst/>
          </a:prstGeom>
          <a:solidFill>
            <a:srgbClr val="1E2122"/>
          </a:solidFill>
          <a:ln/>
        </p:spPr>
      </p:sp>
      <p:sp>
        <p:nvSpPr>
          <p:cNvPr id="15" name="Text 13"/>
          <p:cNvSpPr txBox="1"/>
          <p:nvPr/>
        </p:nvSpPr>
        <p:spPr>
          <a:xfrm>
            <a:off x="5867400" y="1962150"/>
            <a:ext cx="1352550" cy="381000"/>
          </a:xfrm>
          <a:prstGeom prst="rect">
            <a:avLst/>
          </a:prstGeom>
          <a:noFill/>
          <a:ln/>
        </p:spPr>
        <p:txBody>
          <a:bodyPr wrap="square" lIns="95250" tIns="104775" rIns="95250" bIns="104775" rtlCol="0" anchor="t"/>
          <a:lstStyle/>
          <a:p>
            <a:pPr algn="l" indent="0" marL="0">
              <a:lnSpc>
                <a:spcPts val="1170"/>
              </a:lnSpc>
              <a:buNone/>
            </a:pPr>
            <a:r>
              <a:rPr lang="en-US" sz="980" b="1" dirty="0">
                <a:solidFill>
                  <a:srgbClr val="ECE8E1"/>
                </a:solidFill>
                <a:latin typeface="Archivo" pitchFamily="34" charset="0"/>
                <a:ea typeface="Archivo" pitchFamily="34" charset="-122"/>
                <a:cs typeface="Archivo" pitchFamily="34" charset="-120"/>
              </a:rPr>
              <a:t>Enlace</a:t>
            </a:r>
            <a:endParaRPr lang="en-US" sz="980" dirty="0"/>
          </a:p>
        </p:txBody>
      </p:sp>
      <p:sp>
        <p:nvSpPr>
          <p:cNvPr id="16" name="Shape 14"/>
          <p:cNvSpPr/>
          <p:nvPr/>
        </p:nvSpPr>
        <p:spPr>
          <a:xfrm>
            <a:off x="838200" y="2533650"/>
            <a:ext cx="952500" cy="95250"/>
          </a:xfrm>
          <a:prstGeom prst="rect">
            <a:avLst/>
          </a:prstGeom>
          <a:solidFill>
            <a:srgbClr val="E1DBD0"/>
          </a:solidFill>
          <a:ln/>
        </p:spPr>
      </p:sp>
      <p:sp>
        <p:nvSpPr>
          <p:cNvPr id="17" name="Shape 15"/>
          <p:cNvSpPr/>
          <p:nvPr/>
        </p:nvSpPr>
        <p:spPr>
          <a:xfrm>
            <a:off x="2133600" y="2533650"/>
            <a:ext cx="571500" cy="95250"/>
          </a:xfrm>
          <a:prstGeom prst="rect">
            <a:avLst/>
          </a:prstGeom>
          <a:solidFill>
            <a:srgbClr val="E1DBD0"/>
          </a:solidFill>
          <a:ln/>
        </p:spPr>
      </p:sp>
      <p:sp>
        <p:nvSpPr>
          <p:cNvPr id="18" name="Shape 16"/>
          <p:cNvSpPr/>
          <p:nvPr/>
        </p:nvSpPr>
        <p:spPr>
          <a:xfrm>
            <a:off x="3429000" y="2533650"/>
            <a:ext cx="857250" cy="95250"/>
          </a:xfrm>
          <a:prstGeom prst="rect">
            <a:avLst/>
          </a:prstGeom>
          <a:solidFill>
            <a:srgbClr val="E1DBD0"/>
          </a:solidFill>
          <a:ln/>
        </p:spPr>
      </p:sp>
      <p:sp>
        <p:nvSpPr>
          <p:cNvPr id="19" name="Shape 17"/>
          <p:cNvSpPr/>
          <p:nvPr/>
        </p:nvSpPr>
        <p:spPr>
          <a:xfrm>
            <a:off x="4724400" y="2533650"/>
            <a:ext cx="762000" cy="95250"/>
          </a:xfrm>
          <a:prstGeom prst="rect">
            <a:avLst/>
          </a:prstGeom>
          <a:solidFill>
            <a:srgbClr val="E1DBD0"/>
          </a:solidFill>
          <a:ln/>
        </p:spPr>
      </p:sp>
      <p:sp>
        <p:nvSpPr>
          <p:cNvPr id="20" name="Shape 18"/>
          <p:cNvSpPr/>
          <p:nvPr/>
        </p:nvSpPr>
        <p:spPr>
          <a:xfrm>
            <a:off x="6019800" y="2533650"/>
            <a:ext cx="666750" cy="95250"/>
          </a:xfrm>
          <a:prstGeom prst="rect">
            <a:avLst/>
          </a:prstGeom>
          <a:solidFill>
            <a:srgbClr val="E8A33D"/>
          </a:solidFill>
          <a:ln/>
        </p:spPr>
      </p:sp>
      <p:sp>
        <p:nvSpPr>
          <p:cNvPr id="21" name="Shape 19"/>
          <p:cNvSpPr/>
          <p:nvPr/>
        </p:nvSpPr>
        <p:spPr>
          <a:xfrm>
            <a:off x="838200" y="2876550"/>
            <a:ext cx="762000" cy="95250"/>
          </a:xfrm>
          <a:prstGeom prst="rect">
            <a:avLst/>
          </a:prstGeom>
          <a:solidFill>
            <a:srgbClr val="E1DBD0"/>
          </a:solidFill>
          <a:ln/>
        </p:spPr>
      </p:sp>
      <p:sp>
        <p:nvSpPr>
          <p:cNvPr id="22" name="Shape 20"/>
          <p:cNvSpPr/>
          <p:nvPr/>
        </p:nvSpPr>
        <p:spPr>
          <a:xfrm>
            <a:off x="2133600" y="2876550"/>
            <a:ext cx="666750" cy="95250"/>
          </a:xfrm>
          <a:prstGeom prst="rect">
            <a:avLst/>
          </a:prstGeom>
          <a:solidFill>
            <a:srgbClr val="E1DBD0"/>
          </a:solidFill>
          <a:ln/>
        </p:spPr>
      </p:sp>
      <p:sp>
        <p:nvSpPr>
          <p:cNvPr id="23" name="Shape 21"/>
          <p:cNvSpPr/>
          <p:nvPr/>
        </p:nvSpPr>
        <p:spPr>
          <a:xfrm>
            <a:off x="3429000" y="2876550"/>
            <a:ext cx="952500" cy="95250"/>
          </a:xfrm>
          <a:prstGeom prst="rect">
            <a:avLst/>
          </a:prstGeom>
          <a:solidFill>
            <a:srgbClr val="E1DBD0"/>
          </a:solidFill>
          <a:ln/>
        </p:spPr>
      </p:sp>
      <p:sp>
        <p:nvSpPr>
          <p:cNvPr id="24" name="Shape 22"/>
          <p:cNvSpPr/>
          <p:nvPr/>
        </p:nvSpPr>
        <p:spPr>
          <a:xfrm>
            <a:off x="4724400" y="2876550"/>
            <a:ext cx="762000" cy="95250"/>
          </a:xfrm>
          <a:prstGeom prst="rect">
            <a:avLst/>
          </a:prstGeom>
          <a:solidFill>
            <a:srgbClr val="E1DBD0"/>
          </a:solidFill>
          <a:ln/>
        </p:spPr>
      </p:sp>
      <p:sp>
        <p:nvSpPr>
          <p:cNvPr id="25" name="Shape 23"/>
          <p:cNvSpPr/>
          <p:nvPr/>
        </p:nvSpPr>
        <p:spPr>
          <a:xfrm>
            <a:off x="6019800" y="2876550"/>
            <a:ext cx="666750" cy="95250"/>
          </a:xfrm>
          <a:prstGeom prst="rect">
            <a:avLst/>
          </a:prstGeom>
          <a:solidFill>
            <a:srgbClr val="E8A33D"/>
          </a:solidFill>
          <a:ln/>
        </p:spPr>
      </p:sp>
      <p:sp>
        <p:nvSpPr>
          <p:cNvPr id="26" name="Shape 24"/>
          <p:cNvSpPr/>
          <p:nvPr/>
        </p:nvSpPr>
        <p:spPr>
          <a:xfrm>
            <a:off x="838200" y="3219450"/>
            <a:ext cx="1047750" cy="95250"/>
          </a:xfrm>
          <a:prstGeom prst="rect">
            <a:avLst/>
          </a:prstGeom>
          <a:solidFill>
            <a:srgbClr val="E1DBD0"/>
          </a:solidFill>
          <a:ln/>
        </p:spPr>
      </p:sp>
      <p:sp>
        <p:nvSpPr>
          <p:cNvPr id="27" name="Shape 25"/>
          <p:cNvSpPr/>
          <p:nvPr/>
        </p:nvSpPr>
        <p:spPr>
          <a:xfrm>
            <a:off x="2133600" y="3219450"/>
            <a:ext cx="476250" cy="95250"/>
          </a:xfrm>
          <a:prstGeom prst="rect">
            <a:avLst/>
          </a:prstGeom>
          <a:solidFill>
            <a:srgbClr val="E1DBD0"/>
          </a:solidFill>
          <a:ln/>
        </p:spPr>
      </p:sp>
      <p:sp>
        <p:nvSpPr>
          <p:cNvPr id="28" name="Shape 26"/>
          <p:cNvSpPr/>
          <p:nvPr/>
        </p:nvSpPr>
        <p:spPr>
          <a:xfrm>
            <a:off x="3429000" y="3219450"/>
            <a:ext cx="762000" cy="95250"/>
          </a:xfrm>
          <a:prstGeom prst="rect">
            <a:avLst/>
          </a:prstGeom>
          <a:solidFill>
            <a:srgbClr val="E1DBD0"/>
          </a:solidFill>
          <a:ln/>
        </p:spPr>
      </p:sp>
      <p:sp>
        <p:nvSpPr>
          <p:cNvPr id="29" name="Shape 27"/>
          <p:cNvSpPr/>
          <p:nvPr/>
        </p:nvSpPr>
        <p:spPr>
          <a:xfrm>
            <a:off x="4724400" y="3219450"/>
            <a:ext cx="762000" cy="95250"/>
          </a:xfrm>
          <a:prstGeom prst="rect">
            <a:avLst/>
          </a:prstGeom>
          <a:solidFill>
            <a:srgbClr val="E1DBD0"/>
          </a:solidFill>
          <a:ln/>
        </p:spPr>
      </p:sp>
      <p:sp>
        <p:nvSpPr>
          <p:cNvPr id="30" name="Shape 28"/>
          <p:cNvSpPr/>
          <p:nvPr/>
        </p:nvSpPr>
        <p:spPr>
          <a:xfrm>
            <a:off x="6019800" y="3219450"/>
            <a:ext cx="666750" cy="95250"/>
          </a:xfrm>
          <a:prstGeom prst="rect">
            <a:avLst/>
          </a:prstGeom>
          <a:solidFill>
            <a:srgbClr val="E8A33D"/>
          </a:solidFill>
          <a:ln/>
        </p:spPr>
      </p:sp>
      <p:sp>
        <p:nvSpPr>
          <p:cNvPr id="31" name="Shape 29"/>
          <p:cNvSpPr/>
          <p:nvPr/>
        </p:nvSpPr>
        <p:spPr>
          <a:xfrm>
            <a:off x="838200" y="3562350"/>
            <a:ext cx="857250" cy="95250"/>
          </a:xfrm>
          <a:prstGeom prst="rect">
            <a:avLst/>
          </a:prstGeom>
          <a:solidFill>
            <a:srgbClr val="E1DBD0"/>
          </a:solidFill>
          <a:ln/>
        </p:spPr>
      </p:sp>
      <p:sp>
        <p:nvSpPr>
          <p:cNvPr id="32" name="Shape 30"/>
          <p:cNvSpPr/>
          <p:nvPr/>
        </p:nvSpPr>
        <p:spPr>
          <a:xfrm>
            <a:off x="2133600" y="3562350"/>
            <a:ext cx="628650" cy="95250"/>
          </a:xfrm>
          <a:prstGeom prst="rect">
            <a:avLst/>
          </a:prstGeom>
          <a:solidFill>
            <a:srgbClr val="E1DBD0"/>
          </a:solidFill>
          <a:ln/>
        </p:spPr>
      </p:sp>
      <p:sp>
        <p:nvSpPr>
          <p:cNvPr id="33" name="Shape 31"/>
          <p:cNvSpPr/>
          <p:nvPr/>
        </p:nvSpPr>
        <p:spPr>
          <a:xfrm>
            <a:off x="3429000" y="3562350"/>
            <a:ext cx="914400" cy="95250"/>
          </a:xfrm>
          <a:prstGeom prst="rect">
            <a:avLst/>
          </a:prstGeom>
          <a:solidFill>
            <a:srgbClr val="E1DBD0"/>
          </a:solidFill>
          <a:ln/>
        </p:spPr>
      </p:sp>
      <p:sp>
        <p:nvSpPr>
          <p:cNvPr id="34" name="Shape 32"/>
          <p:cNvSpPr/>
          <p:nvPr/>
        </p:nvSpPr>
        <p:spPr>
          <a:xfrm>
            <a:off x="4724400" y="3562350"/>
            <a:ext cx="762000" cy="95250"/>
          </a:xfrm>
          <a:prstGeom prst="rect">
            <a:avLst/>
          </a:prstGeom>
          <a:solidFill>
            <a:srgbClr val="E1DBD0"/>
          </a:solidFill>
          <a:ln/>
        </p:spPr>
      </p:sp>
      <p:sp>
        <p:nvSpPr>
          <p:cNvPr id="35" name="Shape 33"/>
          <p:cNvSpPr/>
          <p:nvPr/>
        </p:nvSpPr>
        <p:spPr>
          <a:xfrm>
            <a:off x="6019800" y="3562350"/>
            <a:ext cx="666750" cy="95250"/>
          </a:xfrm>
          <a:prstGeom prst="rect">
            <a:avLst/>
          </a:prstGeom>
          <a:solidFill>
            <a:srgbClr val="E8A33D"/>
          </a:solidFill>
          <a:ln/>
        </p:spPr>
      </p:sp>
      <p:sp>
        <p:nvSpPr>
          <p:cNvPr id="36" name="Shape 34"/>
          <p:cNvSpPr/>
          <p:nvPr/>
        </p:nvSpPr>
        <p:spPr>
          <a:xfrm>
            <a:off x="838200" y="3905250"/>
            <a:ext cx="990600" cy="95250"/>
          </a:xfrm>
          <a:prstGeom prst="rect">
            <a:avLst/>
          </a:prstGeom>
          <a:solidFill>
            <a:srgbClr val="E1DBD0"/>
          </a:solidFill>
          <a:ln/>
        </p:spPr>
      </p:sp>
      <p:sp>
        <p:nvSpPr>
          <p:cNvPr id="37" name="Shape 35"/>
          <p:cNvSpPr/>
          <p:nvPr/>
        </p:nvSpPr>
        <p:spPr>
          <a:xfrm>
            <a:off x="2133600" y="3905250"/>
            <a:ext cx="552450" cy="95250"/>
          </a:xfrm>
          <a:prstGeom prst="rect">
            <a:avLst/>
          </a:prstGeom>
          <a:solidFill>
            <a:srgbClr val="E1DBD0"/>
          </a:solidFill>
          <a:ln/>
        </p:spPr>
      </p:sp>
      <p:sp>
        <p:nvSpPr>
          <p:cNvPr id="38" name="Shape 36"/>
          <p:cNvSpPr/>
          <p:nvPr/>
        </p:nvSpPr>
        <p:spPr>
          <a:xfrm>
            <a:off x="3429000" y="3905250"/>
            <a:ext cx="800100" cy="95250"/>
          </a:xfrm>
          <a:prstGeom prst="rect">
            <a:avLst/>
          </a:prstGeom>
          <a:solidFill>
            <a:srgbClr val="E1DBD0"/>
          </a:solidFill>
          <a:ln/>
        </p:spPr>
      </p:sp>
      <p:sp>
        <p:nvSpPr>
          <p:cNvPr id="39" name="Shape 37"/>
          <p:cNvSpPr/>
          <p:nvPr/>
        </p:nvSpPr>
        <p:spPr>
          <a:xfrm>
            <a:off x="4724400" y="3905250"/>
            <a:ext cx="762000" cy="95250"/>
          </a:xfrm>
          <a:prstGeom prst="rect">
            <a:avLst/>
          </a:prstGeom>
          <a:solidFill>
            <a:srgbClr val="E1DBD0"/>
          </a:solidFill>
          <a:ln/>
        </p:spPr>
      </p:sp>
      <p:sp>
        <p:nvSpPr>
          <p:cNvPr id="40" name="Shape 38"/>
          <p:cNvSpPr/>
          <p:nvPr/>
        </p:nvSpPr>
        <p:spPr>
          <a:xfrm>
            <a:off x="6019800" y="3905250"/>
            <a:ext cx="666750" cy="95250"/>
          </a:xfrm>
          <a:prstGeom prst="rect">
            <a:avLst/>
          </a:prstGeom>
          <a:solidFill>
            <a:srgbClr val="E8A33D"/>
          </a:solidFill>
          <a:ln/>
        </p:spPr>
      </p:sp>
      <p:sp>
        <p:nvSpPr>
          <p:cNvPr id="41" name="Shape 39"/>
          <p:cNvSpPr/>
          <p:nvPr/>
        </p:nvSpPr>
        <p:spPr>
          <a:xfrm>
            <a:off x="838200" y="4248150"/>
            <a:ext cx="819150" cy="95250"/>
          </a:xfrm>
          <a:prstGeom prst="rect">
            <a:avLst/>
          </a:prstGeom>
          <a:solidFill>
            <a:srgbClr val="E1DBD0"/>
          </a:solidFill>
          <a:ln/>
        </p:spPr>
      </p:sp>
      <p:sp>
        <p:nvSpPr>
          <p:cNvPr id="42" name="Shape 40"/>
          <p:cNvSpPr/>
          <p:nvPr/>
        </p:nvSpPr>
        <p:spPr>
          <a:xfrm>
            <a:off x="2133600" y="4248150"/>
            <a:ext cx="685800" cy="95250"/>
          </a:xfrm>
          <a:prstGeom prst="rect">
            <a:avLst/>
          </a:prstGeom>
          <a:solidFill>
            <a:srgbClr val="E1DBD0"/>
          </a:solidFill>
          <a:ln/>
        </p:spPr>
      </p:sp>
      <p:sp>
        <p:nvSpPr>
          <p:cNvPr id="43" name="Shape 41"/>
          <p:cNvSpPr/>
          <p:nvPr/>
        </p:nvSpPr>
        <p:spPr>
          <a:xfrm>
            <a:off x="3429000" y="4248150"/>
            <a:ext cx="876300" cy="95250"/>
          </a:xfrm>
          <a:prstGeom prst="rect">
            <a:avLst/>
          </a:prstGeom>
          <a:solidFill>
            <a:srgbClr val="E1DBD0"/>
          </a:solidFill>
          <a:ln/>
        </p:spPr>
      </p:sp>
      <p:sp>
        <p:nvSpPr>
          <p:cNvPr id="44" name="Shape 42"/>
          <p:cNvSpPr/>
          <p:nvPr/>
        </p:nvSpPr>
        <p:spPr>
          <a:xfrm>
            <a:off x="4724400" y="4248150"/>
            <a:ext cx="762000" cy="95250"/>
          </a:xfrm>
          <a:prstGeom prst="rect">
            <a:avLst/>
          </a:prstGeom>
          <a:solidFill>
            <a:srgbClr val="E1DBD0"/>
          </a:solidFill>
          <a:ln/>
        </p:spPr>
      </p:sp>
      <p:sp>
        <p:nvSpPr>
          <p:cNvPr id="45" name="Shape 43"/>
          <p:cNvSpPr/>
          <p:nvPr/>
        </p:nvSpPr>
        <p:spPr>
          <a:xfrm>
            <a:off x="6019800" y="4248150"/>
            <a:ext cx="666750" cy="95250"/>
          </a:xfrm>
          <a:prstGeom prst="rect">
            <a:avLst/>
          </a:prstGeom>
          <a:solidFill>
            <a:srgbClr val="E8A33D"/>
          </a:solidFill>
          <a:ln/>
        </p:spPr>
      </p:sp>
      <p:sp>
        <p:nvSpPr>
          <p:cNvPr id="46" name="Shape 44"/>
          <p:cNvSpPr/>
          <p:nvPr/>
        </p:nvSpPr>
        <p:spPr>
          <a:xfrm>
            <a:off x="685800" y="5295900"/>
            <a:ext cx="1238250" cy="381000"/>
          </a:xfrm>
          <a:prstGeom prst="rect">
            <a:avLst/>
          </a:prstGeom>
          <a:solidFill>
            <a:srgbClr val="1E2122"/>
          </a:solidFill>
          <a:ln/>
        </p:spPr>
      </p:sp>
      <p:sp>
        <p:nvSpPr>
          <p:cNvPr id="47" name="Text 45"/>
          <p:cNvSpPr txBox="1"/>
          <p:nvPr/>
        </p:nvSpPr>
        <p:spPr>
          <a:xfrm>
            <a:off x="685800" y="5295900"/>
            <a:ext cx="1295400" cy="381000"/>
          </a:xfrm>
          <a:prstGeom prst="rect">
            <a:avLst/>
          </a:prstGeom>
          <a:noFill/>
          <a:ln/>
        </p:spPr>
        <p:txBody>
          <a:bodyPr wrap="square" lIns="114300" tIns="104775" rIns="114300" bIns="104775" rtlCol="0" anchor="t"/>
          <a:lstStyle/>
          <a:p>
            <a:pPr algn="l" indent="0" marL="0">
              <a:lnSpc>
                <a:spcPts val="1260"/>
              </a:lnSpc>
              <a:buNone/>
            </a:pPr>
            <a:r>
              <a:rPr lang="en-US" sz="1050" b="1" dirty="0">
                <a:solidFill>
                  <a:srgbClr val="ECE8E1"/>
                </a:solidFill>
                <a:latin typeface="Archivo" pitchFamily="34" charset="0"/>
                <a:ea typeface="Archivo" pitchFamily="34" charset="-122"/>
                <a:cs typeface="Archivo" pitchFamily="34" charset="-120"/>
              </a:rPr>
              <a:t>Datos</a:t>
            </a:r>
            <a:endParaRPr lang="en-US" sz="1050" dirty="0"/>
          </a:p>
        </p:txBody>
      </p:sp>
      <p:sp>
        <p:nvSpPr>
          <p:cNvPr id="48" name="Shape 46"/>
          <p:cNvSpPr/>
          <p:nvPr/>
        </p:nvSpPr>
        <p:spPr>
          <a:xfrm>
            <a:off x="1924050" y="5295900"/>
            <a:ext cx="1238250" cy="381000"/>
          </a:xfrm>
          <a:prstGeom prst="rect">
            <a:avLst/>
          </a:prstGeom>
          <a:solidFill>
            <a:srgbClr val="E6E0D6"/>
          </a:solidFill>
          <a:ln/>
        </p:spPr>
      </p:sp>
      <p:sp>
        <p:nvSpPr>
          <p:cNvPr id="49" name="Text 47"/>
          <p:cNvSpPr txBox="1"/>
          <p:nvPr/>
        </p:nvSpPr>
        <p:spPr>
          <a:xfrm>
            <a:off x="1924050" y="5295900"/>
            <a:ext cx="1295400" cy="381000"/>
          </a:xfrm>
          <a:prstGeom prst="rect">
            <a:avLst/>
          </a:prstGeom>
          <a:noFill/>
          <a:ln/>
        </p:spPr>
        <p:txBody>
          <a:bodyPr wrap="square" lIns="114300" tIns="104775" rIns="114300" bIns="104775" rtlCol="0" anchor="t"/>
          <a:lstStyle/>
          <a:p>
            <a:pPr algn="l" indent="0" marL="0">
              <a:lnSpc>
                <a:spcPts val="1260"/>
              </a:lnSpc>
              <a:buNone/>
            </a:pPr>
            <a:r>
              <a:rPr lang="en-US" sz="1050" dirty="0">
                <a:solidFill>
                  <a:srgbClr val="1E2122"/>
                </a:solidFill>
                <a:latin typeface="Archivo" pitchFamily="34" charset="0"/>
                <a:ea typeface="Archivo" pitchFamily="34" charset="-122"/>
                <a:cs typeface="Archivo" pitchFamily="34" charset="-120"/>
              </a:rPr>
              <a:t>Ganadores</a:t>
            </a:r>
            <a:endParaRPr lang="en-US" sz="1050" dirty="0"/>
          </a:p>
        </p:txBody>
      </p:sp>
      <p:sp>
        <p:nvSpPr>
          <p:cNvPr id="50" name="Shape 48"/>
          <p:cNvSpPr/>
          <p:nvPr/>
        </p:nvSpPr>
        <p:spPr>
          <a:xfrm>
            <a:off x="3162300" y="5295900"/>
            <a:ext cx="1238250" cy="381000"/>
          </a:xfrm>
          <a:prstGeom prst="rect">
            <a:avLst/>
          </a:prstGeom>
          <a:solidFill>
            <a:srgbClr val="E6E0D6"/>
          </a:solidFill>
          <a:ln/>
        </p:spPr>
      </p:sp>
      <p:sp>
        <p:nvSpPr>
          <p:cNvPr id="51" name="Text 49"/>
          <p:cNvSpPr txBox="1"/>
          <p:nvPr/>
        </p:nvSpPr>
        <p:spPr>
          <a:xfrm>
            <a:off x="3162300" y="5295900"/>
            <a:ext cx="1295400" cy="381000"/>
          </a:xfrm>
          <a:prstGeom prst="rect">
            <a:avLst/>
          </a:prstGeom>
          <a:noFill/>
          <a:ln/>
        </p:spPr>
        <p:txBody>
          <a:bodyPr wrap="square" lIns="114300" tIns="104775" rIns="114300" bIns="104775" rtlCol="0" anchor="t"/>
          <a:lstStyle/>
          <a:p>
            <a:pPr algn="l" indent="0" marL="0">
              <a:lnSpc>
                <a:spcPts val="1260"/>
              </a:lnSpc>
              <a:buNone/>
            </a:pPr>
            <a:r>
              <a:rPr lang="en-US" sz="1050" dirty="0">
                <a:solidFill>
                  <a:srgbClr val="1E2122"/>
                </a:solidFill>
                <a:latin typeface="Archivo" pitchFamily="34" charset="0"/>
                <a:ea typeface="Archivo" pitchFamily="34" charset="-122"/>
                <a:cs typeface="Archivo" pitchFamily="34" charset="-120"/>
              </a:rPr>
              <a:t>Incidencias</a:t>
            </a:r>
            <a:endParaRPr lang="en-US" sz="1050" dirty="0"/>
          </a:p>
        </p:txBody>
      </p:sp>
      <p:sp>
        <p:nvSpPr>
          <p:cNvPr id="52" name="Shape 50"/>
          <p:cNvSpPr/>
          <p:nvPr/>
        </p:nvSpPr>
        <p:spPr>
          <a:xfrm>
            <a:off x="4400550" y="5295900"/>
            <a:ext cx="1238250" cy="381000"/>
          </a:xfrm>
          <a:prstGeom prst="rect">
            <a:avLst/>
          </a:prstGeom>
          <a:solidFill>
            <a:srgbClr val="E6E0D6"/>
          </a:solidFill>
          <a:ln/>
        </p:spPr>
      </p:sp>
      <p:sp>
        <p:nvSpPr>
          <p:cNvPr id="53" name="Text 51"/>
          <p:cNvSpPr txBox="1"/>
          <p:nvPr/>
        </p:nvSpPr>
        <p:spPr>
          <a:xfrm>
            <a:off x="4400550" y="5295900"/>
            <a:ext cx="1295400" cy="381000"/>
          </a:xfrm>
          <a:prstGeom prst="rect">
            <a:avLst/>
          </a:prstGeom>
          <a:noFill/>
          <a:ln/>
        </p:spPr>
        <p:txBody>
          <a:bodyPr wrap="square" lIns="114300" tIns="104775" rIns="114300" bIns="104775" rtlCol="0" anchor="t"/>
          <a:lstStyle/>
          <a:p>
            <a:pPr algn="l" indent="0" marL="0">
              <a:lnSpc>
                <a:spcPts val="1260"/>
              </a:lnSpc>
              <a:buNone/>
            </a:pPr>
            <a:r>
              <a:rPr lang="en-US" sz="1050" dirty="0">
                <a:solidFill>
                  <a:srgbClr val="1E2122"/>
                </a:solidFill>
                <a:latin typeface="Archivo" pitchFamily="34" charset="0"/>
                <a:ea typeface="Archivo" pitchFamily="34" charset="-122"/>
                <a:cs typeface="Archivo" pitchFamily="34" charset="-120"/>
              </a:rPr>
              <a:t>Resumen</a:t>
            </a:r>
            <a:endParaRPr lang="en-US" sz="1050" dirty="0"/>
          </a:p>
        </p:txBody>
      </p:sp>
      <p:sp>
        <p:nvSpPr>
          <p:cNvPr id="54" name="Shape 52"/>
          <p:cNvSpPr/>
          <p:nvPr/>
        </p:nvSpPr>
        <p:spPr>
          <a:xfrm>
            <a:off x="1714500" y="1733550"/>
            <a:ext cx="285750" cy="285750"/>
          </a:xfrm>
          <a:prstGeom prst="roundRect">
            <a:avLst>
              <a:gd name="adj" fmla="val 50000"/>
            </a:avLst>
          </a:prstGeom>
          <a:solidFill>
            <a:srgbClr val="E8A33D"/>
          </a:solidFill>
          <a:ln/>
        </p:spPr>
      </p:sp>
      <p:sp>
        <p:nvSpPr>
          <p:cNvPr id="55" name="Text 53"/>
          <p:cNvSpPr txBox="1"/>
          <p:nvPr/>
        </p:nvSpPr>
        <p:spPr>
          <a:xfrm>
            <a:off x="1714500" y="1733550"/>
            <a:ext cx="342900" cy="285750"/>
          </a:xfrm>
          <a:prstGeom prst="rect">
            <a:avLst/>
          </a:prstGeom>
          <a:noFill/>
          <a:ln/>
        </p:spPr>
        <p:txBody>
          <a:bodyPr wrap="square" lIns="0" tIns="0" rIns="0" bIns="0" rtlCol="0" anchor="ctr"/>
          <a:lstStyle/>
          <a:p>
            <a:pPr algn="ctr" indent="0" marL="0">
              <a:lnSpc>
                <a:spcPts val="1260"/>
              </a:lnSpc>
              <a:buNone/>
            </a:pPr>
            <a:r>
              <a:rPr lang="en-US" sz="1050" b="1" dirty="0">
                <a:solidFill>
                  <a:srgbClr val="1E2122"/>
                </a:solidFill>
                <a:latin typeface="Archivo" pitchFamily="34" charset="0"/>
                <a:ea typeface="Archivo" pitchFamily="34" charset="-122"/>
                <a:cs typeface="Archivo" pitchFamily="34" charset="-120"/>
              </a:rPr>
              <a:t>1</a:t>
            </a:r>
            <a:endParaRPr lang="en-US" sz="1050" dirty="0"/>
          </a:p>
        </p:txBody>
      </p:sp>
      <p:sp>
        <p:nvSpPr>
          <p:cNvPr id="56" name="Shape 54"/>
          <p:cNvSpPr/>
          <p:nvPr/>
        </p:nvSpPr>
        <p:spPr>
          <a:xfrm>
            <a:off x="6896100" y="1733550"/>
            <a:ext cx="285750" cy="285750"/>
          </a:xfrm>
          <a:prstGeom prst="roundRect">
            <a:avLst>
              <a:gd name="adj" fmla="val 50000"/>
            </a:avLst>
          </a:prstGeom>
          <a:solidFill>
            <a:srgbClr val="E8A33D"/>
          </a:solidFill>
          <a:ln/>
        </p:spPr>
      </p:sp>
      <p:sp>
        <p:nvSpPr>
          <p:cNvPr id="57" name="Text 55"/>
          <p:cNvSpPr txBox="1"/>
          <p:nvPr/>
        </p:nvSpPr>
        <p:spPr>
          <a:xfrm>
            <a:off x="6896100" y="1733550"/>
            <a:ext cx="342900" cy="285750"/>
          </a:xfrm>
          <a:prstGeom prst="rect">
            <a:avLst/>
          </a:prstGeom>
          <a:noFill/>
          <a:ln/>
        </p:spPr>
        <p:txBody>
          <a:bodyPr wrap="square" lIns="0" tIns="0" rIns="0" bIns="0" rtlCol="0" anchor="ctr"/>
          <a:lstStyle/>
          <a:p>
            <a:pPr algn="ctr" indent="0" marL="0">
              <a:lnSpc>
                <a:spcPts val="1260"/>
              </a:lnSpc>
              <a:buNone/>
            </a:pPr>
            <a:r>
              <a:rPr lang="en-US" sz="1050" b="1" dirty="0">
                <a:solidFill>
                  <a:srgbClr val="1E2122"/>
                </a:solidFill>
                <a:latin typeface="Archivo" pitchFamily="34" charset="0"/>
                <a:ea typeface="Archivo" pitchFamily="34" charset="-122"/>
                <a:cs typeface="Archivo" pitchFamily="34" charset="-120"/>
              </a:rPr>
              <a:t>2</a:t>
            </a:r>
            <a:endParaRPr lang="en-US" sz="1050" dirty="0"/>
          </a:p>
        </p:txBody>
      </p:sp>
      <p:sp>
        <p:nvSpPr>
          <p:cNvPr id="58" name="Shape 56"/>
          <p:cNvSpPr/>
          <p:nvPr/>
        </p:nvSpPr>
        <p:spPr>
          <a:xfrm>
            <a:off x="2895600" y="5067300"/>
            <a:ext cx="285750" cy="285750"/>
          </a:xfrm>
          <a:prstGeom prst="roundRect">
            <a:avLst>
              <a:gd name="adj" fmla="val 50000"/>
            </a:avLst>
          </a:prstGeom>
          <a:solidFill>
            <a:srgbClr val="E8A33D"/>
          </a:solidFill>
          <a:ln/>
        </p:spPr>
      </p:sp>
      <p:sp>
        <p:nvSpPr>
          <p:cNvPr id="59" name="Text 57"/>
          <p:cNvSpPr txBox="1"/>
          <p:nvPr/>
        </p:nvSpPr>
        <p:spPr>
          <a:xfrm>
            <a:off x="2895600" y="5067300"/>
            <a:ext cx="342900" cy="285750"/>
          </a:xfrm>
          <a:prstGeom prst="rect">
            <a:avLst/>
          </a:prstGeom>
          <a:noFill/>
          <a:ln/>
        </p:spPr>
        <p:txBody>
          <a:bodyPr wrap="square" lIns="0" tIns="0" rIns="0" bIns="0" rtlCol="0" anchor="ctr"/>
          <a:lstStyle/>
          <a:p>
            <a:pPr algn="ctr" indent="0" marL="0">
              <a:lnSpc>
                <a:spcPts val="1260"/>
              </a:lnSpc>
              <a:buNone/>
            </a:pPr>
            <a:r>
              <a:rPr lang="en-US" sz="1050" b="1" dirty="0">
                <a:solidFill>
                  <a:srgbClr val="1E2122"/>
                </a:solidFill>
                <a:latin typeface="Archivo" pitchFamily="34" charset="0"/>
                <a:ea typeface="Archivo" pitchFamily="34" charset="-122"/>
                <a:cs typeface="Archivo" pitchFamily="34" charset="-120"/>
              </a:rPr>
              <a:t>3</a:t>
            </a:r>
            <a:endParaRPr lang="en-US" sz="1050" dirty="0"/>
          </a:p>
        </p:txBody>
      </p:sp>
      <p:sp>
        <p:nvSpPr>
          <p:cNvPr id="60" name="Shape 58"/>
          <p:cNvSpPr/>
          <p:nvPr/>
        </p:nvSpPr>
        <p:spPr>
          <a:xfrm>
            <a:off x="4133850" y="5067300"/>
            <a:ext cx="285750" cy="285750"/>
          </a:xfrm>
          <a:prstGeom prst="roundRect">
            <a:avLst>
              <a:gd name="adj" fmla="val 50000"/>
            </a:avLst>
          </a:prstGeom>
          <a:solidFill>
            <a:srgbClr val="E8A33D"/>
          </a:solidFill>
          <a:ln/>
        </p:spPr>
      </p:sp>
      <p:sp>
        <p:nvSpPr>
          <p:cNvPr id="61" name="Text 59"/>
          <p:cNvSpPr txBox="1"/>
          <p:nvPr/>
        </p:nvSpPr>
        <p:spPr>
          <a:xfrm>
            <a:off x="4133850" y="5067300"/>
            <a:ext cx="342900" cy="285750"/>
          </a:xfrm>
          <a:prstGeom prst="rect">
            <a:avLst/>
          </a:prstGeom>
          <a:noFill/>
          <a:ln/>
        </p:spPr>
        <p:txBody>
          <a:bodyPr wrap="square" lIns="0" tIns="0" rIns="0" bIns="0" rtlCol="0" anchor="ctr"/>
          <a:lstStyle/>
          <a:p>
            <a:pPr algn="ctr" indent="0" marL="0">
              <a:lnSpc>
                <a:spcPts val="1260"/>
              </a:lnSpc>
              <a:buNone/>
            </a:pPr>
            <a:r>
              <a:rPr lang="en-US" sz="1050" b="1" dirty="0">
                <a:solidFill>
                  <a:srgbClr val="1E2122"/>
                </a:solidFill>
                <a:latin typeface="Archivo" pitchFamily="34" charset="0"/>
                <a:ea typeface="Archivo" pitchFamily="34" charset="-122"/>
                <a:cs typeface="Archivo" pitchFamily="34" charset="-120"/>
              </a:rPr>
              <a:t>4</a:t>
            </a:r>
            <a:endParaRPr lang="en-US" sz="1050" dirty="0"/>
          </a:p>
        </p:txBody>
      </p:sp>
      <p:sp>
        <p:nvSpPr>
          <p:cNvPr id="62" name="Text 60"/>
          <p:cNvSpPr txBox="1"/>
          <p:nvPr/>
        </p:nvSpPr>
        <p:spPr>
          <a:xfrm>
            <a:off x="7715250" y="1962150"/>
            <a:ext cx="438150" cy="323850"/>
          </a:xfrm>
          <a:prstGeom prst="rect">
            <a:avLst/>
          </a:prstGeom>
          <a:noFill/>
          <a:ln/>
        </p:spPr>
        <p:txBody>
          <a:bodyPr wrap="square" lIns="0" tIns="0" rIns="0" bIns="0" rtlCol="0" anchor="t"/>
          <a:lstStyle/>
          <a:p>
            <a:pPr algn="l" indent="0" marL="0">
              <a:lnSpc>
                <a:spcPts val="2550"/>
              </a:lnSpc>
              <a:buNone/>
            </a:pPr>
            <a:r>
              <a:rPr lang="en-US" sz="2550" i="1" dirty="0">
                <a:solidFill>
                  <a:srgbClr val="9A5E12"/>
                </a:solidFill>
                <a:latin typeface="Source Serif 4" pitchFamily="34" charset="0"/>
                <a:ea typeface="Source Serif 4" pitchFamily="34" charset="-122"/>
                <a:cs typeface="Source Serif 4" pitchFamily="34" charset="-120"/>
              </a:rPr>
              <a:t>1</a:t>
            </a:r>
            <a:endParaRPr lang="en-US" sz="2550" dirty="0"/>
          </a:p>
        </p:txBody>
      </p:sp>
      <p:sp>
        <p:nvSpPr>
          <p:cNvPr id="63" name="Text 61"/>
          <p:cNvSpPr txBox="1"/>
          <p:nvPr/>
        </p:nvSpPr>
        <p:spPr>
          <a:xfrm>
            <a:off x="8153400" y="2000250"/>
            <a:ext cx="3409950" cy="453330"/>
          </a:xfrm>
          <a:prstGeom prst="rect">
            <a:avLst/>
          </a:prstGeom>
          <a:noFill/>
          <a:ln/>
        </p:spPr>
        <p:txBody>
          <a:bodyPr wrap="square" lIns="0" tIns="0" rIns="0" bIns="0" rtlCol="0" anchor="t"/>
          <a:lstStyle/>
          <a:p>
            <a:pPr algn="l" indent="0" marL="0">
              <a:lnSpc>
                <a:spcPts val="1790"/>
              </a:lnSpc>
              <a:buNone/>
            </a:pPr>
            <a:r>
              <a:rPr lang="en-US" sz="1280" b="1" dirty="0">
                <a:solidFill>
                  <a:srgbClr val="1E2122"/>
                </a:solidFill>
                <a:latin typeface="Archivo" pitchFamily="34" charset="0"/>
                <a:ea typeface="Archivo" pitchFamily="34" charset="-122"/>
                <a:cs typeface="Archivo" pitchFamily="34" charset="-120"/>
              </a:rPr>
              <a:t>Encabezados con nota.</a:t>
            </a:r>
            <a:pPr algn="l" indent="0" marL="0">
              <a:lnSpc>
                <a:spcPts val="1790"/>
              </a:lnSpc>
              <a:buNone/>
            </a:pPr>
            <a:r>
              <a:rPr lang="en-US" sz="1280" dirty="0">
                <a:solidFill>
                  <a:srgbClr val="1E2122"/>
                </a:solidFill>
                <a:latin typeface="Archivo" pitchFamily="34" charset="0"/>
                <a:ea typeface="Archivo" pitchFamily="34" charset="-122"/>
                <a:cs typeface="Archivo" pitchFamily="34" charset="-120"/>
              </a:rPr>
              <a:t> Cada columna dice de dónde sale el dato y con qué regla.</a:t>
            </a:r>
            <a:endParaRPr lang="en-US" sz="1280" dirty="0"/>
          </a:p>
        </p:txBody>
      </p:sp>
      <p:sp>
        <p:nvSpPr>
          <p:cNvPr id="64" name="Text 62"/>
          <p:cNvSpPr txBox="1"/>
          <p:nvPr/>
        </p:nvSpPr>
        <p:spPr>
          <a:xfrm>
            <a:off x="7715250" y="2914650"/>
            <a:ext cx="438150" cy="323850"/>
          </a:xfrm>
          <a:prstGeom prst="rect">
            <a:avLst/>
          </a:prstGeom>
          <a:noFill/>
          <a:ln/>
        </p:spPr>
        <p:txBody>
          <a:bodyPr wrap="square" lIns="0" tIns="0" rIns="0" bIns="0" rtlCol="0" anchor="t"/>
          <a:lstStyle/>
          <a:p>
            <a:pPr algn="l" indent="0" marL="0">
              <a:lnSpc>
                <a:spcPts val="2550"/>
              </a:lnSpc>
              <a:buNone/>
            </a:pPr>
            <a:r>
              <a:rPr lang="en-US" sz="2550" i="1" dirty="0">
                <a:solidFill>
                  <a:srgbClr val="9A5E12"/>
                </a:solidFill>
                <a:latin typeface="Source Serif 4" pitchFamily="34" charset="0"/>
                <a:ea typeface="Source Serif 4" pitchFamily="34" charset="-122"/>
                <a:cs typeface="Source Serif 4" pitchFamily="34" charset="-120"/>
              </a:rPr>
              <a:t>2</a:t>
            </a:r>
            <a:endParaRPr lang="en-US" sz="2550" dirty="0"/>
          </a:p>
        </p:txBody>
      </p:sp>
      <p:sp>
        <p:nvSpPr>
          <p:cNvPr id="65" name="Text 63"/>
          <p:cNvSpPr txBox="1"/>
          <p:nvPr/>
        </p:nvSpPr>
        <p:spPr>
          <a:xfrm>
            <a:off x="8153400" y="2952750"/>
            <a:ext cx="3409950" cy="453330"/>
          </a:xfrm>
          <a:prstGeom prst="rect">
            <a:avLst/>
          </a:prstGeom>
          <a:noFill/>
          <a:ln/>
        </p:spPr>
        <p:txBody>
          <a:bodyPr wrap="square" lIns="0" tIns="0" rIns="0" bIns="0" rtlCol="0" anchor="t"/>
          <a:lstStyle/>
          <a:p>
            <a:pPr algn="l" indent="0" marL="0">
              <a:lnSpc>
                <a:spcPts val="1790"/>
              </a:lnSpc>
              <a:buNone/>
            </a:pPr>
            <a:r>
              <a:rPr lang="en-US" sz="1280" b="1" dirty="0">
                <a:solidFill>
                  <a:srgbClr val="1E2122"/>
                </a:solidFill>
                <a:latin typeface="Archivo" pitchFamily="34" charset="0"/>
                <a:ea typeface="Archivo" pitchFamily="34" charset="-122"/>
                <a:cs typeface="Archivo" pitchFamily="34" charset="-120"/>
              </a:rPr>
              <a:t>Trazabilidad.</a:t>
            </a:r>
            <a:pPr algn="l" indent="0" marL="0">
              <a:lnSpc>
                <a:spcPts val="1790"/>
              </a:lnSpc>
              <a:buNone/>
            </a:pPr>
            <a:r>
              <a:rPr lang="en-US" sz="1280" dirty="0">
                <a:solidFill>
                  <a:srgbClr val="1E2122"/>
                </a:solidFill>
                <a:latin typeface="Archivo" pitchFamily="34" charset="0"/>
                <a:ea typeface="Archivo" pitchFamily="34" charset="-122"/>
                <a:cs typeface="Archivo" pitchFamily="34" charset="-120"/>
              </a:rPr>
              <a:t> Código y enlace del proceso: se puede verificar en la fuente.</a:t>
            </a:r>
            <a:endParaRPr lang="en-US" sz="1280" dirty="0"/>
          </a:p>
        </p:txBody>
      </p:sp>
      <p:sp>
        <p:nvSpPr>
          <p:cNvPr id="66" name="Text 64"/>
          <p:cNvSpPr txBox="1"/>
          <p:nvPr/>
        </p:nvSpPr>
        <p:spPr>
          <a:xfrm>
            <a:off x="7715250" y="3867150"/>
            <a:ext cx="438150" cy="323850"/>
          </a:xfrm>
          <a:prstGeom prst="rect">
            <a:avLst/>
          </a:prstGeom>
          <a:noFill/>
          <a:ln/>
        </p:spPr>
        <p:txBody>
          <a:bodyPr wrap="square" lIns="0" tIns="0" rIns="0" bIns="0" rtlCol="0" anchor="t"/>
          <a:lstStyle/>
          <a:p>
            <a:pPr algn="l" indent="0" marL="0">
              <a:lnSpc>
                <a:spcPts val="2550"/>
              </a:lnSpc>
              <a:buNone/>
            </a:pPr>
            <a:r>
              <a:rPr lang="en-US" sz="2550" i="1" dirty="0">
                <a:solidFill>
                  <a:srgbClr val="9A5E12"/>
                </a:solidFill>
                <a:latin typeface="Source Serif 4" pitchFamily="34" charset="0"/>
                <a:ea typeface="Source Serif 4" pitchFamily="34" charset="-122"/>
                <a:cs typeface="Source Serif 4" pitchFamily="34" charset="-120"/>
              </a:rPr>
              <a:t>3</a:t>
            </a:r>
            <a:endParaRPr lang="en-US" sz="2550" dirty="0"/>
          </a:p>
        </p:txBody>
      </p:sp>
      <p:sp>
        <p:nvSpPr>
          <p:cNvPr id="67" name="Text 65"/>
          <p:cNvSpPr txBox="1"/>
          <p:nvPr/>
        </p:nvSpPr>
        <p:spPr>
          <a:xfrm>
            <a:off x="8153400" y="3905250"/>
            <a:ext cx="3409950" cy="453330"/>
          </a:xfrm>
          <a:prstGeom prst="rect">
            <a:avLst/>
          </a:prstGeom>
          <a:noFill/>
          <a:ln/>
        </p:spPr>
        <p:txBody>
          <a:bodyPr wrap="square" lIns="0" tIns="0" rIns="0" bIns="0" rtlCol="0" anchor="t"/>
          <a:lstStyle/>
          <a:p>
            <a:pPr algn="l" indent="0" marL="0">
              <a:lnSpc>
                <a:spcPts val="1790"/>
              </a:lnSpc>
              <a:buNone/>
            </a:pPr>
            <a:r>
              <a:rPr lang="en-US" sz="1280" b="1" dirty="0">
                <a:solidFill>
                  <a:srgbClr val="1E2122"/>
                </a:solidFill>
                <a:latin typeface="Archivo" pitchFamily="34" charset="0"/>
                <a:ea typeface="Archivo" pitchFamily="34" charset="-122"/>
                <a:cs typeface="Archivo" pitchFamily="34" charset="-120"/>
              </a:rPr>
              <a:t>Ganadores.</a:t>
            </a:r>
            <a:pPr algn="l" indent="0" marL="0">
              <a:lnSpc>
                <a:spcPts val="1790"/>
              </a:lnSpc>
              <a:buNone/>
            </a:pPr>
            <a:r>
              <a:rPr lang="en-US" sz="1280" dirty="0">
                <a:solidFill>
                  <a:srgbClr val="1E2122"/>
                </a:solidFill>
                <a:latin typeface="Archivo" pitchFamily="34" charset="0"/>
                <a:ea typeface="Archivo" pitchFamily="34" charset="-122"/>
                <a:cs typeface="Archivo" pitchFamily="34" charset="-120"/>
              </a:rPr>
              <a:t> Una fila por empresa, incluidos los integrantes de consorcios.</a:t>
            </a:r>
            <a:endParaRPr lang="en-US" sz="1280" dirty="0"/>
          </a:p>
        </p:txBody>
      </p:sp>
      <p:sp>
        <p:nvSpPr>
          <p:cNvPr id="68" name="Text 66"/>
          <p:cNvSpPr txBox="1"/>
          <p:nvPr/>
        </p:nvSpPr>
        <p:spPr>
          <a:xfrm>
            <a:off x="7715250" y="4819650"/>
            <a:ext cx="438150" cy="323850"/>
          </a:xfrm>
          <a:prstGeom prst="rect">
            <a:avLst/>
          </a:prstGeom>
          <a:noFill/>
          <a:ln/>
        </p:spPr>
        <p:txBody>
          <a:bodyPr wrap="square" lIns="0" tIns="0" rIns="0" bIns="0" rtlCol="0" anchor="t"/>
          <a:lstStyle/>
          <a:p>
            <a:pPr algn="l" indent="0" marL="0">
              <a:lnSpc>
                <a:spcPts val="2550"/>
              </a:lnSpc>
              <a:buNone/>
            </a:pPr>
            <a:r>
              <a:rPr lang="en-US" sz="2550" i="1" dirty="0">
                <a:solidFill>
                  <a:srgbClr val="9A5E12"/>
                </a:solidFill>
                <a:latin typeface="Source Serif 4" pitchFamily="34" charset="0"/>
                <a:ea typeface="Source Serif 4" pitchFamily="34" charset="-122"/>
                <a:cs typeface="Source Serif 4" pitchFamily="34" charset="-120"/>
              </a:rPr>
              <a:t>4</a:t>
            </a:r>
            <a:endParaRPr lang="en-US" sz="2550" dirty="0"/>
          </a:p>
        </p:txBody>
      </p:sp>
      <p:sp>
        <p:nvSpPr>
          <p:cNvPr id="69" name="Text 67"/>
          <p:cNvSpPr txBox="1"/>
          <p:nvPr/>
        </p:nvSpPr>
        <p:spPr>
          <a:xfrm>
            <a:off x="8153400" y="4857750"/>
            <a:ext cx="3409950" cy="453330"/>
          </a:xfrm>
          <a:prstGeom prst="rect">
            <a:avLst/>
          </a:prstGeom>
          <a:noFill/>
          <a:ln/>
        </p:spPr>
        <p:txBody>
          <a:bodyPr wrap="square" lIns="0" tIns="0" rIns="0" bIns="0" rtlCol="0" anchor="t"/>
          <a:lstStyle/>
          <a:p>
            <a:pPr algn="l" indent="0" marL="0">
              <a:lnSpc>
                <a:spcPts val="1790"/>
              </a:lnSpc>
              <a:buNone/>
            </a:pPr>
            <a:r>
              <a:rPr lang="en-US" sz="1280" b="1" dirty="0">
                <a:solidFill>
                  <a:srgbClr val="1E2122"/>
                </a:solidFill>
                <a:latin typeface="Archivo" pitchFamily="34" charset="0"/>
                <a:ea typeface="Archivo" pitchFamily="34" charset="-122"/>
                <a:cs typeface="Archivo" pitchFamily="34" charset="-120"/>
              </a:rPr>
              <a:t>Incidencias.</a:t>
            </a:r>
            <a:pPr algn="l" indent="0" marL="0">
              <a:lnSpc>
                <a:spcPts val="1790"/>
              </a:lnSpc>
              <a:buNone/>
            </a:pPr>
            <a:r>
              <a:rPr lang="en-US" sz="1280" dirty="0">
                <a:solidFill>
                  <a:srgbClr val="1E2122"/>
                </a:solidFill>
                <a:latin typeface="Archivo" pitchFamily="34" charset="0"/>
                <a:ea typeface="Archivo" pitchFamily="34" charset="-122"/>
                <a:cs typeface="Archivo" pitchFamily="34" charset="-120"/>
              </a:rPr>
              <a:t> Todo dato vacío o dudoso queda anotado con su causa.</a:t>
            </a:r>
            <a:endParaRPr lang="en-US" sz="1280" dirty="0"/>
          </a:p>
        </p:txBody>
      </p:sp>
      <p:sp>
        <p:nvSpPr>
          <p:cNvPr id="70" name="Text 68"/>
          <p:cNvSpPr txBox="1"/>
          <p:nvPr/>
        </p:nvSpPr>
        <p:spPr>
          <a:xfrm>
            <a:off x="685800" y="6400800"/>
            <a:ext cx="3971627" cy="133350"/>
          </a:xfrm>
          <a:prstGeom prst="rect">
            <a:avLst/>
          </a:prstGeom>
          <a:noFill/>
          <a:ln/>
        </p:spPr>
        <p:txBody>
          <a:bodyPr wrap="square" lIns="0" tIns="0" rIns="0" bIns="0" rtlCol="0" anchor="t"/>
          <a:lstStyle/>
          <a:p>
            <a:pPr algn="l" indent="0" marL="0">
              <a:lnSpc>
                <a:spcPts val="1080"/>
              </a:lnSpc>
              <a:buNone/>
            </a:pPr>
            <a:r>
              <a:rPr lang="en-US" sz="900" spc="22" kern="0" dirty="0">
                <a:solidFill>
                  <a:srgbClr val="5F635E"/>
                </a:solidFill>
                <a:latin typeface="Archivo" pitchFamily="34" charset="0"/>
                <a:ea typeface="Archivo" pitchFamily="34" charset="-122"/>
                <a:cs typeface="Archivo" pitchFamily="34" charset="-120"/>
              </a:rPr>
              <a:t>Esquema ilustrativo del Excel que genera SAML; no muestra datos reales.</a:t>
            </a:r>
            <a:endParaRPr lang="en-US" sz="900" dirty="0"/>
          </a:p>
        </p:txBody>
      </p:sp>
      <p:sp>
        <p:nvSpPr>
          <p:cNvPr id="71" name="Text 69"/>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8E1"/>
          </a:solidFill>
          <a:ln/>
        </p:spPr>
      </p:sp>
      <p:pic>
        <p:nvPicPr>
          <p:cNvPr id="3" name="Image 0" descr="preencoded.png">    </p:cNvPr>
          <p:cNvPicPr>
            <a:picLocks noChangeAspect="1"/>
          </p:cNvPicPr>
          <p:nvPr/>
        </p:nvPicPr>
        <p:blipFill>
          <a:blip r:embed="rId1"/>
          <a:srcRect l="0" r="0" t="0" b="0"/>
          <a:stretch/>
        </p:blipFill>
        <p:spPr>
          <a:xfrm>
            <a:off x="0" y="0"/>
            <a:ext cx="5334000" cy="6858000"/>
          </a:xfrm>
          <a:prstGeom prst="rect">
            <a:avLst/>
          </a:prstGeom>
        </p:spPr>
      </p:pic>
      <p:sp>
        <p:nvSpPr>
          <p:cNvPr id="4" name="Text 1"/>
          <p:cNvSpPr txBox="1"/>
          <p:nvPr/>
        </p:nvSpPr>
        <p:spPr>
          <a:xfrm>
            <a:off x="6019800" y="685800"/>
            <a:ext cx="5391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9A5E12"/>
                </a:solidFill>
                <a:latin typeface="Archivo" pitchFamily="34" charset="0"/>
                <a:ea typeface="Archivo" pitchFamily="34" charset="-122"/>
                <a:cs typeface="Archivo" pitchFamily="34" charset="-120"/>
              </a:rPr>
              <a:t>VALOR PARA GRECO</a:t>
            </a:r>
            <a:endParaRPr lang="en-US" sz="980" dirty="0"/>
          </a:p>
        </p:txBody>
      </p:sp>
      <p:sp>
        <p:nvSpPr>
          <p:cNvPr id="5" name="Text 2"/>
          <p:cNvSpPr txBox="1"/>
          <p:nvPr/>
        </p:nvSpPr>
        <p:spPr>
          <a:xfrm>
            <a:off x="6019800" y="990600"/>
            <a:ext cx="5543550" cy="946249"/>
          </a:xfrm>
          <a:prstGeom prst="rect">
            <a:avLst/>
          </a:prstGeom>
          <a:noFill/>
          <a:ln/>
        </p:spPr>
        <p:txBody>
          <a:bodyPr wrap="square" lIns="0" tIns="0" rIns="0" bIns="0" rtlCol="0" anchor="t"/>
          <a:lstStyle/>
          <a:p>
            <a:pPr algn="l" indent="0" marL="0">
              <a:lnSpc>
                <a:spcPts val="3730"/>
              </a:lnSpc>
              <a:buNone/>
            </a:pPr>
            <a:r>
              <a:rPr lang="en-US" sz="3450" b="1" spc="-90" kern="0" dirty="0">
                <a:solidFill>
                  <a:srgbClr val="1E2122"/>
                </a:solidFill>
                <a:latin typeface="Archivo" pitchFamily="34" charset="0"/>
                <a:ea typeface="Archivo" pitchFamily="34" charset="-122"/>
                <a:cs typeface="Archivo" pitchFamily="34" charset="-120"/>
              </a:rPr>
              <a:t>El equipo comercial vende en vez de buscar</a:t>
            </a:r>
            <a:endParaRPr lang="en-US" sz="3450" dirty="0"/>
          </a:p>
        </p:txBody>
      </p:sp>
      <p:sp>
        <p:nvSpPr>
          <p:cNvPr id="6" name="Shape 3"/>
          <p:cNvSpPr/>
          <p:nvPr/>
        </p:nvSpPr>
        <p:spPr>
          <a:xfrm>
            <a:off x="6019800" y="2457450"/>
            <a:ext cx="5486400" cy="9525"/>
          </a:xfrm>
          <a:prstGeom prst="rect">
            <a:avLst/>
          </a:prstGeom>
          <a:solidFill>
            <a:srgbClr val="C9C2B6"/>
          </a:solidFill>
          <a:ln/>
        </p:spPr>
      </p:sp>
      <p:sp>
        <p:nvSpPr>
          <p:cNvPr id="7" name="Text 4"/>
          <p:cNvSpPr txBox="1"/>
          <p:nvPr/>
        </p:nvSpPr>
        <p:spPr>
          <a:xfrm>
            <a:off x="6019800" y="2628900"/>
            <a:ext cx="1771650" cy="228600"/>
          </a:xfrm>
          <a:prstGeom prst="rect">
            <a:avLst/>
          </a:prstGeom>
          <a:noFill/>
          <a:ln/>
        </p:spPr>
        <p:txBody>
          <a:bodyPr wrap="square" lIns="0" tIns="0" rIns="0" bIns="0" rtlCol="0" anchor="t"/>
          <a:lstStyle/>
          <a:p>
            <a:pPr algn="l" indent="0" marL="0">
              <a:lnSpc>
                <a:spcPts val="1980"/>
              </a:lnSpc>
              <a:buNone/>
            </a:pPr>
            <a:r>
              <a:rPr lang="en-US" sz="1650" b="1" dirty="0">
                <a:solidFill>
                  <a:srgbClr val="1E2122"/>
                </a:solidFill>
                <a:latin typeface="Archivo" pitchFamily="34" charset="0"/>
                <a:ea typeface="Archivo" pitchFamily="34" charset="-122"/>
                <a:cs typeface="Archivo" pitchFamily="34" charset="-120"/>
              </a:rPr>
              <a:t>Sin transcribir</a:t>
            </a:r>
            <a:endParaRPr lang="en-US" sz="1650" dirty="0"/>
          </a:p>
        </p:txBody>
      </p:sp>
      <p:sp>
        <p:nvSpPr>
          <p:cNvPr id="8" name="Text 5"/>
          <p:cNvSpPr txBox="1"/>
          <p:nvPr/>
        </p:nvSpPr>
        <p:spPr>
          <a:xfrm>
            <a:off x="7829550" y="2647950"/>
            <a:ext cx="3733800" cy="453330"/>
          </a:xfrm>
          <a:prstGeom prst="rect">
            <a:avLst/>
          </a:prstGeom>
          <a:noFill/>
          <a:ln/>
        </p:spPr>
        <p:txBody>
          <a:bodyPr wrap="square" lIns="0" tIns="0" rIns="0" bIns="0" rtlCol="0" anchor="t"/>
          <a:lstStyle/>
          <a:p>
            <a:pPr algn="l" indent="0" marL="0">
              <a:lnSpc>
                <a:spcPts val="1790"/>
              </a:lnSpc>
              <a:buNone/>
            </a:pPr>
            <a:r>
              <a:rPr lang="en-US" sz="1280" dirty="0">
                <a:solidFill>
                  <a:srgbClr val="4A4E4B"/>
                </a:solidFill>
                <a:latin typeface="Archivo" pitchFamily="34" charset="0"/>
                <a:ea typeface="Archivo" pitchFamily="34" charset="-122"/>
                <a:cs typeface="Archivo" pitchFamily="34" charset="-120"/>
              </a:rPr>
              <a:t>Las obras adjudicadas llegan organizadas; nadie las copia a mano.</a:t>
            </a:r>
            <a:endParaRPr lang="en-US" sz="1280" dirty="0"/>
          </a:p>
        </p:txBody>
      </p:sp>
      <p:sp>
        <p:nvSpPr>
          <p:cNvPr id="9" name="Shape 6"/>
          <p:cNvSpPr/>
          <p:nvPr/>
        </p:nvSpPr>
        <p:spPr>
          <a:xfrm>
            <a:off x="6019800" y="3371850"/>
            <a:ext cx="5486400" cy="9525"/>
          </a:xfrm>
          <a:prstGeom prst="rect">
            <a:avLst/>
          </a:prstGeom>
          <a:solidFill>
            <a:srgbClr val="C9C2B6"/>
          </a:solidFill>
          <a:ln/>
        </p:spPr>
      </p:sp>
      <p:sp>
        <p:nvSpPr>
          <p:cNvPr id="10" name="Text 7"/>
          <p:cNvSpPr txBox="1"/>
          <p:nvPr/>
        </p:nvSpPr>
        <p:spPr>
          <a:xfrm>
            <a:off x="6019800" y="3543300"/>
            <a:ext cx="1771650" cy="228600"/>
          </a:xfrm>
          <a:prstGeom prst="rect">
            <a:avLst/>
          </a:prstGeom>
          <a:noFill/>
          <a:ln/>
        </p:spPr>
        <p:txBody>
          <a:bodyPr wrap="square" lIns="0" tIns="0" rIns="0" bIns="0" rtlCol="0" anchor="t"/>
          <a:lstStyle/>
          <a:p>
            <a:pPr algn="l" indent="0" marL="0">
              <a:lnSpc>
                <a:spcPts val="1980"/>
              </a:lnSpc>
              <a:buNone/>
            </a:pPr>
            <a:r>
              <a:rPr lang="en-US" sz="1650" b="1" dirty="0">
                <a:solidFill>
                  <a:srgbClr val="1E2122"/>
                </a:solidFill>
                <a:latin typeface="Archivo" pitchFamily="34" charset="0"/>
                <a:ea typeface="Archivo" pitchFamily="34" charset="-122"/>
                <a:cs typeface="Archivo" pitchFamily="34" charset="-120"/>
              </a:rPr>
              <a:t>Confiable</a:t>
            </a:r>
            <a:endParaRPr lang="en-US" sz="1650" dirty="0"/>
          </a:p>
        </p:txBody>
      </p:sp>
      <p:sp>
        <p:nvSpPr>
          <p:cNvPr id="11" name="Text 8"/>
          <p:cNvSpPr txBox="1"/>
          <p:nvPr/>
        </p:nvSpPr>
        <p:spPr>
          <a:xfrm>
            <a:off x="7829550" y="3562350"/>
            <a:ext cx="3733800" cy="453330"/>
          </a:xfrm>
          <a:prstGeom prst="rect">
            <a:avLst/>
          </a:prstGeom>
          <a:noFill/>
          <a:ln/>
        </p:spPr>
        <p:txBody>
          <a:bodyPr wrap="square" lIns="0" tIns="0" rIns="0" bIns="0" rtlCol="0" anchor="t"/>
          <a:lstStyle/>
          <a:p>
            <a:pPr algn="l" indent="0" marL="0">
              <a:lnSpc>
                <a:spcPts val="1790"/>
              </a:lnSpc>
              <a:buNone/>
            </a:pPr>
            <a:r>
              <a:rPr lang="en-US" sz="1280" dirty="0">
                <a:solidFill>
                  <a:srgbClr val="4A4E4B"/>
                </a:solidFill>
                <a:latin typeface="Archivo" pitchFamily="34" charset="0"/>
                <a:ea typeface="Archivo" pitchFamily="34" charset="-122"/>
                <a:cs typeface="Archivo" pitchFamily="34" charset="-120"/>
              </a:rPr>
              <a:t>Sin duplicados, con enlace a la fuente y los problemas a la vista.</a:t>
            </a:r>
            <a:endParaRPr lang="en-US" sz="1280" dirty="0"/>
          </a:p>
        </p:txBody>
      </p:sp>
      <p:sp>
        <p:nvSpPr>
          <p:cNvPr id="12" name="Shape 9"/>
          <p:cNvSpPr/>
          <p:nvPr/>
        </p:nvSpPr>
        <p:spPr>
          <a:xfrm>
            <a:off x="6019800" y="4286250"/>
            <a:ext cx="5486400" cy="9525"/>
          </a:xfrm>
          <a:prstGeom prst="rect">
            <a:avLst/>
          </a:prstGeom>
          <a:solidFill>
            <a:srgbClr val="C9C2B6"/>
          </a:solidFill>
          <a:ln/>
        </p:spPr>
      </p:sp>
      <p:sp>
        <p:nvSpPr>
          <p:cNvPr id="13" name="Text 10"/>
          <p:cNvSpPr txBox="1"/>
          <p:nvPr/>
        </p:nvSpPr>
        <p:spPr>
          <a:xfrm>
            <a:off x="6019800" y="4457700"/>
            <a:ext cx="1771650" cy="228600"/>
          </a:xfrm>
          <a:prstGeom prst="rect">
            <a:avLst/>
          </a:prstGeom>
          <a:noFill/>
          <a:ln/>
        </p:spPr>
        <p:txBody>
          <a:bodyPr wrap="square" lIns="0" tIns="0" rIns="0" bIns="0" rtlCol="0" anchor="t"/>
          <a:lstStyle/>
          <a:p>
            <a:pPr algn="l" indent="0" marL="0">
              <a:lnSpc>
                <a:spcPts val="1980"/>
              </a:lnSpc>
              <a:buNone/>
            </a:pPr>
            <a:r>
              <a:rPr lang="en-US" sz="1650" b="1" dirty="0">
                <a:solidFill>
                  <a:srgbClr val="1E2122"/>
                </a:solidFill>
                <a:latin typeface="Archivo" pitchFamily="34" charset="0"/>
                <a:ea typeface="Archivo" pitchFamily="34" charset="-122"/>
                <a:cs typeface="Archivo" pitchFamily="34" charset="-120"/>
              </a:rPr>
              <a:t>Autónomo</a:t>
            </a:r>
            <a:endParaRPr lang="en-US" sz="1650" dirty="0"/>
          </a:p>
        </p:txBody>
      </p:sp>
      <p:sp>
        <p:nvSpPr>
          <p:cNvPr id="14" name="Text 11"/>
          <p:cNvSpPr txBox="1"/>
          <p:nvPr/>
        </p:nvSpPr>
        <p:spPr>
          <a:xfrm>
            <a:off x="7829550" y="4476750"/>
            <a:ext cx="3733800" cy="453330"/>
          </a:xfrm>
          <a:prstGeom prst="rect">
            <a:avLst/>
          </a:prstGeom>
          <a:noFill/>
          <a:ln/>
        </p:spPr>
        <p:txBody>
          <a:bodyPr wrap="square" lIns="0" tIns="0" rIns="0" bIns="0" rtlCol="0" anchor="t"/>
          <a:lstStyle/>
          <a:p>
            <a:pPr algn="l" indent="0" marL="0">
              <a:lnSpc>
                <a:spcPts val="1790"/>
              </a:lnSpc>
              <a:buNone/>
            </a:pPr>
            <a:r>
              <a:rPr lang="en-US" sz="1280" dirty="0">
                <a:solidFill>
                  <a:srgbClr val="4A4E4B"/>
                </a:solidFill>
                <a:latin typeface="Archivo" pitchFamily="34" charset="0"/>
                <a:ea typeface="Archivo" pitchFamily="34" charset="-122"/>
                <a:cs typeface="Archivo" pitchFamily="34" charset="-120"/>
              </a:rPr>
              <a:t>Empaquetado en Docker: GRECO lo opera sin depender del equipo.</a:t>
            </a:r>
            <a:endParaRPr lang="en-US" sz="1280" dirty="0"/>
          </a:p>
        </p:txBody>
      </p:sp>
      <p:sp>
        <p:nvSpPr>
          <p:cNvPr id="15" name="Shape 12"/>
          <p:cNvSpPr/>
          <p:nvPr/>
        </p:nvSpPr>
        <p:spPr>
          <a:xfrm>
            <a:off x="6019800" y="5200650"/>
            <a:ext cx="5486400" cy="9525"/>
          </a:xfrm>
          <a:prstGeom prst="rect">
            <a:avLst/>
          </a:prstGeom>
          <a:solidFill>
            <a:srgbClr val="C9C2B6"/>
          </a:solidFill>
          <a:ln/>
        </p:spPr>
      </p:sp>
      <p:sp>
        <p:nvSpPr>
          <p:cNvPr id="16" name="Shape 13"/>
          <p:cNvSpPr/>
          <p:nvPr/>
        </p:nvSpPr>
        <p:spPr>
          <a:xfrm>
            <a:off x="6019800" y="5505450"/>
            <a:ext cx="5486400" cy="758130"/>
          </a:xfrm>
          <a:prstGeom prst="roundRect">
            <a:avLst>
              <a:gd name="adj" fmla="val 5026"/>
            </a:avLst>
          </a:prstGeom>
          <a:solidFill>
            <a:srgbClr val="1E2122"/>
          </a:solidFill>
          <a:ln/>
        </p:spPr>
      </p:sp>
      <p:sp>
        <p:nvSpPr>
          <p:cNvPr id="17" name="Text 14"/>
          <p:cNvSpPr txBox="1"/>
          <p:nvPr/>
        </p:nvSpPr>
        <p:spPr>
          <a:xfrm>
            <a:off x="6019800" y="5505450"/>
            <a:ext cx="5543550" cy="758130"/>
          </a:xfrm>
          <a:prstGeom prst="rect">
            <a:avLst/>
          </a:prstGeom>
          <a:noFill/>
          <a:ln/>
        </p:spPr>
        <p:txBody>
          <a:bodyPr wrap="square" lIns="190500" tIns="152400" rIns="190500" bIns="152400" rtlCol="0" anchor="t"/>
          <a:lstStyle/>
          <a:p>
            <a:pPr algn="l" indent="0" marL="0">
              <a:lnSpc>
                <a:spcPts val="1790"/>
              </a:lnSpc>
              <a:buNone/>
            </a:pPr>
            <a:r>
              <a:rPr lang="en-US" sz="1280" b="1" dirty="0">
                <a:solidFill>
                  <a:srgbClr val="E8A33D"/>
                </a:solidFill>
                <a:latin typeface="Archivo" pitchFamily="34" charset="0"/>
                <a:ea typeface="Archivo" pitchFamily="34" charset="-122"/>
                <a:cs typeface="Archivo" pitchFamily="34" charset="-120"/>
              </a:rPr>
              <a:t>Lo que sigue:</a:t>
            </a:r>
            <a:pPr algn="l" indent="0" marL="0">
              <a:lnSpc>
                <a:spcPts val="1790"/>
              </a:lnSpc>
              <a:buNone/>
            </a:pPr>
            <a:r>
              <a:rPr lang="en-US" sz="1280" dirty="0">
                <a:solidFill>
                  <a:srgbClr val="ECE8E1"/>
                </a:solidFill>
                <a:latin typeface="Archivo" pitchFamily="34" charset="0"/>
                <a:ea typeface="Archivo" pitchFamily="34" charset="-122"/>
                <a:cs typeface="Archivo" pitchFamily="34" charset="-120"/>
              </a:rPr>
              <a:t> ejecución automática todos los días y alertas al equipo comercial.</a:t>
            </a:r>
            <a:endParaRPr lang="en-US" sz="1280" dirty="0"/>
          </a:p>
        </p:txBody>
      </p:sp>
      <p:sp>
        <p:nvSpPr>
          <p:cNvPr id="18" name="Text 15"/>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2122"/>
          </a:solidFill>
          <a:ln/>
        </p:spPr>
      </p:sp>
      <p:sp>
        <p:nvSpPr>
          <p:cNvPr id="3" name="Text 1"/>
          <p:cNvSpPr txBox="1"/>
          <p:nvPr/>
        </p:nvSpPr>
        <p:spPr>
          <a:xfrm>
            <a:off x="685800" y="685800"/>
            <a:ext cx="5772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E8A33D"/>
                </a:solidFill>
                <a:latin typeface="Archivo" pitchFamily="34" charset="0"/>
                <a:ea typeface="Archivo" pitchFamily="34" charset="-122"/>
                <a:cs typeface="Archivo" pitchFamily="34" charset="-120"/>
              </a:rPr>
              <a:t>SAML · DEL ESCOMBRO AL DATO</a:t>
            </a:r>
            <a:endParaRPr lang="en-US" sz="980" dirty="0"/>
          </a:p>
        </p:txBody>
      </p:sp>
      <p:sp>
        <p:nvSpPr>
          <p:cNvPr id="4" name="Text 2"/>
          <p:cNvSpPr txBox="1"/>
          <p:nvPr/>
        </p:nvSpPr>
        <p:spPr>
          <a:xfrm>
            <a:off x="647700" y="1905000"/>
            <a:ext cx="10534650" cy="1865114"/>
          </a:xfrm>
          <a:prstGeom prst="rect">
            <a:avLst/>
          </a:prstGeom>
          <a:noFill/>
          <a:ln/>
        </p:spPr>
        <p:txBody>
          <a:bodyPr wrap="square" lIns="0" tIns="0" rIns="0" bIns="0" rtlCol="0" anchor="t"/>
          <a:lstStyle/>
          <a:p>
            <a:pPr algn="l" indent="0" marL="0">
              <a:lnSpc>
                <a:spcPts val="7340"/>
              </a:lnSpc>
              <a:buNone/>
            </a:pPr>
            <a:r>
              <a:rPr lang="en-US" sz="7200" b="1" spc="-225" kern="0" dirty="0">
                <a:solidFill>
                  <a:srgbClr val="ECE8E1"/>
                </a:solidFill>
                <a:latin typeface="Archivo" pitchFamily="34" charset="0"/>
                <a:ea typeface="Archivo" pitchFamily="34" charset="-122"/>
                <a:cs typeface="Archivo" pitchFamily="34" charset="-120"/>
              </a:rPr>
              <a:t>Menos tiempo buscando.</a:t>
            </a:r>
            <a:endParaRPr lang="en-US" sz="7200" dirty="0"/>
          </a:p>
          <a:p>
            <a:pPr algn="l" indent="0" marL="0">
              <a:lnSpc>
                <a:spcPts val="7340"/>
              </a:lnSpc>
              <a:buNone/>
            </a:pPr>
            <a:r>
              <a:rPr lang="en-US" sz="7200" b="1" spc="-225" kern="0" dirty="0">
                <a:solidFill>
                  <a:srgbClr val="E8A33D"/>
                </a:solidFill>
                <a:latin typeface="Archivo" pitchFamily="34" charset="0"/>
                <a:ea typeface="Archivo" pitchFamily="34" charset="-122"/>
                <a:cs typeface="Archivo" pitchFamily="34" charset="-120"/>
              </a:rPr>
              <a:t>Más tiempo vendiendo.</a:t>
            </a:r>
            <a:endParaRPr lang="en-US" sz="7200" dirty="0"/>
          </a:p>
        </p:txBody>
      </p:sp>
      <p:sp>
        <p:nvSpPr>
          <p:cNvPr id="5" name="Shape 3"/>
          <p:cNvSpPr/>
          <p:nvPr/>
        </p:nvSpPr>
        <p:spPr>
          <a:xfrm>
            <a:off x="685800" y="5334000"/>
            <a:ext cx="10820400" cy="9525"/>
          </a:xfrm>
          <a:prstGeom prst="rect">
            <a:avLst/>
          </a:prstGeom>
          <a:solidFill>
            <a:srgbClr val="3D4243"/>
          </a:solidFill>
          <a:ln/>
        </p:spPr>
      </p:sp>
      <p:sp>
        <p:nvSpPr>
          <p:cNvPr id="6" name="Text 4"/>
          <p:cNvSpPr txBox="1"/>
          <p:nvPr/>
        </p:nvSpPr>
        <p:spPr>
          <a:xfrm>
            <a:off x="685800" y="5562600"/>
            <a:ext cx="3867150" cy="190500"/>
          </a:xfrm>
          <a:prstGeom prst="rect">
            <a:avLst/>
          </a:prstGeom>
          <a:noFill/>
          <a:ln/>
        </p:spPr>
        <p:txBody>
          <a:bodyPr wrap="square" lIns="0" tIns="0" rIns="0" bIns="0" rtlCol="0" anchor="t"/>
          <a:lstStyle/>
          <a:p>
            <a:pPr algn="l" indent="0" marL="0">
              <a:lnSpc>
                <a:spcPts val="1620"/>
              </a:lnSpc>
              <a:buNone/>
            </a:pPr>
            <a:r>
              <a:rPr lang="en-US" sz="1350" b="1" dirty="0">
                <a:solidFill>
                  <a:srgbClr val="ECE8E1"/>
                </a:solidFill>
                <a:latin typeface="Archivo" pitchFamily="34" charset="0"/>
                <a:ea typeface="Archivo" pitchFamily="34" charset="-122"/>
                <a:cs typeface="Archivo" pitchFamily="34" charset="-120"/>
              </a:rPr>
              <a:t>Gracias · ¿Preguntas?</a:t>
            </a:r>
            <a:endParaRPr lang="en-US" sz="1350" dirty="0"/>
          </a:p>
        </p:txBody>
      </p:sp>
      <p:sp>
        <p:nvSpPr>
          <p:cNvPr id="7" name="Text 5"/>
          <p:cNvSpPr txBox="1"/>
          <p:nvPr/>
        </p:nvSpPr>
        <p:spPr>
          <a:xfrm>
            <a:off x="7696200" y="5581650"/>
            <a:ext cx="3867150" cy="152400"/>
          </a:xfrm>
          <a:prstGeom prst="rect">
            <a:avLst/>
          </a:prstGeom>
          <a:noFill/>
          <a:ln/>
        </p:spPr>
        <p:txBody>
          <a:bodyPr wrap="square" lIns="0" tIns="0" rIns="0" bIns="0" rtlCol="0" anchor="t"/>
          <a:lstStyle/>
          <a:p>
            <a:pPr algn="r" indent="0" marL="0">
              <a:lnSpc>
                <a:spcPts val="1350"/>
              </a:lnSpc>
              <a:buNone/>
            </a:pPr>
            <a:r>
              <a:rPr lang="en-US" sz="1130" dirty="0">
                <a:solidFill>
                  <a:srgbClr val="A9ACA6"/>
                </a:solidFill>
                <a:latin typeface="Archivo" pitchFamily="34" charset="0"/>
                <a:ea typeface="Archivo" pitchFamily="34" charset="-122"/>
                <a:cs typeface="Archivo" pitchFamily="34" charset="-120"/>
              </a:rPr>
              <a:t>github.com/svillav4/SAML</a:t>
            </a:r>
            <a:endParaRPr lang="en-US" sz="11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Universidad EAFIT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dc:title>
  <dc:subject>PptxGenJS Presentation</dc:subject>
  <dc:creator>Equipo SAML</dc:creator>
  <cp:lastModifiedBy>Equipo SAML</cp:lastModifiedBy>
  <cp:revision>1</cp:revision>
  <dcterms:created xsi:type="dcterms:W3CDTF">2026-10-13T02:16:01Z</dcterms:created>
  <dcterms:modified xsi:type="dcterms:W3CDTF">2026-10-13T02:16:01Z</dcterms:modified>
</cp:coreProperties>
</file>